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1420" r:id="rId2"/>
    <p:sldId id="1535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76" r:id="rId33"/>
    <p:sldId id="1577" r:id="rId34"/>
    <p:sldId id="1578" r:id="rId35"/>
    <p:sldId id="1579" r:id="rId36"/>
    <p:sldId id="1580" r:id="rId37"/>
    <p:sldId id="1581" r:id="rId38"/>
    <p:sldId id="1582" r:id="rId39"/>
    <p:sldId id="1566" r:id="rId40"/>
    <p:sldId id="1567" r:id="rId41"/>
    <p:sldId id="1568" r:id="rId42"/>
    <p:sldId id="1569" r:id="rId43"/>
    <p:sldId id="1570" r:id="rId44"/>
    <p:sldId id="1571" r:id="rId45"/>
    <p:sldId id="1572" r:id="rId46"/>
    <p:sldId id="1573" r:id="rId47"/>
    <p:sldId id="1574" r:id="rId48"/>
    <p:sldId id="1575" r:id="rId49"/>
    <p:sldId id="1583" r:id="rId50"/>
    <p:sldId id="1584" r:id="rId51"/>
    <p:sldId id="1585" r:id="rId52"/>
    <p:sldId id="1586" r:id="rId53"/>
    <p:sldId id="1587" r:id="rId54"/>
    <p:sldId id="1588" r:id="rId55"/>
    <p:sldId id="1589" r:id="rId56"/>
    <p:sldId id="1590" r:id="rId57"/>
    <p:sldId id="1591" r:id="rId58"/>
    <p:sldId id="1592" r:id="rId59"/>
    <p:sldId id="1593" r:id="rId60"/>
    <p:sldId id="1594" r:id="rId61"/>
    <p:sldId id="1595" r:id="rId62"/>
    <p:sldId id="1596" r:id="rId63"/>
    <p:sldId id="1597" r:id="rId64"/>
    <p:sldId id="1598" r:id="rId65"/>
    <p:sldId id="1599" r:id="rId66"/>
    <p:sldId id="1600" r:id="rId67"/>
    <p:sldId id="1601" r:id="rId68"/>
    <p:sldId id="1602" r:id="rId69"/>
    <p:sldId id="1603" r:id="rId70"/>
    <p:sldId id="1604" r:id="rId71"/>
    <p:sldId id="1605" r:id="rId72"/>
    <p:sldId id="1606" r:id="rId73"/>
    <p:sldId id="1607" r:id="rId74"/>
    <p:sldId id="1608" r:id="rId75"/>
    <p:sldId id="1609" r:id="rId76"/>
    <p:sldId id="1610" r:id="rId77"/>
    <p:sldId id="1611" r:id="rId78"/>
    <p:sldId id="1612" r:id="rId79"/>
    <p:sldId id="1613" r:id="rId80"/>
    <p:sldId id="1614" r:id="rId81"/>
    <p:sldId id="1615" r:id="rId82"/>
    <p:sldId id="1616" r:id="rId83"/>
    <p:sldId id="1617" r:id="rId84"/>
    <p:sldId id="1618" r:id="rId85"/>
    <p:sldId id="1619" r:id="rId86"/>
    <p:sldId id="1620" r:id="rId87"/>
    <p:sldId id="1621" r:id="rId88"/>
    <p:sldId id="1622" r:id="rId89"/>
    <p:sldId id="1623" r:id="rId90"/>
    <p:sldId id="1624" r:id="rId91"/>
    <p:sldId id="1625" r:id="rId92"/>
    <p:sldId id="1626" r:id="rId93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349500"/>
            <a:ext cx="10515600" cy="1117600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en-US" altLang="ko-KR" sz="2850">
                <a:solidFill>
                  <a:srgbClr val="1028D8"/>
                </a:solidFill>
              </a:rPr>
              <a:t>Posterior Cramer-Rao Bounds for Discrete-Time</a:t>
            </a:r>
            <a:br>
              <a:rPr lang="en-US" altLang="ko-KR" sz="2850">
                <a:solidFill>
                  <a:srgbClr val="1028D8"/>
                </a:solidFill>
              </a:rPr>
            </a:br>
            <a:r>
              <a:rPr lang="en-US" altLang="ko-KR" sz="2850">
                <a:solidFill>
                  <a:srgbClr val="1028D8"/>
                </a:solidFill>
              </a:rPr>
              <a:t>Nonlinear Filtering</a:t>
            </a:r>
            <a:endParaRPr lang="ko-KR" altLang="en-US" sz="2850" dirty="0">
              <a:solidFill>
                <a:srgbClr val="1028D8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0" y="3886200"/>
            <a:ext cx="9334500" cy="12065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50" b="1">
                <a:solidFill>
                  <a:srgbClr val="006666"/>
                </a:solidFill>
              </a:rPr>
              <a:t>AUTHORS</a:t>
            </a:r>
          </a:p>
          <a:p>
            <a:r>
              <a:rPr lang="en-US" sz="1800" b="1">
                <a:solidFill>
                  <a:srgbClr val="111111"/>
                </a:solidFill>
              </a:rPr>
              <a:t>P. Tichavsky | C.H. Muravchik | A. Nehorai</a:t>
            </a:r>
          </a:p>
          <a:p>
            <a:r>
              <a:rPr lang="en-US" sz="1275">
                <a:solidFill>
                  <a:srgbClr val="444444"/>
                </a:solidFill>
              </a:rPr>
              <a:t>IEEE Transactions on Signal Processing, Vol. 46, Issue 5, May 1998</a:t>
            </a:r>
          </a:p>
          <a:p>
            <a:r>
              <a:rPr lang="en-US" sz="1200">
                <a:solidFill>
                  <a:srgbClr val="666666"/>
                </a:solidFill>
              </a:rPr>
              <a:t>Published: 31 May 1998</a:t>
            </a:r>
            <a:endParaRPr lang="en-US" altLang="ko-KR" sz="1200" dirty="0">
              <a:solidFill>
                <a:srgbClr val="666666"/>
              </a:solidFill>
              <a:ea typeface="맑은 고딕"/>
              <a:cs typeface="Arial"/>
            </a:endParaRPr>
          </a:p>
        </p:txBody>
      </p:sp>
      <p:sp>
        <p:nvSpPr>
          <p:cNvPr id="6" name="슬라이드 번호 개체 틀 5" hidden="1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200"/>
            <a:ext cx="9652000" cy="736600"/>
          </a:xfrm>
        </p:spPr>
        <p:txBody>
          <a:bodyPr/>
          <a:lstStyle/>
          <a:p>
            <a:r>
              <a:rPr lang="en-US" sz="3400">
                <a:solidFill>
                  <a:srgbClr val="000000"/>
                </a:solidFill>
              </a:rPr>
              <a:t>Table of Contents</a:t>
            </a:r>
            <a:endParaRPr lang="ko-KR" altLang="en-US" sz="3400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70481-E097-4C99-F8A9-2D1A0414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B6179-C6BB-E293-FEFC-40AF235D1F20}"/>
              </a:ext>
            </a:extLst>
          </p:cNvPr>
          <p:cNvSpPr/>
          <p:nvPr/>
        </p:nvSpPr>
        <p:spPr>
          <a:xfrm>
            <a:off x="1333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9485A-4202-2DFC-EF1F-D88C616D3984}"/>
              </a:ext>
            </a:extLst>
          </p:cNvPr>
          <p:cNvSpPr txBox="1"/>
          <p:nvPr/>
        </p:nvSpPr>
        <p:spPr>
          <a:xfrm>
            <a:off x="2019300" y="2082800"/>
            <a:ext cx="42164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Opening citation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1 | Paper title, authors, journal, publication 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3DD53-7ABF-52C8-E7B4-3F4697C9C241}"/>
              </a:ext>
            </a:extLst>
          </p:cNvPr>
          <p:cNvSpPr/>
          <p:nvPr/>
        </p:nvSpPr>
        <p:spPr>
          <a:xfrm>
            <a:off x="2019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68DDDB-220E-2A9D-FDA7-026883878604}"/>
              </a:ext>
            </a:extLst>
          </p:cNvPr>
          <p:cNvSpPr/>
          <p:nvPr/>
        </p:nvSpPr>
        <p:spPr>
          <a:xfrm>
            <a:off x="1333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7FE62-78CB-83EE-4585-B57EB7F241EB}"/>
              </a:ext>
            </a:extLst>
          </p:cNvPr>
          <p:cNvSpPr txBox="1"/>
          <p:nvPr/>
        </p:nvSpPr>
        <p:spPr>
          <a:xfrm>
            <a:off x="2019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PCRB foundations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3-18 | Estimation problem, likelihood, score, Fisher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92B1D-A0E7-1E6D-39EE-15BB28B6DF2F}"/>
              </a:ext>
            </a:extLst>
          </p:cNvPr>
          <p:cNvSpPr/>
          <p:nvPr/>
        </p:nvSpPr>
        <p:spPr>
          <a:xfrm>
            <a:off x="2019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CA24C2-7F98-DF7A-D511-CA161792F38B}"/>
              </a:ext>
            </a:extLst>
          </p:cNvPr>
          <p:cNvSpPr/>
          <p:nvPr/>
        </p:nvSpPr>
        <p:spPr>
          <a:xfrm>
            <a:off x="1333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4DE2E-44E6-4DA9-090C-CF49D1E11ABC}"/>
              </a:ext>
            </a:extLst>
          </p:cNvPr>
          <p:cNvSpPr txBox="1"/>
          <p:nvPr/>
        </p:nvSpPr>
        <p:spPr>
          <a:xfrm>
            <a:off x="2019300" y="41656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Gaussian posterior and Kalman link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19-24 | Gaussian curvature view and optimal linear filtering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6561BE-67EC-44C1-2E3A-44AF97FE6958}"/>
              </a:ext>
            </a:extLst>
          </p:cNvPr>
          <p:cNvSpPr/>
          <p:nvPr/>
        </p:nvSpPr>
        <p:spPr>
          <a:xfrm>
            <a:off x="2019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62B0C7-07B5-E043-37DE-2D7268C2FB06}"/>
              </a:ext>
            </a:extLst>
          </p:cNvPr>
          <p:cNvSpPr/>
          <p:nvPr/>
        </p:nvSpPr>
        <p:spPr>
          <a:xfrm>
            <a:off x="6794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B0EFDE-40A6-EF7B-FDC6-9170B7BA435B}"/>
              </a:ext>
            </a:extLst>
          </p:cNvPr>
          <p:cNvSpPr txBox="1"/>
          <p:nvPr/>
        </p:nvSpPr>
        <p:spPr>
          <a:xfrm>
            <a:off x="7480300" y="20828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Recursive PCRB derivation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25-42 | Nuisance parameters, block matrix, Schur complement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43BC9-39CA-9B91-A8AB-BE84E60208BB}"/>
              </a:ext>
            </a:extLst>
          </p:cNvPr>
          <p:cNvSpPr/>
          <p:nvPr/>
        </p:nvSpPr>
        <p:spPr>
          <a:xfrm>
            <a:off x="7480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F93A22-0330-1629-28DF-088A9CC663C9}"/>
              </a:ext>
            </a:extLst>
          </p:cNvPr>
          <p:cNvSpPr/>
          <p:nvPr/>
        </p:nvSpPr>
        <p:spPr>
          <a:xfrm>
            <a:off x="6794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AE57A-F4E7-FD14-1838-8E7A4A9C8A46}"/>
              </a:ext>
            </a:extLst>
          </p:cNvPr>
          <p:cNvSpPr txBox="1"/>
          <p:nvPr/>
        </p:nvSpPr>
        <p:spPr>
          <a:xfrm>
            <a:off x="7480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ISAC tracking interpretation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43-48 | Noise covariance, CRB chain, EKF comparison, summary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A976AF-4E2B-8884-3DDE-A0DB75AE0191}"/>
              </a:ext>
            </a:extLst>
          </p:cNvPr>
          <p:cNvSpPr/>
          <p:nvPr/>
        </p:nvSpPr>
        <p:spPr>
          <a:xfrm>
            <a:off x="7480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F0D593-7933-B3DA-F88D-1FC631A69AC3}"/>
              </a:ext>
            </a:extLst>
          </p:cNvPr>
          <p:cNvSpPr/>
          <p:nvPr/>
        </p:nvSpPr>
        <p:spPr>
          <a:xfrm>
            <a:off x="6794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63C4D8-630A-EA3E-3DBC-D4455395FAD6}"/>
              </a:ext>
            </a:extLst>
          </p:cNvPr>
          <p:cNvSpPr txBox="1"/>
          <p:nvPr/>
        </p:nvSpPr>
        <p:spPr>
          <a:xfrm>
            <a:off x="7480300" y="4165600"/>
            <a:ext cx="42164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Next paper section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49 | Power/bandwidth allocation for MIMO tracking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F617F0-2508-A685-049D-45647E35FA3E}"/>
              </a:ext>
            </a:extLst>
          </p:cNvPr>
          <p:cNvSpPr/>
          <p:nvPr/>
        </p:nvSpPr>
        <p:spPr>
          <a:xfrm>
            <a:off x="7480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9A4B-7A83-5B6F-6025-46C46333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3000">
                <a:solidFill>
                  <a:srgbClr val="000000"/>
                </a:solidFill>
              </a:rPr>
              <a:t>Roadmap from Score to Recursive PCRB</a:t>
            </a:r>
            <a:endParaRPr lang="en-US" sz="3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78AB9-E14C-CA4C-C1DF-4378843A9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Purpose Of These Slides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Topic: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PCRB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nonlinear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filtering</m:t>
                    </m:r>
                  </m:oMath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Understand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posterior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information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derived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 path: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Measurement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model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function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information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Posterior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information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Recursive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PCRB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Kalman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EKF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connection</m:t>
                    </m:r>
                  </m:oMath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78AB9-E14C-CA4C-C1DF-4378843A9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CCA0E-A8F7-F927-E4BA-4721291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3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D67C-F99A-3D34-444C-DC69EA6A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Information Links Measurements to Estimation Error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A114AE-F864-921D-0E2A-A14D70569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Estimation Problem</a:t>
                </a:r>
              </a:p>
              <a:p>
                <a:pPr lvl="1"/>
                <a:r>
                  <a:rPr lang="en-US" dirty="0"/>
                  <a:t>Suppose measurement/data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Unknown parameter/state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estimation problem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Main question: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much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does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give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about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information determines the minimum possible estimation error.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A114AE-F864-921D-0E2A-A14D70569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3C98E-1415-1B37-EB51-AF50F39E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46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F1EE-9AB9-D9CA-37FB-1889AE07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Bayes Rule Updates Prior Belief with Measurements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307C8-FD52-098B-FF26-9A3659585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Measurement, Prior, Posterior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/ measurement model: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probability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observing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when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parameter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Prior probability: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what we know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before observing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probability: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updated belief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after observing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 rule: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307C8-FD52-098B-FF26-9A3659585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BDF8-2011-D0E2-9857-6E950E41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85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1AC2-0EB3-7931-E8A7-4E8B43FD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Parameter Sensitivity Starts with a Derivative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1A61-8380-516A-A272-BC886BEAA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A Derivative Appears</a:t>
                </a:r>
              </a:p>
              <a:p>
                <a:pPr lvl="1"/>
                <a:r>
                  <a:rPr lang="en-US" dirty="0"/>
                  <a:t>If the parameter changes slightly: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the likelihood changes: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we check sensitivity: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tells </a:t>
                </a:r>
                <a:r>
                  <a:rPr lang="en-US" dirty="0">
                    <a:solidFill>
                      <a:srgbClr val="7030A0"/>
                    </a:solidFill>
                  </a:rPr>
                  <a:t>how sensitive the probability model </a:t>
                </a:r>
                <a:r>
                  <a:rPr lang="en-US" dirty="0"/>
                  <a:t>is to the parameter.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1A61-8380-516A-A272-BC886BEAA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E060-8CE6-160F-148E-0E06C43D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64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36BA-D0A1-4FAF-5306-47AC214C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The Score Measures Relative Likelihood Change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01CF51-749A-14A4-1365-EEF97339C9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Relative Change And Score Function</a:t>
                </a:r>
              </a:p>
              <a:p>
                <a:pPr lvl="1"/>
                <a:r>
                  <a:rPr lang="en-US" dirty="0"/>
                  <a:t>Instead of raw change, use relative change: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log rule: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the score function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function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relative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slope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likelihood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01CF51-749A-14A4-1365-EEF97339C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89B6A-BC04-BF0C-4516-C46E952B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2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BEDC-C4B5-8D20-E24F-BA224410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Large Scores Mean More Distinguishable States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4589B-6788-5612-19C6-918DAAF07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Score Function</a:t>
                </a:r>
              </a:p>
              <a:p>
                <a:pPr lvl="1"/>
                <a:r>
                  <a:rPr lang="en-US" dirty="0"/>
                  <a:t>The score function is not the measurement itself.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It is computed from: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measurement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probability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score is large: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small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change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large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likelihood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So,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can distinguish the parameter well.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score is small: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changing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likelihood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changes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weakly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So, data gives weak information.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4589B-6788-5612-19C6-918DAAF07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CE4EB-AD8C-ECB0-093A-ED95C82B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81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D26D-3FFC-7AE9-F1EB-90FFBCA6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Fisher Information Averages Squared Sensitivity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676AE-5A05-BB5F-2819-E051D0965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Fisher Information From Score</a:t>
                </a:r>
              </a:p>
              <a:p>
                <a:pPr lvl="1"/>
                <a:r>
                  <a:rPr lang="en-US" dirty="0"/>
                  <a:t>The score is random 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random.</a:t>
                </a:r>
              </a:p>
              <a:p>
                <a:pPr lvl="1"/>
                <a:r>
                  <a:rPr lang="en-US" dirty="0"/>
                  <a:t>One measurement gives one score value.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 measure average information: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 i="1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information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average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squared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sensitivity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log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likelihood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676AE-5A05-BB5F-2819-E051D0965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7EBF-B32E-ABAE-1B0A-F554F845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7ACB-089D-C35A-16D5-FA7AE2C4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Squaring Keeps Score Contributions from Canceling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38BE-D771-CD36-B278-053F5B344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Square The Score?</a:t>
                </a:r>
              </a:p>
              <a:p>
                <a:pPr lvl="1"/>
                <a:r>
                  <a:rPr lang="en-US" dirty="0"/>
                  <a:t>Score can be positive or negative.</a:t>
                </a:r>
              </a:p>
              <a:p>
                <a:pPr lvl="1"/>
                <a:r>
                  <a:rPr lang="en-US" dirty="0"/>
                  <a:t>If we only take expectation: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becomes zero under regularity conditions.</a:t>
                </a:r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Differentiate both sides: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38BE-D771-CD36-B278-053F5B344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B9872-F0F9-0339-1119-89E91CC4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9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DCE6-DE28-313F-FBD6-33534CE6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The Average Score Vanishes Under Regularity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D7B28-369F-C882-F471-FFC02FBF6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Average Score Is Zero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we use: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instead of: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D7B28-369F-C882-F471-FFC02FBF6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F08BC-2111-D3E4-2A75-D1B95249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889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4B5D-A6E9-BD4F-FBDC-5FCF9A79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vert="horz" lIns="91440" tIns="35560" rIns="91440" bIns="35560" rtlCol="0" anchor="ctr">
            <a:normAutofit/>
          </a:bodyPr>
          <a:lstStyle/>
          <a:p>
            <a:r>
              <a:rPr lang="en-US" sz="2700">
                <a:solidFill>
                  <a:srgbClr val="000000"/>
                </a:solidFill>
              </a:rPr>
              <a:t>Curvature Gives the Same Information Measure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7C2DC5-D789-2861-0617-6756ED82693F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791200" cy="46345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Negative Hessian Form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Another equivalent form of Fisher information is: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So, Fisher information has two views: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sharp likelihood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means the parameter is easy to estimate.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flat likelihood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means the parameter is difficult to estimate.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7C2DC5-D789-2861-0617-6756ED826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791200" cy="4634568"/>
              </a:xfrm>
              <a:prstGeom prst="rect">
                <a:avLst/>
              </a:prstGeom>
              <a:blipFill>
                <a:blip r:embed="rId2"/>
                <a:stretch>
                  <a:fillRect l="-947" t="-1316" r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C2127-98C1-957E-FA04-24BD43F7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68DAD4-94DE-D487-AB07-B45C380B7D1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07290125"/>
                  </p:ext>
                </p:extLst>
              </p:nvPr>
            </p:nvGraphicFramePr>
            <p:xfrm>
              <a:off x="7037294" y="1662952"/>
              <a:ext cx="4603377" cy="4585447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774104">
                      <a:extLst>
                        <a:ext uri="{9D8B030D-6E8A-4147-A177-3AD203B41FA5}">
                          <a16:colId xmlns:a16="http://schemas.microsoft.com/office/drawing/2014/main" val="2902556764"/>
                        </a:ext>
                      </a:extLst>
                    </a:gridCol>
                    <a:gridCol w="2829273">
                      <a:extLst>
                        <a:ext uri="{9D8B030D-6E8A-4147-A177-3AD203B41FA5}">
                          <a16:colId xmlns:a16="http://schemas.microsoft.com/office/drawing/2014/main" val="676810115"/>
                        </a:ext>
                      </a:extLst>
                    </a:gridCol>
                  </a:tblGrid>
                  <a:tr h="10331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Form</a:t>
                          </a:r>
                        </a:p>
                      </a:txBody>
                      <a:tcPr marL="0" marR="33030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33030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5485062"/>
                      </a:ext>
                    </a:extLst>
                  </a:tr>
                  <a:tr h="16163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5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5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5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cap="none" spc="0">
                              <a:solidFill>
                                <a:schemeClr val="tx1"/>
                              </a:solidFill>
                            </a:rPr>
                            <a:t>average squared slope</a:t>
                          </a:r>
                        </a:p>
                      </a:txBody>
                      <a:tcPr marL="0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890110"/>
                      </a:ext>
                    </a:extLst>
                  </a:tr>
                  <a:tr h="19360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func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65148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average curvature/  sharpness</a:t>
                          </a:r>
                        </a:p>
                      </a:txBody>
                      <a:tcPr marL="165148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190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68DAD4-94DE-D487-AB07-B45C380B7D1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07290125"/>
                  </p:ext>
                </p:extLst>
              </p:nvPr>
            </p:nvGraphicFramePr>
            <p:xfrm>
              <a:off x="7037294" y="1662952"/>
              <a:ext cx="4603377" cy="4585447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774104">
                      <a:extLst>
                        <a:ext uri="{9D8B030D-6E8A-4147-A177-3AD203B41FA5}">
                          <a16:colId xmlns:a16="http://schemas.microsoft.com/office/drawing/2014/main" val="2902556764"/>
                        </a:ext>
                      </a:extLst>
                    </a:gridCol>
                    <a:gridCol w="2829273">
                      <a:extLst>
                        <a:ext uri="{9D8B030D-6E8A-4147-A177-3AD203B41FA5}">
                          <a16:colId xmlns:a16="http://schemas.microsoft.com/office/drawing/2014/main" val="676810115"/>
                        </a:ext>
                      </a:extLst>
                    </a:gridCol>
                  </a:tblGrid>
                  <a:tr h="10331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Form</a:t>
                          </a:r>
                        </a:p>
                      </a:txBody>
                      <a:tcPr marL="0" marR="33030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33030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5485062"/>
                      </a:ext>
                    </a:extLst>
                  </a:tr>
                  <a:tr h="16163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64906" r="-160481" b="-13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cap="none" spc="0">
                              <a:solidFill>
                                <a:schemeClr val="tx1"/>
                              </a:solidFill>
                            </a:rPr>
                            <a:t>average squared slope</a:t>
                          </a:r>
                        </a:p>
                      </a:txBody>
                      <a:tcPr marL="0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890110"/>
                      </a:ext>
                    </a:extLst>
                  </a:tr>
                  <a:tr h="1936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5148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137421" r="-160481" b="-14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average curvature/  sharpness</a:t>
                          </a:r>
                        </a:p>
                      </a:txBody>
                      <a:tcPr marL="165148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1907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2527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E81509-6A10-4221-DD4F-C94A8AE0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Vector States Require an Information Matrix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05A9CBB-92F2-D5C1-078C-3B43421C3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Vector Fisher Information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For random parameter vector: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Score component: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</m:e>
                    </m:fun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matrix: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05A9CBB-92F2-D5C1-078C-3B43421C3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85667-9D03-D472-457F-0CDAE1F9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71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D94D-8E8F-160B-54D3-15946D00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Log-Density Derivatives Lead to the Hessian Identity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C991D-3D36-24A4-9350-DBA94514C1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Negative Hessian Derivation</a:t>
                </a:r>
              </a:p>
              <a:p>
                <a:pPr lvl="1"/>
                <a:r>
                  <a:rPr lang="en-US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derivative: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derivative: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expectation: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C991D-3D36-24A4-9350-DBA94514C1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7E15-BC73-764A-44E5-44A7847D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608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F632-DD87-644A-8B69-DB83DBBD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Boundary Conditions Remove the Extra Hessian Term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6D030-AEED-1A44-BA29-C5688C0A79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First Term Becomes Zero</a:t>
                </a:r>
              </a:p>
              <a:p>
                <a:pPr lvl="1"/>
                <a:r>
                  <a:rPr lang="en-US" dirty="0"/>
                  <a:t>First term: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Integrate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 regularity condition: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→0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boundary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6D030-AEED-1A44-BA29-C5688C0A7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6959-9DCA-6F68-6021-E390F4D9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22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F706-CD14-EF46-5FFB-4943EA97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Score and Hessian Views Become Equivalent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397BC-479E-C98C-CBCE-A4B1005EF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Fisher Information Identity</a:t>
                </a:r>
              </a:p>
              <a:p>
                <a:pPr lvl="1"/>
                <a:r>
                  <a:rPr lang="en-US" dirty="0"/>
                  <a:t>Since the first term is zero: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proves: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Negative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Hessian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form</m:t>
                    </m:r>
                    <m:r>
                      <a:rPr lang="en-US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outer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product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form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397BC-479E-C98C-CBCE-A4B1005EF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9FA58-274C-DA71-9B67-720AD911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2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85C9-09C5-BCC8-788F-EF8AA90F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Posterior Information Splits into Data and Prior Terms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5E439-63B6-A335-97AA-A656F7C4B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For PCRB,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random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So, we use joint density: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 factorization: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5E439-63B6-A335-97AA-A656F7C4B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3008E-DE9B-E1A4-DBFA-9C00F5C9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324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FBE4-69A0-64FA-963E-69380A6C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3000">
                <a:solidFill>
                  <a:srgbClr val="000000"/>
                </a:solidFill>
              </a:rPr>
              <a:t>More Information Means a Smaller PCRB</a:t>
            </a:r>
            <a:endParaRPr lang="en-US" sz="3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2E27B-1973-0085-ECD8-FE79E13EDD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prior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Better measurements: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Stronger prior knowledge: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posterior information: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PCRB: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𝑃𝐶𝑅𝐵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2E27B-1973-0085-ECD8-FE79E13ED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AD000-D52E-F9D0-6E59-F7B0F678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83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C5F5-A312-F9D7-DE4E-A6D0CD66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Gaussian Posteriors Become Quadratic Costs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D4399-9DE7-DEFA-5F6D-AE3D83CD5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posterior is Gaussian: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Maximizing posterior probability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is equivalent to minimizing negative log posterior: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Negative log posterior behaves like an estimation cost function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D4399-9DE7-DEFA-5F6D-AE3D83CD5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0ABDE-3755-16F7-FF9C-49869650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549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9059-98D8-4AA4-928F-392D5AAE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Scalar Gaussian Curvature Equals Inverse Variance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695BC-911F-B5A1-8C74-D6EC463CA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Scalar Gaussian Derivation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first term does not depend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quadratic because it contains: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695BC-911F-B5A1-8C74-D6EC463CA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3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BCF26-388B-D170-FB7A-623EBB0A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608901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239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7F60-57FC-1C6B-DE51-254A206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Vector Gaussian Cost Is Weighted by Precision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65930-00EF-3000-9B9E-A230E9877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Vector Gaussian Derivation</a:t>
                </a:r>
              </a:p>
              <a:p>
                <a:pPr lvl="1"/>
                <a:r>
                  <a:rPr lang="en-US" dirty="0"/>
                  <a:t>For vector parameter: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 multivariate Gaussian pdf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fun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∣−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two terms do not depend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so: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65930-00EF-3000-9B9E-A230E9877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1633F-E0B4-D7AB-86EB-65E78AEE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584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B897-AC35-BE23-5212-0E5763125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Gaussian Posterior Information Equals Precision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9CC61-80D4-E8AF-679E-7005A9709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Fisher Information For Gaussian Posterior</a:t>
                </a:r>
              </a:p>
              <a:p>
                <a:pPr lvl="1"/>
                <a:r>
                  <a:rPr lang="en-US" dirty="0"/>
                  <a:t>For Gaussian posterior: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derivative: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derivative: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9CC61-80D4-E8AF-679E-7005A9709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1B46-C149-E473-D9DA-523C8AB9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73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C669-791F-8317-E426-23C6EA43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A Narrower Posterior Means More Information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878643-AAAD-DFC6-71F3-7E21CB36E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Intuition</a:t>
                </a:r>
              </a:p>
              <a:p>
                <a:pPr lvl="1"/>
                <a:r>
                  <a:rPr lang="en-US" dirty="0"/>
                  <a:t>Gaussian posterior looks like a bell shape.</a:t>
                </a:r>
              </a:p>
              <a:p>
                <a:pPr lvl="1"/>
                <a:r>
                  <a:rPr lang="en-US" dirty="0"/>
                  <a:t>Negative log of Gaussian looks like a bowl/parabola.</a:t>
                </a:r>
              </a:p>
              <a:p>
                <a:pPr lvl="1"/>
                <a:r>
                  <a:rPr lang="en-US" dirty="0"/>
                  <a:t>Narrow bell: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sharp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bowl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high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high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Wide bell: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flat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bowl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low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low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negative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878643-AAAD-DFC6-71F3-7E21CB36E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E17A6-9D76-2DE8-CB6F-D5CA0023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54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9A43-AEB8-7D85-1F01-3D085533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Kalman Achieves the Bound in the Linear Gaussian Case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DD3A8-BCBA-27DE-875C-D43F7F88E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Kalman Filter Connection</a:t>
                </a:r>
              </a:p>
              <a:p>
                <a:pPr lvl="1"/>
                <a:r>
                  <a:rPr lang="en-US" dirty="0"/>
                  <a:t>For the linear Gaussian Kalman filter, the posterior is Gaussian.</a:t>
                </a:r>
              </a:p>
              <a:p>
                <a:pPr lvl="1"/>
                <a:r>
                  <a:rPr lang="en-US" dirty="0"/>
                  <a:t>The Kalman covariance reaches the PCRB: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Gaussian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systems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achieves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nonlinear systems, EKF/UKF usually does not achieve PCRB exactly.</a:t>
                </a:r>
              </a:p>
              <a:p>
                <a:pPr lvl="1"/>
                <a:r>
                  <a:rPr lang="en-US" dirty="0"/>
                  <a:t>So, we compare: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𝐸𝐾𝐹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DD3A8-BCBA-27DE-875C-D43F7F88E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30385-66C0-7BF2-4AFC-3A6C3D70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673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0C4F-F91B-DE16-848A-A7EF7743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fr-FR" sz="2700">
                <a:solidFill>
                  <a:srgbClr val="000000"/>
                </a:solidFill>
              </a:rPr>
              <a:t>Nuisance States Reduce Usable Information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DE0CE-05A9-D652-DEFC-A5D7FC49F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Nuisance Parameter / Block Matrix Property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Information matrix: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we only care about 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dirty="0"/>
                  <a:t>, then useful information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𝛽𝛼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𝛼𝛼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</a:t>
                </a:r>
                <a:r>
                  <a:rPr lang="en-US" dirty="0">
                    <a:solidFill>
                      <a:srgbClr val="7030A0"/>
                    </a:solidFill>
                  </a:rPr>
                  <a:t>called the information submatrix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Other </a:t>
                </a:r>
                <a:r>
                  <a:rPr lang="en-US" dirty="0">
                    <a:solidFill>
                      <a:srgbClr val="002060"/>
                    </a:solidFill>
                  </a:rPr>
                  <a:t>unknown variables reduce the effective information </a:t>
                </a:r>
                <a:r>
                  <a:rPr lang="en-US" dirty="0"/>
                  <a:t>about the parameter we care about.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DE0CE-05A9-D652-DEFC-A5D7FC49F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CE84A-8367-E3EA-00AD-7C72BC17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28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5895-AD17-DF72-1598-85296481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Filtering Must Separate Current State from History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A91A5-A70E-FE92-68D7-55CCE0B25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Nuisance Parameters Matter In Filtering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 filtering, the full trajectory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we only want the current state: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previous states: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act like </a:t>
                </a:r>
                <a:r>
                  <a:rPr lang="en-US" dirty="0">
                    <a:solidFill>
                      <a:srgbClr val="002060"/>
                    </a:solidFill>
                  </a:rPr>
                  <a:t>nuisance variables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Therefore, we </a:t>
                </a:r>
                <a:r>
                  <a:rPr lang="en-US" dirty="0">
                    <a:solidFill>
                      <a:srgbClr val="002060"/>
                    </a:solidFill>
                  </a:rPr>
                  <a:t>need the information submatrix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not the full trajectory information.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A91A5-A70E-FE92-68D7-55CCE0B25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38AB8-B315-EEC2-83B8-DB89335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122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B1B60BD-BA41-7587-1CBB-5024326C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Nonlinear Tracking Models Motivate PCRB Analysis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0158D-7719-8482-5A7B-48E1C8091F02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Filtering Model In The Paper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nonlinear filtering model is: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radar/ISAC: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i="1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range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Doppler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angle</m:t>
                              </m:r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noise</m:t>
                    </m:r>
                  </m:oMath>
                </a14:m>
                <a:endParaRPr lang="en-US" sz="20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is why PCRB is useful in ISAC tracking.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0158D-7719-8482-5A7B-48E1C8091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  <a:blipFill>
                <a:blip r:embed="rId2"/>
                <a:stretch>
                  <a:fillRect l="-1075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F7F7E-16D0-1F95-9D82-521DAD13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BC97C77-A941-C594-E1A6-C4BB5AE85B3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45865287"/>
                  </p:ext>
                </p:extLst>
              </p:nvPr>
            </p:nvGraphicFramePr>
            <p:xfrm>
              <a:off x="6172200" y="2000423"/>
              <a:ext cx="5181601" cy="382581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75000"/>
                        <a:lumOff val="25000"/>
                      </a:schemeClr>
                    </a:solidFill>
                  </a:tblPr>
                  <a:tblGrid>
                    <a:gridCol w="1910034">
                      <a:extLst>
                        <a:ext uri="{9D8B030D-6E8A-4147-A177-3AD203B41FA5}">
                          <a16:colId xmlns:a16="http://schemas.microsoft.com/office/drawing/2014/main" val="1378307848"/>
                        </a:ext>
                      </a:extLst>
                    </a:gridCol>
                    <a:gridCol w="3271567">
                      <a:extLst>
                        <a:ext uri="{9D8B030D-6E8A-4147-A177-3AD203B41FA5}">
                          <a16:colId xmlns:a16="http://schemas.microsoft.com/office/drawing/2014/main" val="3253761492"/>
                        </a:ext>
                      </a:extLst>
                    </a:gridCol>
                  </a:tblGrid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Symbol</a:t>
                          </a:r>
                        </a:p>
                      </a:txBody>
                      <a:tcPr marL="150107" marR="115467" marT="115467" marB="1154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50107" marR="115467" marT="115467" marB="11546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088465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hidden state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399769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392647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53838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50829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motion/dynamic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61857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58447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BC97C77-A941-C594-E1A6-C4BB5AE85B3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45865287"/>
                  </p:ext>
                </p:extLst>
              </p:nvPr>
            </p:nvGraphicFramePr>
            <p:xfrm>
              <a:off x="6172200" y="2000423"/>
              <a:ext cx="5181601" cy="382581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75000"/>
                        <a:lumOff val="25000"/>
                      </a:schemeClr>
                    </a:solidFill>
                  </a:tblPr>
                  <a:tblGrid>
                    <a:gridCol w="1910034">
                      <a:extLst>
                        <a:ext uri="{9D8B030D-6E8A-4147-A177-3AD203B41FA5}">
                          <a16:colId xmlns:a16="http://schemas.microsoft.com/office/drawing/2014/main" val="1378307848"/>
                        </a:ext>
                      </a:extLst>
                    </a:gridCol>
                    <a:gridCol w="3271567">
                      <a:extLst>
                        <a:ext uri="{9D8B030D-6E8A-4147-A177-3AD203B41FA5}">
                          <a16:colId xmlns:a16="http://schemas.microsoft.com/office/drawing/2014/main" val="3253761492"/>
                        </a:ext>
                      </a:extLst>
                    </a:gridCol>
                  </a:tblGrid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Symbol</a:t>
                          </a:r>
                        </a:p>
                      </a:txBody>
                      <a:tcPr marL="150107" marR="115467" marT="115467" marB="1154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50107" marR="115467" marT="115467" marB="11546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088465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103371" r="-171656" b="-5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hidden state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399769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201111" r="-17165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392647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301111" r="-17165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53838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401111" r="-1716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50829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506742" r="-171656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motion/dynamic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61857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600000" r="-171656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58447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8184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113168-9553-1BF8-9B87-C6ED8F1F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Recursive PCRB Avoids Full-Trajectory Matrices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C94A4F9-C94A-D8CC-3071-D2712F876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Recursive PCRB</a:t>
                </a:r>
              </a:p>
              <a:p>
                <a:pPr lvl="1"/>
                <a:r>
                  <a:rPr lang="en-US" dirty="0"/>
                  <a:t>Recursive PCRB means: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compute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step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step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instead of building one huge information matrix for the whole trajectory.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 key recursion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gives the </a:t>
                </a:r>
                <a:r>
                  <a:rPr lang="en-US" dirty="0">
                    <a:solidFill>
                      <a:srgbClr val="002060"/>
                    </a:solidFill>
                  </a:rPr>
                  <a:t>posterior Fisher information </a:t>
                </a:r>
                <a:r>
                  <a:rPr lang="en-US" dirty="0"/>
                  <a:t>for the next state.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C94A4F9-C94A-D8CC-3071-D2712F876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05C8C-F20C-66EC-B754-0342255F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20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42D6-FA4A-8DC1-3F43-36CA58E0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Filtering Bounds the Current State, Not the Whole Path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BCDE-56C6-A831-71D3-26AEE31F9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State And Measurement Sequences</a:t>
                </a:r>
              </a:p>
              <a:p>
                <a:pPr lvl="1"/>
                <a:r>
                  <a:rPr lang="en-US" dirty="0"/>
                  <a:t>State trajectory: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Measurement sequence: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Find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about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not the whole trajectory: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PCRB </a:t>
                </a:r>
                <a:r>
                  <a:rPr lang="en-US" dirty="0">
                    <a:solidFill>
                      <a:srgbClr val="7030A0"/>
                    </a:solidFill>
                  </a:rPr>
                  <a:t>uses information submatrix ideas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BCDE-56C6-A831-71D3-26AEE31F9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3C3F0-4619-68B3-F23C-FB005B63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783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8622-C1E9-8EF1-E09D-F34C838D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Markov Factorization Creates a One-Step Recursion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FC3EA4-0026-02CE-D4C6-DE399D45A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Joint Density Factorization</a:t>
                </a:r>
              </a:p>
              <a:p>
                <a:pPr lvl="1"/>
                <a:r>
                  <a:rPr lang="en-US" dirty="0"/>
                  <a:t>Because the system is Markov: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dynamic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transition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Taking log: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</a:t>
                </a:r>
                <a:r>
                  <a:rPr lang="en-US" dirty="0">
                    <a:solidFill>
                      <a:srgbClr val="0070C0"/>
                    </a:solidFill>
                  </a:rPr>
                  <a:t>the source of the recursion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FC3EA4-0026-02CE-D4C6-DE399D45A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1CA81-80B3-8529-5505-A9E70528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120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5707-71E3-256B-25AE-B7047CD1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Schur Complement Removes Old-State Nuisance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478E3-9FDC-1AB7-6C6D-424EB2BB0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Previous Information Matrix</a:t>
                </a:r>
              </a:p>
              <a:p>
                <a:pPr lvl="1"/>
                <a:r>
                  <a:rPr lang="en-US" dirty="0"/>
                  <a:t>Partition the information matrix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 b="0" smtClean="0"/>
                      <m:t> </m:t>
                    </m:r>
                    <m:r>
                      <m:rPr>
                        <m:nor/>
                      </m:rPr>
                      <a:rPr lang="en-US" b="0" i="1" smtClean="0"/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b="0" i="1" smtClean="0"/>
                      <m:t>)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current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coupling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between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Effective information about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</a:t>
                </a:r>
                <a:r>
                  <a:rPr lang="en-US" dirty="0">
                    <a:solidFill>
                      <a:srgbClr val="7030A0"/>
                    </a:solidFill>
                  </a:rPr>
                  <a:t>removes the nuisance </a:t>
                </a:r>
                <a:r>
                  <a:rPr lang="en-US" dirty="0"/>
                  <a:t>effect of previous states.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478E3-9FDC-1AB7-6C6D-424EB2BB0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8B24-CE0E-A848-31A1-18728ED1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93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7984-B91A-146B-8B06-6B18B647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Adding the Next State Expands the Information Blocks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CFE02-B01C-613D-12DF-E0C6DBF01C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Calculation of Block Matrix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add new state: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Markov factorization: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Paper uses this factorization to build the block information matrix.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CFE02-B01C-613D-12DF-E0C6DBF01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B06D0-9F6D-7BAF-7A4B-12C201F9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559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2DBF-1CFD-B62D-D10E-670D10BD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Each Density Term Adds a Hessian Contribution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7983F-CD25-6D6A-28F0-40C42467E6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Negative Hessian Contributions</a:t>
                </a:r>
              </a:p>
              <a:p>
                <a:pPr lvl="1"/>
                <a:r>
                  <a:rPr lang="en-US" dirty="0"/>
                  <a:t>Posterior information matrix: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take second derivatives with respect to these three blocks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7983F-CD25-6D6A-28F0-40C42467E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734E9-E267-492E-36E9-BFB8FDB3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185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29C7-9D61-17F6-B2EA-46EBF679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Old Density Does Not Directly Inform the Next State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4261A-3E47-46D5-36BE-F581D86E62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Old Density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depends only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4261A-3E47-46D5-36BE-F581D86E6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89C17-D816-4E79-97FB-6531518B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17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24FB-A578-B6A7-8554-35605A80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Dynamics Couple Current and Next-State Information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76BD68-CB47-D890-3EA0-95BC8150E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Transition Density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depends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directly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/>
                                    <m:t>trans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76BD68-CB47-D890-3EA0-95BC8150E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757C8-F981-91B2-D7AC-001CA162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276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54D6-EBA1-833F-995A-93DDCCE2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New Measurements Inform Only the Next-State Block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39A5F-12D0-F70E-7F08-879603D2E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Measurement Density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depends only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/>
                                    <m:t>meas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39A5F-12D0-F70E-7F08-879603D2E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29E43-1F2C-DE1A-F1AD-0816E855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47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DBB5-11ED-DDB7-EA3F-7C3E1BAD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Transition and Measurement Terms Form the Final Block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EF632-398B-A1C6-4CC6-8DEAE7670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Block Matrix</a:t>
                </a:r>
              </a:p>
              <a:p>
                <a:pPr lvl="1"/>
                <a:r>
                  <a:rPr lang="en-US" dirty="0"/>
                  <a:t>Adding all three contributions: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1"/>
                          <m:t>trans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1"/>
                          <m:t>meas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EF632-398B-A1C6-4CC6-8DEAE7670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214B1-ABD8-BF1E-0952-79E6D6B2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05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AAA9-1477-EF29-E890-64D5B2E5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Markov Structure Makes the Corner Block Zero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39C0-A5EA-FECA-AEF4-7558D3D0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Corner Block Is Zero</a:t>
                </a:r>
              </a:p>
              <a:p>
                <a:pPr lvl="1"/>
                <a:r>
                  <a:rPr lang="en-US" dirty="0"/>
                  <a:t>Corner block: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old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and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are not directly connected.</a:t>
                </a:r>
              </a:p>
              <a:p>
                <a:pPr lvl="1"/>
                <a:r>
                  <a:rPr lang="en-US" dirty="0"/>
                  <a:t>Markov relation: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affect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only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through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39C0-A5EA-FECA-AEF4-7558D3D0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EB72C-535B-20E9-3866-53CC41D4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20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E7C5-C724-475E-DD06-3B670A2F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fr-FR" sz="3000">
                <a:solidFill>
                  <a:srgbClr val="000000"/>
                </a:solidFill>
              </a:rPr>
              <a:t>D Matrices Capture Model Curvature</a:t>
            </a:r>
            <a:endParaRPr lang="en-US" sz="30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1C0E2-CB97-4E19-F0F6-C7A384910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Terms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1C0E2-CB97-4E19-F0F6-C7A384910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55D2F-7824-FB58-CA48-5F8C9A53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60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CCFC-0333-C09D-E38B-AC63FF5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D Terms Separate Direct Information from Coupling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C318D-7AC3-E5AD-787F-1C762F9CD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Terms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coupling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between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matrices collect information from: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transition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model</m:t>
                    </m:r>
                    <m:r>
                      <a:rPr lang="en-US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measurement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model</m:t>
                    </m:r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C318D-7AC3-E5AD-787F-1C762F9CD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F038-20FB-CFF8-9B83-B3381878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209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D340-FE89-9CD2-4BE0-7F48BA1F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Schur Complement Produces the Recursive PCRB Update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F380F-57E4-9C88-E122-150122A3DE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Extract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only care about: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Previous variables: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are nuisance variables.</a:t>
                </a:r>
              </a:p>
              <a:p>
                <a:pPr lvl="1"/>
                <a:r>
                  <a:rPr lang="en-US" dirty="0"/>
                  <a:t>Using Schur complement: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i="1"/>
                          <m:t>    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Key identity: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i="1"/>
                          <m:t>    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because: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the recursive PCRB equation.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F380F-57E4-9C88-E122-150122A3D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2ADF7-A3EF-181D-7F13-72095E88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823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089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F93F-45B7-7FA2-1058-190633F7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Previous-State Uncertainty Subtracts Usable Information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05FCF-A099-735F-2B69-DEBCEC42C8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Recursive PCRB Intuition</a:t>
                </a:r>
              </a:p>
              <a:p>
                <a:pPr lvl="1"/>
                <a:r>
                  <a:rPr lang="en-US" dirty="0"/>
                  <a:t>Think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current information about the target.</a:t>
                </a:r>
              </a:p>
              <a:p>
                <a:pPr lvl="1"/>
                <a:r>
                  <a:rPr lang="en-US" dirty="0"/>
                  <a:t>At the next time: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penalty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transition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But: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depends on uncertain: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usable information is reduced by: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Final intuition: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loss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previous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05FCF-A099-735F-2B69-DEBCEC42C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0497-DDD3-5A5A-D361-4D77F693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499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F617283-00E5-7E05-B5C2-4F9A767F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Process and Measurement Noise Control the Bound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B65E1-E843-E155-5EC9-2DE23E080E5D}"/>
                  </a:ext>
                </a:extLst>
              </p:cNvPr>
              <p:cNvSpPr txBox="1"/>
              <p:nvPr/>
            </p:nvSpPr>
            <p:spPr>
              <a:xfrm>
                <a:off x="838200" y="1649690"/>
                <a:ext cx="5822660" cy="4910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Additive Gaussian Noise Case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with: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then: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control PCRB.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B65E1-E843-E155-5EC9-2DE23E080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0"/>
                <a:ext cx="5822660" cy="4910501"/>
              </a:xfrm>
              <a:prstGeom prst="rect">
                <a:avLst/>
              </a:prstGeom>
              <a:blipFill>
                <a:blip r:embed="rId2"/>
                <a:stretch>
                  <a:fillRect l="-942" t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810BD-4E24-A663-EBC4-50ED5C9C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43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BD1B039-A664-985B-37F7-D2433868066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4959058"/>
                  </p:ext>
                </p:extLst>
              </p:nvPr>
            </p:nvGraphicFramePr>
            <p:xfrm>
              <a:off x="6690220" y="1728131"/>
              <a:ext cx="4663581" cy="4882826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892868">
                      <a:extLst>
                        <a:ext uri="{9D8B030D-6E8A-4147-A177-3AD203B41FA5}">
                          <a16:colId xmlns:a16="http://schemas.microsoft.com/office/drawing/2014/main" val="1172123083"/>
                        </a:ext>
                      </a:extLst>
                    </a:gridCol>
                    <a:gridCol w="2770713">
                      <a:extLst>
                        <a:ext uri="{9D8B030D-6E8A-4147-A177-3AD203B41FA5}">
                          <a16:colId xmlns:a16="http://schemas.microsoft.com/office/drawing/2014/main" val="2207343613"/>
                        </a:ext>
                      </a:extLst>
                    </a:gridCol>
                  </a:tblGrid>
                  <a:tr h="68770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 dirty="0">
                              <a:solidFill>
                                <a:schemeClr val="bg1"/>
                              </a:solidFill>
                            </a:rPr>
                            <a:t>Matrix / Case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85234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9406149"/>
                      </a:ext>
                    </a:extLst>
                  </a:tr>
                  <a:tr h="8572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80393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small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90595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large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0257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small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accurate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01090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large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 dirty="0">
                              <a:solidFill>
                                <a:schemeClr val="tx1"/>
                              </a:solidFill>
                            </a:rPr>
                            <a:t>noisy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734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BD1B039-A664-985B-37F7-D2433868066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4959058"/>
                  </p:ext>
                </p:extLst>
              </p:nvPr>
            </p:nvGraphicFramePr>
            <p:xfrm>
              <a:off x="6690220" y="1728131"/>
              <a:ext cx="4663581" cy="4882826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892868">
                      <a:extLst>
                        <a:ext uri="{9D8B030D-6E8A-4147-A177-3AD203B41FA5}">
                          <a16:colId xmlns:a16="http://schemas.microsoft.com/office/drawing/2014/main" val="1172123083"/>
                        </a:ext>
                      </a:extLst>
                    </a:gridCol>
                    <a:gridCol w="2770713">
                      <a:extLst>
                        <a:ext uri="{9D8B030D-6E8A-4147-A177-3AD203B41FA5}">
                          <a16:colId xmlns:a16="http://schemas.microsoft.com/office/drawing/2014/main" val="2207343613"/>
                        </a:ext>
                      </a:extLst>
                    </a:gridCol>
                  </a:tblGrid>
                  <a:tr h="9616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 dirty="0">
                              <a:solidFill>
                                <a:schemeClr val="bg1"/>
                              </a:solidFill>
                            </a:rPr>
                            <a:t>Matrix / Case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852346"/>
                      </a:ext>
                    </a:extLst>
                  </a:tr>
                  <a:tr h="7974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20611" r="-146624" b="-391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9406149"/>
                      </a:ext>
                    </a:extLst>
                  </a:tr>
                  <a:tr h="8572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204965" r="-146624" b="-2638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80393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462366" r="-1466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90595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562366" r="-1466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0257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662366" r="-1466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accurate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01090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762366" r="-146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 dirty="0">
                              <a:solidFill>
                                <a:schemeClr val="tx1"/>
                              </a:solidFill>
                            </a:rPr>
                            <a:t>noisy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734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881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E1476E-4282-C224-0B9C-9F5359AA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Sensing CRB Becomes Measurement Covariance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9828D7-B8E5-46C5-BB36-470FB80188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ISAC Measurement Noise From CRB</a:t>
                </a:r>
              </a:p>
              <a:p>
                <a:pPr lvl="1"/>
                <a:r>
                  <a:rPr lang="en-US" dirty="0"/>
                  <a:t>In ISAC papers, measurement noise covariance may come from sensing CRB: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/</m:t>
                    </m:r>
                    <m:r>
                      <m:rPr>
                        <m:nor/>
                      </m:rPr>
                      <a:rPr lang="en-US"/>
                      <m:t>Doppler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angle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Then this measurement noise affects PCRB tracking performance.</a:t>
                </a:r>
              </a:p>
              <a:p>
                <a:pPr lvl="1"/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9828D7-B8E5-46C5-BB36-470FB8018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18126-E9CE-2EAA-45A9-8B71757B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08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3D02-6F0F-6403-049D-33761DD9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Kalman Covariance Reaches PCRB in Linear Models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BE5E1-436E-07D7-C820-4874B099C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Connection With Kalman Filter</a:t>
                </a:r>
              </a:p>
              <a:p>
                <a:pPr lvl="1"/>
                <a:r>
                  <a:rPr lang="en-US" dirty="0"/>
                  <a:t>For linear Gaussian model: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Kalman covariance satisfies: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PCRB is achieved.</a:t>
                </a:r>
              </a:p>
              <a:p>
                <a:pPr lvl="1"/>
                <a:r>
                  <a:rPr lang="en-US" dirty="0"/>
                  <a:t>This means: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reaches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theoretical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linear Gaussian systems.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BE5E1-436E-07D7-C820-4874B099C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D5DE2-F8A4-D046-563B-4C8906BC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57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EC60-4A91-C8E1-D131-34062958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700">
                <a:solidFill>
                  <a:srgbClr val="000000"/>
                </a:solidFill>
              </a:rPr>
              <a:t>EKF Performance Is Judged Against the PCRB</a:t>
            </a:r>
            <a:endParaRPr lang="en-US" sz="27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002EC-2692-CDB3-9441-F7B0067E95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Connection With EKF</a:t>
                </a:r>
              </a:p>
              <a:p>
                <a:pPr lvl="1"/>
                <a:r>
                  <a:rPr lang="en-US" dirty="0"/>
                  <a:t>For nonlinear model: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EKF approximates using Jacobians: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we compare: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𝐸𝐾𝐹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EKF MSE is close to PCRB: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good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EKF MSE is far above PCRB: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estimator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inefficient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model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difficult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002EC-2692-CDB3-9441-F7B0067E95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B3136-5A4F-67C4-D350-1773DBE7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52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D56F-7D1E-1CFD-D015-35188CCD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ISAC Resource Choices Propagate into Tracking Accuracy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26CCD-36EA-69D1-A1D1-86DB31F77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PCRB Matters For ISAC Research</a:t>
                </a:r>
              </a:p>
              <a:p>
                <a:pPr lvl="1"/>
                <a:r>
                  <a:rPr lang="en-US" dirty="0"/>
                  <a:t>PCRB helps analyze: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beamforming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improves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allocation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improves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CRB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of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range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angle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Doppler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affects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error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whether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EKF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close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theoretical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limit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degrade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Typical ISAC chain: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Beamforming</m:t>
                    </m:r>
                    <m:r>
                      <m:rPr>
                        <m:nor/>
                      </m:rPr>
                      <a:rPr lang="en-US"/>
                      <m:t> / </m:t>
                    </m:r>
                    <m:r>
                      <m:rPr>
                        <m:nor/>
                      </m:rPr>
                      <a:rPr lang="en-US"/>
                      <m:t>Resource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EKF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Comparison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26CCD-36EA-69D1-A1D1-86DB31F77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BAA03-F28B-EFF7-1638-85564E1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36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121F-36B2-6E3A-5A87-7FA15D7DD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900"/>
            <a:ext cx="10515600" cy="838200"/>
          </a:xfrm>
        </p:spPr>
        <p:txBody>
          <a:bodyPr lIns="91440" tIns="35560" rIns="91440" bIns="35560" anchor="ctr"/>
          <a:lstStyle/>
          <a:p>
            <a:r>
              <a:rPr lang="en-US" sz="2500">
                <a:solidFill>
                  <a:srgbClr val="000000"/>
                </a:solidFill>
              </a:rPr>
              <a:t>PCRB Sets the Theoretical Floor for Tracking Error</a:t>
            </a:r>
            <a:endParaRPr lang="en-US" sz="25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00A162-DE6D-ED91-AD7C-793CBBFFC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Summary</a:t>
                </a:r>
              </a:p>
              <a:p>
                <a:pPr lvl="1"/>
                <a:r>
                  <a:rPr lang="en-US" dirty="0"/>
                  <a:t>The full logic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score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function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PCRB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filtering: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recursively compute: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𝑃𝐶𝑅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Main meaning: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gives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theoretical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minimum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00A162-DE6D-ED91-AD7C-793CBBFFC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52204-537A-E64F-8DA6-88E9EAA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2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968FF-6ECA-7FE5-4CF5-43424C71B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7000"/>
            <a:ext cx="9144000" cy="2032000"/>
          </a:xfrm>
        </p:spPr>
        <p:txBody>
          <a:bodyPr lIns="91440" tIns="45720" rIns="91440" bIns="45720" anchor="ctr"/>
          <a:lstStyle/>
          <a:p>
            <a:r>
              <a:rPr lang="en-US" sz="3200">
                <a:solidFill>
                  <a:srgbClr val="000000"/>
                </a:solidFill>
              </a:rPr>
              <a:t>Power and Bandwidth Allocation</a:t>
            </a:r>
            <a:br>
              <a:rPr lang="en-US" sz="3200">
                <a:solidFill>
                  <a:srgbClr val="000000"/>
                </a:solidFill>
              </a:rPr>
            </a:br>
            <a:r>
              <a:rPr lang="en-US" sz="3200">
                <a:solidFill>
                  <a:srgbClr val="000000"/>
                </a:solidFill>
              </a:rPr>
              <a:t>for Multi-Target Tracking in</a:t>
            </a:r>
            <a:br>
              <a:rPr lang="en-US" sz="3200">
                <a:solidFill>
                  <a:srgbClr val="000000"/>
                </a:solidFill>
              </a:rPr>
            </a:br>
            <a:r>
              <a:rPr lang="en-US" sz="3200">
                <a:solidFill>
                  <a:srgbClr val="000000"/>
                </a:solidFill>
              </a:rPr>
              <a:t>Collocated MIMO Radar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2B4065B-59E0-1BAF-547B-4A0701038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8900"/>
            <a:ext cx="9144000" cy="1498600"/>
          </a:xfrm>
        </p:spPr>
        <p:txBody>
          <a:bodyPr lIns="91440" tIns="45720" rIns="91440" bIns="45720" anchor="t"/>
          <a:lstStyle/>
          <a:p>
            <a:r>
              <a:rPr lang="en-US" sz="1050" b="1">
                <a:solidFill>
                  <a:srgbClr val="006666"/>
                </a:solidFill>
              </a:rPr>
              <a:t>AUTHORS</a:t>
            </a:r>
          </a:p>
          <a:p>
            <a:r>
              <a:rPr lang="en-US" sz="1800" b="1">
                <a:solidFill>
                  <a:srgbClr val="111111"/>
                </a:solidFill>
              </a:rPr>
              <a:t>Haowei Zhang | Binfeng Zong | Junwei Xie</a:t>
            </a:r>
          </a:p>
          <a:p>
            <a:r>
              <a:rPr lang="en-US" sz="1050" b="1">
                <a:solidFill>
                  <a:srgbClr val="006666"/>
                </a:solidFill>
              </a:rPr>
              <a:t>PUBLISHER / JOURNAL</a:t>
            </a:r>
          </a:p>
          <a:p>
            <a:r>
              <a:rPr lang="en-US" sz="1250">
                <a:solidFill>
                  <a:srgbClr val="444444"/>
                </a:solidFill>
              </a:rPr>
              <a:t>IEEE Transactions on Vehicular Technology, Vol. 69, Issue 9, September 2020</a:t>
            </a:r>
          </a:p>
          <a:p>
            <a:r>
              <a:rPr lang="en-US" sz="1200">
                <a:solidFill>
                  <a:srgbClr val="666666"/>
                </a:solidFill>
              </a:rPr>
              <a:t>Publication date: 16 June 2020</a:t>
            </a:r>
            <a:endParaRPr lang="en-US" sz="1200" dirty="0">
              <a:solidFill>
                <a:srgbClr val="66666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1A0DF-E1EF-047D-786D-89F70FAC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1212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3AD9-FEBE-02B4-BE12-6F6FE660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200"/>
            <a:ext cx="9652000" cy="736600"/>
          </a:xfrm>
        </p:spPr>
        <p:txBody>
          <a:bodyPr/>
          <a:lstStyle/>
          <a:p>
            <a:r>
              <a:rPr lang="en-US" sz="3400">
                <a:solidFill>
                  <a:srgbClr val="000000"/>
                </a:solidFill>
              </a:rPr>
              <a:t>Table of Contents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EF42D-643A-F370-1147-C01D38F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2E18B-4EF8-8310-F449-7F899E7B80AC}"/>
              </a:ext>
            </a:extLst>
          </p:cNvPr>
          <p:cNvSpPr/>
          <p:nvPr/>
        </p:nvSpPr>
        <p:spPr>
          <a:xfrm>
            <a:off x="1333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9C50C-9CE6-200F-107F-BE3CCF02C8D3}"/>
              </a:ext>
            </a:extLst>
          </p:cNvPr>
          <p:cNvSpPr txBox="1"/>
          <p:nvPr/>
        </p:nvSpPr>
        <p:spPr>
          <a:xfrm>
            <a:off x="2019300" y="20828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Paper overview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51-53 | Problem, motivation, resource-allocation 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9BD7D-8500-AB43-BC6B-A2B60154C9DF}"/>
              </a:ext>
            </a:extLst>
          </p:cNvPr>
          <p:cNvSpPr/>
          <p:nvPr/>
        </p:nvSpPr>
        <p:spPr>
          <a:xfrm>
            <a:off x="2019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26B3A-BD58-943E-E29A-8941D69A5028}"/>
              </a:ext>
            </a:extLst>
          </p:cNvPr>
          <p:cNvSpPr/>
          <p:nvPr/>
        </p:nvSpPr>
        <p:spPr>
          <a:xfrm>
            <a:off x="1333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D0C3D-B8D5-2DFF-45FF-3A46B4F9091C}"/>
              </a:ext>
            </a:extLst>
          </p:cNvPr>
          <p:cNvSpPr txBox="1"/>
          <p:nvPr/>
        </p:nvSpPr>
        <p:spPr>
          <a:xfrm>
            <a:off x="2019300" y="31242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Radar and tracking model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54-65 | Signal, echo, target dynamics, measurement noise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47EBC-3EB1-56FF-79A5-875D65E10FFF}"/>
              </a:ext>
            </a:extLst>
          </p:cNvPr>
          <p:cNvSpPr/>
          <p:nvPr/>
        </p:nvSpPr>
        <p:spPr>
          <a:xfrm>
            <a:off x="2019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45DA0C-8751-79C3-62EF-0D65EBE4D8BE}"/>
              </a:ext>
            </a:extLst>
          </p:cNvPr>
          <p:cNvSpPr/>
          <p:nvPr/>
        </p:nvSpPr>
        <p:spPr>
          <a:xfrm>
            <a:off x="1333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F4D0E-181D-369F-710B-927375CCEF22}"/>
              </a:ext>
            </a:extLst>
          </p:cNvPr>
          <p:cNvSpPr txBox="1"/>
          <p:nvPr/>
        </p:nvSpPr>
        <p:spPr>
          <a:xfrm>
            <a:off x="2019300" y="41656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Transmit-aware PCRLB basics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66-77 | Likelihood, score, Fisher information, posterior split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7526F8-CF95-D7B5-16F4-03F360823880}"/>
              </a:ext>
            </a:extLst>
          </p:cNvPr>
          <p:cNvSpPr/>
          <p:nvPr/>
        </p:nvSpPr>
        <p:spPr>
          <a:xfrm>
            <a:off x="2019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751CBF-CBA2-C4EC-4456-35393C661241}"/>
              </a:ext>
            </a:extLst>
          </p:cNvPr>
          <p:cNvSpPr/>
          <p:nvPr/>
        </p:nvSpPr>
        <p:spPr>
          <a:xfrm>
            <a:off x="6794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A84907-7943-2418-219F-6B80CB37451B}"/>
              </a:ext>
            </a:extLst>
          </p:cNvPr>
          <p:cNvSpPr txBox="1"/>
          <p:nvPr/>
        </p:nvSpPr>
        <p:spPr>
          <a:xfrm>
            <a:off x="7480300" y="20828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Recursive BFIM structure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78-83 | Nuisance states, block matrix, Schur complement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166903-1DC0-4C11-2997-132C6B32CB6F}"/>
              </a:ext>
            </a:extLst>
          </p:cNvPr>
          <p:cNvSpPr/>
          <p:nvPr/>
        </p:nvSpPr>
        <p:spPr>
          <a:xfrm>
            <a:off x="7480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639A47-21D2-F07E-0C4D-40FE16A272A6}"/>
              </a:ext>
            </a:extLst>
          </p:cNvPr>
          <p:cNvSpPr/>
          <p:nvPr/>
        </p:nvSpPr>
        <p:spPr>
          <a:xfrm>
            <a:off x="6794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6C9F5D-12E4-9DDD-994C-0FE84164A34A}"/>
              </a:ext>
            </a:extLst>
          </p:cNvPr>
          <p:cNvSpPr txBox="1"/>
          <p:nvPr/>
        </p:nvSpPr>
        <p:spPr>
          <a:xfrm>
            <a:off x="7480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Gaussian dynamic prior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84-88 | Process-noise covariance and closed-form prior information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1C68B-B3BC-F508-E0EB-783A84EB333F}"/>
              </a:ext>
            </a:extLst>
          </p:cNvPr>
          <p:cNvSpPr/>
          <p:nvPr/>
        </p:nvSpPr>
        <p:spPr>
          <a:xfrm>
            <a:off x="7480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D4311A-EF3F-D1A5-C169-2B3034D229B3}"/>
              </a:ext>
            </a:extLst>
          </p:cNvPr>
          <p:cNvSpPr/>
          <p:nvPr/>
        </p:nvSpPr>
        <p:spPr>
          <a:xfrm>
            <a:off x="6794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7C7C18-DF64-2D7E-2D7B-DFDCE8FFBA05}"/>
              </a:ext>
            </a:extLst>
          </p:cNvPr>
          <p:cNvSpPr txBox="1"/>
          <p:nvPr/>
        </p:nvSpPr>
        <p:spPr>
          <a:xfrm>
            <a:off x="7480300" y="41656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Measurement FIM and final metric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89-92 | Power/bandwidth-dependent covariance and position PCRLB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F759AB-EEBD-73B2-099A-AD4B5B13B5A0}"/>
              </a:ext>
            </a:extLst>
          </p:cNvPr>
          <p:cNvSpPr/>
          <p:nvPr/>
        </p:nvSpPr>
        <p:spPr>
          <a:xfrm>
            <a:off x="7480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54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440C-22DC-AF3F-45EE-BCA08DBE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E217-0273-F71A-7B77-3CD4E14A5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Paper Focus</a:t>
            </a:r>
          </a:p>
          <a:p>
            <a:pPr lvl="1"/>
            <a:r>
              <a:rPr lang="en-US" dirty="0"/>
              <a:t>Power and Bandwidth Allocation for Multi-Target Tracking</a:t>
            </a:r>
          </a:p>
          <a:p>
            <a:pPr lvl="1"/>
            <a:r>
              <a:rPr lang="en-US" dirty="0"/>
              <a:t>Collocated MIMO radar tracks multiple targets. </a:t>
            </a:r>
          </a:p>
          <a:p>
            <a:pPr lvl="1"/>
            <a:r>
              <a:rPr lang="en-US" dirty="0"/>
              <a:t>Uses simultaneous multi-beam mode.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Goal: </a:t>
            </a:r>
            <a:r>
              <a:rPr lang="en-US" dirty="0"/>
              <a:t>improve target tracking accuracy.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Key metric: </a:t>
            </a:r>
            <a:r>
              <a:rPr lang="en-US" dirty="0"/>
              <a:t>weighted PCRLB. </a:t>
            </a:r>
          </a:p>
          <a:p>
            <a:r>
              <a:rPr lang="en-US" dirty="0">
                <a:solidFill>
                  <a:srgbClr val="0000FF"/>
                </a:solidFill>
              </a:rPr>
              <a:t>Main Problem</a:t>
            </a:r>
          </a:p>
          <a:p>
            <a:pPr lvl="1"/>
            <a:r>
              <a:rPr lang="en-US" dirty="0"/>
              <a:t>Limited Radar Resources</a:t>
            </a:r>
          </a:p>
          <a:p>
            <a:pPr lvl="1"/>
            <a:r>
              <a:rPr lang="en-US" dirty="0"/>
              <a:t>Radar has limited: </a:t>
            </a:r>
          </a:p>
          <a:p>
            <a:pPr lvl="2"/>
            <a:r>
              <a:rPr lang="en-US" dirty="0"/>
              <a:t>transmit power, </a:t>
            </a:r>
          </a:p>
          <a:p>
            <a:pPr lvl="2"/>
            <a:r>
              <a:rPr lang="en-US" dirty="0"/>
              <a:t>bandwidth. </a:t>
            </a:r>
          </a:p>
          <a:p>
            <a:pPr lvl="1"/>
            <a:r>
              <a:rPr lang="en-US" dirty="0"/>
              <a:t>Multiple targets need to be tracked simultaneously. </a:t>
            </a:r>
          </a:p>
          <a:p>
            <a:pPr lvl="1"/>
            <a:r>
              <a:rPr lang="en-US" dirty="0"/>
              <a:t>Question: how much power and bandwidth should each target receive?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45D72-2A83-DFA9-BBC6-7C3EB92B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73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8B52-214A-E1E4-FA91-B61906A1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D573-C2DD-966E-28E3-44955FD7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Proposed Method</a:t>
            </a:r>
          </a:p>
          <a:p>
            <a:pPr lvl="1"/>
            <a:r>
              <a:rPr lang="en-US" dirty="0"/>
              <a:t>Joint Power + Bandwidth Allocation</a:t>
            </a:r>
          </a:p>
          <a:p>
            <a:pPr lvl="1"/>
            <a:r>
              <a:rPr lang="en-US" dirty="0"/>
              <a:t>Objective: minimize sum of weighted PCRLBs. </a:t>
            </a:r>
          </a:p>
          <a:p>
            <a:pPr lvl="1"/>
            <a:r>
              <a:rPr lang="en-US" dirty="0"/>
              <a:t>Uses feedback from previous tracking cycle. </a:t>
            </a:r>
          </a:p>
          <a:p>
            <a:pPr lvl="1"/>
            <a:r>
              <a:rPr lang="en-US" dirty="0"/>
              <a:t>Nonconvex problem is handled by: </a:t>
            </a:r>
          </a:p>
          <a:p>
            <a:pPr lvl="2"/>
            <a:r>
              <a:rPr lang="en-US" dirty="0"/>
              <a:t>convex relaxation, </a:t>
            </a:r>
          </a:p>
          <a:p>
            <a:pPr lvl="2"/>
            <a:r>
              <a:rPr lang="en-US" dirty="0"/>
              <a:t>cycle minimizer, </a:t>
            </a:r>
          </a:p>
          <a:p>
            <a:pPr lvl="2"/>
            <a:r>
              <a:rPr lang="en-US" dirty="0"/>
              <a:t>two-stage convex optimization.</a:t>
            </a:r>
          </a:p>
          <a:p>
            <a:r>
              <a:rPr lang="en-US" dirty="0">
                <a:solidFill>
                  <a:srgbClr val="0000FF"/>
                </a:solidFill>
              </a:rPr>
              <a:t>Key Takeaway</a:t>
            </a:r>
          </a:p>
          <a:p>
            <a:pPr lvl="1"/>
            <a:r>
              <a:rPr lang="en-US" dirty="0"/>
              <a:t>Why This Paper Matters</a:t>
            </a:r>
          </a:p>
          <a:p>
            <a:pPr lvl="1"/>
            <a:r>
              <a:rPr lang="en-US" dirty="0"/>
              <a:t>Better resource allocation gives better tracking. </a:t>
            </a:r>
          </a:p>
          <a:p>
            <a:pPr lvl="1"/>
            <a:r>
              <a:rPr lang="en-US" dirty="0"/>
              <a:t>PCRLB links radar resources to tracking accuracy. </a:t>
            </a:r>
          </a:p>
          <a:p>
            <a:pPr lvl="1"/>
            <a:r>
              <a:rPr lang="en-US" dirty="0"/>
              <a:t>Joint allocation performs better than uniform allocation. </a:t>
            </a:r>
          </a:p>
          <a:p>
            <a:pPr lvl="1"/>
            <a:r>
              <a:rPr lang="en-US" dirty="0"/>
              <a:t>Useful foundation for dynamic ISAC target tracking.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07E20-013B-557D-C186-E34144FB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94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B618-F841-4ADD-2C87-6760785A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7555-F967-0719-7668-09504B6EC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Research Gap</a:t>
            </a:r>
          </a:p>
          <a:p>
            <a:pPr lvl="1"/>
            <a:r>
              <a:rPr lang="en-US" dirty="0"/>
              <a:t>MIMO radar offers path diversity, flexible beam patterns, and multi-function operation. </a:t>
            </a:r>
          </a:p>
          <a:p>
            <a:pPr lvl="1"/>
            <a:r>
              <a:rPr lang="en-US" dirty="0"/>
              <a:t>Existing radar resource allocation mainly focuses on </a:t>
            </a:r>
            <a:r>
              <a:rPr lang="en-US" dirty="0">
                <a:solidFill>
                  <a:srgbClr val="7030A0"/>
                </a:solidFill>
              </a:rPr>
              <a:t>power allocation. </a:t>
            </a:r>
          </a:p>
          <a:p>
            <a:pPr lvl="1"/>
            <a:r>
              <a:rPr lang="en-US" dirty="0"/>
              <a:t>Most prior works consider </a:t>
            </a:r>
            <a:r>
              <a:rPr lang="en-US" dirty="0">
                <a:solidFill>
                  <a:srgbClr val="7030A0"/>
                </a:solidFill>
              </a:rPr>
              <a:t>static targets. </a:t>
            </a:r>
          </a:p>
          <a:p>
            <a:pPr lvl="1"/>
            <a:r>
              <a:rPr lang="en-US" dirty="0"/>
              <a:t>For practical tracking, target motion must be considered. </a:t>
            </a:r>
          </a:p>
          <a:p>
            <a:pPr lvl="1"/>
            <a:r>
              <a:rPr lang="en-US" dirty="0"/>
              <a:t>Bandwidth is also a critical but often ignored resource.</a:t>
            </a:r>
          </a:p>
          <a:p>
            <a:r>
              <a:rPr lang="en-US" dirty="0">
                <a:solidFill>
                  <a:srgbClr val="0000FF"/>
                </a:solidFill>
              </a:rPr>
              <a:t>Proposed Direction</a:t>
            </a:r>
          </a:p>
          <a:p>
            <a:pPr lvl="1"/>
            <a:r>
              <a:rPr lang="en-US" dirty="0"/>
              <a:t>This paper studies </a:t>
            </a:r>
            <a:r>
              <a:rPr lang="en-US" dirty="0">
                <a:solidFill>
                  <a:srgbClr val="7030A0"/>
                </a:solidFill>
              </a:rPr>
              <a:t>joint power and bandwidth allocation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Objective: minimize the </a:t>
            </a:r>
            <a:r>
              <a:rPr lang="en-US" dirty="0">
                <a:solidFill>
                  <a:srgbClr val="7030A0"/>
                </a:solidFill>
              </a:rPr>
              <a:t>sum of weighted PCRLBs. </a:t>
            </a:r>
          </a:p>
          <a:p>
            <a:pPr lvl="1"/>
            <a:r>
              <a:rPr lang="en-US" dirty="0"/>
              <a:t>Uses feedback from the tracking cycle. </a:t>
            </a:r>
          </a:p>
          <a:p>
            <a:pPr lvl="1"/>
            <a:r>
              <a:rPr lang="en-US" dirty="0"/>
              <a:t>Develops a closed-loop tracking/resource allocation framework. </a:t>
            </a:r>
          </a:p>
          <a:p>
            <a:pPr lvl="1"/>
            <a:r>
              <a:rPr lang="en-US" dirty="0"/>
              <a:t>Solves the problem using </a:t>
            </a:r>
            <a:r>
              <a:rPr lang="en-US" dirty="0">
                <a:solidFill>
                  <a:srgbClr val="7030A0"/>
                </a:solidFill>
              </a:rPr>
              <a:t>convex relaxation + cyclical minimizer.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385DB-FB7E-85D9-0582-DF8FA4D0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942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E3D9-D2B9-5A59-5817-EA2EF2A2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283E7D-B317-F2E4-C4BB-34C066903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87" y="1649691"/>
            <a:ext cx="6900785" cy="365741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EB963-09BD-4943-D77D-98032723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91509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1CDD9-2D2D-0C1E-EA15-416CE7564F02}"/>
              </a:ext>
            </a:extLst>
          </p:cNvPr>
          <p:cNvSpPr txBox="1"/>
          <p:nvPr/>
        </p:nvSpPr>
        <p:spPr>
          <a:xfrm>
            <a:off x="2311168" y="5347982"/>
            <a:ext cx="847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Figure 1.</a:t>
            </a:r>
            <a:r>
              <a:rPr lang="en-US" dirty="0"/>
              <a:t> Illustration of multi-target tracking by simultaneous multi-beam mode. (a) Transmit beam pattern. (b) Receive beam pattern.</a:t>
            </a:r>
          </a:p>
        </p:txBody>
      </p:sp>
    </p:spTree>
    <p:extLst>
      <p:ext uri="{BB962C8B-B14F-4D97-AF65-F5344CB8AC3E}">
        <p14:creationId xmlns:p14="http://schemas.microsoft.com/office/powerpoint/2010/main" val="14813568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4D6-84A6-6441-35E0-52B234BF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5ADE0-548E-A8D2-8A74-7224B6668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Section II: System Model</a:t>
                </a:r>
              </a:p>
              <a:p>
                <a:pPr lvl="1"/>
                <a:r>
                  <a:rPr lang="en-US" dirty="0"/>
                  <a:t>Objective of This Section</a:t>
                </a:r>
              </a:p>
              <a:p>
                <a:pPr lvl="2"/>
                <a:r>
                  <a:rPr lang="en-US" dirty="0"/>
                  <a:t>Define the radar signal model. </a:t>
                </a:r>
              </a:p>
              <a:p>
                <a:pPr lvl="2"/>
                <a:r>
                  <a:rPr lang="en-US" dirty="0"/>
                  <a:t>Describe target motion dynamics. </a:t>
                </a:r>
              </a:p>
              <a:p>
                <a:pPr lvl="2"/>
                <a:r>
                  <a:rPr lang="en-US" dirty="0"/>
                  <a:t>Build the measurement model. </a:t>
                </a:r>
              </a:p>
              <a:p>
                <a:pPr lvl="2"/>
                <a:r>
                  <a:rPr lang="en-US" dirty="0"/>
                  <a:t>Show how power and bandwidth affect tracking accuracy. 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System Scenario</a:t>
                </a:r>
              </a:p>
              <a:p>
                <a:pPr lvl="1"/>
                <a:r>
                  <a:rPr lang="en-US" dirty="0"/>
                  <a:t>Collocated MIMO Radar for Multi-Target Tracking</a:t>
                </a:r>
              </a:p>
              <a:p>
                <a:pPr lvl="1"/>
                <a:r>
                  <a:rPr lang="en-US" dirty="0"/>
                  <a:t>A 2-D monostatic collocated MIMO radar tracks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rPr lang="en-US" dirty="0"/>
                  <a:t> targets. </a:t>
                </a:r>
              </a:p>
              <a:p>
                <a:pPr lvl="1"/>
                <a:r>
                  <a:rPr lang="en-US" dirty="0"/>
                  <a:t>Radar operates in simultaneous multi-beam mode. </a:t>
                </a:r>
              </a:p>
              <a:p>
                <a:pPr lvl="1"/>
                <a:r>
                  <a:rPr lang="en-US" dirty="0"/>
                  <a:t>Targets are widely separated in the surveillance region. </a:t>
                </a:r>
              </a:p>
              <a:p>
                <a:pPr lvl="1"/>
                <a:r>
                  <a:rPr lang="en-US" dirty="0"/>
                  <a:t>Each beam is responsible for tracking one target.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5ADE0-548E-A8D2-8A74-7224B6668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973E-247E-ADC7-5668-7EF24C33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666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D840530-FDF2-AB22-3D45-C7FD16E9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E36F3-9BEF-0C3D-0CDD-86A70710BBC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49691"/>
                <a:ext cx="4606255" cy="452727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 Signal Model</a:t>
                </a:r>
              </a:p>
              <a:p>
                <a:pPr lvl="1"/>
                <a:r>
                  <a:rPr lang="en-US" dirty="0"/>
                  <a:t>For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target at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interval: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allocated transmit power.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complex envelope.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carrier frequency.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affects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received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echo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strength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E36F3-9BEF-0C3D-0CDD-86A70710B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49691"/>
                <a:ext cx="4606255" cy="4527272"/>
              </a:xfrm>
              <a:blipFill>
                <a:blip r:embed="rId2"/>
                <a:stretch>
                  <a:fillRect l="-119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5AE8A-CEB7-87F4-01B5-81493B93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4684CC-C7E8-04B2-C9B2-DA65FBFA1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299323"/>
                  </p:ext>
                </p:extLst>
              </p:nvPr>
            </p:nvGraphicFramePr>
            <p:xfrm>
              <a:off x="5507371" y="1694575"/>
              <a:ext cx="6597943" cy="5345258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302564">
                      <a:extLst>
                        <a:ext uri="{9D8B030D-6E8A-4147-A177-3AD203B41FA5}">
                          <a16:colId xmlns:a16="http://schemas.microsoft.com/office/drawing/2014/main" val="1613541429"/>
                        </a:ext>
                      </a:extLst>
                    </a:gridCol>
                    <a:gridCol w="4295379">
                      <a:extLst>
                        <a:ext uri="{9D8B030D-6E8A-4147-A177-3AD203B41FA5}">
                          <a16:colId xmlns:a16="http://schemas.microsoft.com/office/drawing/2014/main" val="2231344646"/>
                        </a:ext>
                      </a:extLst>
                    </a:gridCol>
                  </a:tblGrid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6409499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Superscript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target,</a:t>
                          </a:r>
                          <a:r>
                            <a:rPr lang="en-US" sz="1500" baseline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baseline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baseline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1,..,</m:t>
                                  </m:r>
                                  <m: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594430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Subscript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sample/tracking interval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411542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-</a:t>
                          </a:r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target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184427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-</a:t>
                          </a:r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tracking/sample interval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23977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Target state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12100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power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386939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bandwidth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1113990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Time delay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2221948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Doppler shift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29572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Measurement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884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4684CC-C7E8-04B2-C9B2-DA65FBFA1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299323"/>
                  </p:ext>
                </p:extLst>
              </p:nvPr>
            </p:nvGraphicFramePr>
            <p:xfrm>
              <a:off x="5507371" y="1694575"/>
              <a:ext cx="6597943" cy="5345258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302564">
                      <a:extLst>
                        <a:ext uri="{9D8B030D-6E8A-4147-A177-3AD203B41FA5}">
                          <a16:colId xmlns:a16="http://schemas.microsoft.com/office/drawing/2014/main" val="1613541429"/>
                        </a:ext>
                      </a:extLst>
                    </a:gridCol>
                    <a:gridCol w="4295379">
                      <a:extLst>
                        <a:ext uri="{9D8B030D-6E8A-4147-A177-3AD203B41FA5}">
                          <a16:colId xmlns:a16="http://schemas.microsoft.com/office/drawing/2014/main" val="2231344646"/>
                        </a:ext>
                      </a:extLst>
                    </a:gridCol>
                  </a:tblGrid>
                  <a:tr h="4720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6409499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01299" r="-187302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101299" r="-426" b="-9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594430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98718" r="-187302" b="-8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198718" r="-426" b="-8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411542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02597" r="-187302" b="-741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302597" r="-426" b="-741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184427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97436" r="-187302" b="-63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397436" r="-426" b="-63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23977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479012" r="-187302" b="-508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Target state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12100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571951" r="-187302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power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386939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671951" r="-18730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bandwidth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1113990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771951" r="-187302" b="-2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Time delay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2221948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882716" r="-187302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Doppler shift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29572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970732" r="-187302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Measurement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8843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04062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318D4A-C22A-43E4-485B-5FF61247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1FEA12-6353-05C0-913A-36FDDC549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Effective Bandwidth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𝑑𝑓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represents effective bandwidth. </a:t>
                </a:r>
              </a:p>
              <a:p>
                <a:pPr lvl="2"/>
                <a:r>
                  <a:rPr lang="en-US" dirty="0"/>
                  <a:t>Larger bandwidth improves range estimation accuracy. </a:t>
                </a:r>
              </a:p>
              <a:p>
                <a:pPr lvl="2"/>
                <a:r>
                  <a:rPr lang="en-US" dirty="0"/>
                  <a:t>Bandwidth is a key radar resource.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Larger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better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accuracy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Effective Time Duration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num>
                      <m:den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represents effective time duration. </a:t>
                </a:r>
              </a:p>
              <a:p>
                <a:pPr lvl="2"/>
                <a:r>
                  <a:rPr lang="en-US" dirty="0"/>
                  <a:t>It affects Doppler / radial velocity estimation. </a:t>
                </a:r>
              </a:p>
              <a:p>
                <a:pPr lvl="2"/>
                <a:r>
                  <a:rPr lang="en-US" dirty="0"/>
                  <a:t>Longer observation duration improves velocity estimation.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Larger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better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accuracy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1FEA12-6353-05C0-913A-36FDDC549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AF555-167A-B58C-64CC-6A03CBB0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931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643D-E7C7-86BF-664A-2F5307DC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6C472-0D2E-4862-76F2-9B9E48C8A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Received Signal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target reflection coefficient.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path-loss attenuation.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time delay → range information.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Doppler shift → velocity information.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complex Gaussian noise.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6C472-0D2E-4862-76F2-9B9E48C8A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6A25E-88F4-BB0E-47C3-0FB00E5E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1930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9972-834A-0EDE-8F0B-B61692B8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System Model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2B7CD-F823-9D01-45BD-9EDDBCC7D24D}"/>
              </a:ext>
            </a:extLst>
          </p:cNvPr>
          <p:cNvSpPr txBox="1"/>
          <p:nvPr/>
        </p:nvSpPr>
        <p:spPr>
          <a:xfrm>
            <a:off x="838200" y="1649691"/>
            <a:ext cx="5104598" cy="4527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Extracted from Echo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received echo contains: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Radar echo → range, velocity, angle information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D1541-5662-EBB3-29C2-BDB1D8F9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7BFAC1C-A5F3-DF80-61B1-72DDD85E44A8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450728238"/>
                  </p:ext>
                </p:extLst>
              </p:nvPr>
            </p:nvGraphicFramePr>
            <p:xfrm>
              <a:off x="6172200" y="2639799"/>
              <a:ext cx="5181601" cy="2547059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584029">
                      <a:extLst>
                        <a:ext uri="{9D8B030D-6E8A-4147-A177-3AD203B41FA5}">
                          <a16:colId xmlns:a16="http://schemas.microsoft.com/office/drawing/2014/main" val="2406022311"/>
                        </a:ext>
                      </a:extLst>
                    </a:gridCol>
                    <a:gridCol w="2597572">
                      <a:extLst>
                        <a:ext uri="{9D8B030D-6E8A-4147-A177-3AD203B41FA5}">
                          <a16:colId xmlns:a16="http://schemas.microsoft.com/office/drawing/2014/main" val="3930127044"/>
                        </a:ext>
                      </a:extLst>
                    </a:gridCol>
                  </a:tblGrid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Echo Parameter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Physical Meaning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3397195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Time delay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range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1068625244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Doppler shift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Radial velocity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6593679"/>
                      </a:ext>
                    </a:extLst>
                  </a:tr>
                  <a:tr h="7580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Reflection coefficient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reflectivity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835635839"/>
                      </a:ext>
                    </a:extLst>
                  </a:tr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Received power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Measurement quality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376861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7BFAC1C-A5F3-DF80-61B1-72DDD85E44A8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450728238"/>
                  </p:ext>
                </p:extLst>
              </p:nvPr>
            </p:nvGraphicFramePr>
            <p:xfrm>
              <a:off x="6172200" y="2639799"/>
              <a:ext cx="5181601" cy="2547059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584029">
                      <a:extLst>
                        <a:ext uri="{9D8B030D-6E8A-4147-A177-3AD203B41FA5}">
                          <a16:colId xmlns:a16="http://schemas.microsoft.com/office/drawing/2014/main" val="2406022311"/>
                        </a:ext>
                      </a:extLst>
                    </a:gridCol>
                    <a:gridCol w="2597572">
                      <a:extLst>
                        <a:ext uri="{9D8B030D-6E8A-4147-A177-3AD203B41FA5}">
                          <a16:colId xmlns:a16="http://schemas.microsoft.com/office/drawing/2014/main" val="3930127044"/>
                        </a:ext>
                      </a:extLst>
                    </a:gridCol>
                  </a:tblGrid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Echo Parameter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Physical Meaning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3397195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94805" r="-101179" b="-368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range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1068625244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197368" r="-101179" b="-27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Radial velocity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6593679"/>
                      </a:ext>
                    </a:extLst>
                  </a:tr>
                  <a:tr h="758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180800" r="-101179" b="-66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reflectivity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835635839"/>
                      </a:ext>
                    </a:extLst>
                  </a:tr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Received power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Measurement quality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376861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0321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009078-6948-0A76-8CD9-67ED3455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0749C06-6307-ED9B-AAB3-761AF847E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Target State Model</a:t>
                </a:r>
              </a:p>
              <a:p>
                <a:pPr lvl="1"/>
                <a:r>
                  <a:rPr lang="en-US" dirty="0"/>
                  <a:t>The target follows a constant acceleration model: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State vector: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state includes:</a:t>
                </a:r>
              </a:p>
              <a:p>
                <a:pPr lvl="2"/>
                <a:r>
                  <a:rPr lang="en-US" dirty="0"/>
                  <a:t>Position</a:t>
                </a:r>
              </a:p>
              <a:p>
                <a:pPr lvl="2"/>
                <a:r>
                  <a:rPr lang="en-US" dirty="0"/>
                  <a:t>Velocity</a:t>
                </a:r>
              </a:p>
              <a:p>
                <a:pPr lvl="2"/>
                <a:r>
                  <a:rPr lang="en-US" dirty="0"/>
                  <a:t>Acceleration</a:t>
                </a:r>
              </a:p>
              <a:p>
                <a:pPr lvl="1"/>
                <a:r>
                  <a:rPr lang="en-US" dirty="0"/>
                  <a:t>State Transition Matrix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sample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interval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coordinates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Kronecker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product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next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0749C06-6307-ED9B-AAB3-761AF847E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4F176-FE8C-BFBA-DB30-503BEDA8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67181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3492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31BF-DADB-6C41-4F75-606D906A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410726-766A-603B-19C1-F96B3B806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Process Noise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 noise represents motion uncertainty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/>
                  <a:t> controls the process noise intensity</a:t>
                </a:r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/>
                  <a:t> means target motion is harder to predict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410726-766A-603B-19C1-F96B3B806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5FA3-D635-0119-0323-7E5E8166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6319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C1FC-4805-3AB4-B9D6-EBF955C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399D1-969A-7B3E-06B7-1762AE9603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Radar measures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range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: radial velocity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azimuth angel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399D1-969A-7B3E-06B7-1762AE960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C3083-BCC8-21D0-E8A8-40D95E13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641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62C9-54A3-43BD-608E-5F4F53BC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B50DC-04F2-B885-587B-646F0F10D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Nonlinear Measurement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measurement function is nonlinear.</a:t>
                </a:r>
              </a:p>
              <a:p>
                <a:pPr lvl="1"/>
                <a:r>
                  <a:rPr lang="en-US" dirty="0"/>
                  <a:t>Therefore, tracking usually requires nonlinear filtering methods such as:</a:t>
                </a:r>
              </a:p>
              <a:p>
                <a:pPr lvl="2"/>
                <a:r>
                  <a:rPr lang="en-US" dirty="0">
                    <a:solidFill>
                      <a:srgbClr val="0070C0"/>
                    </a:solidFill>
                  </a:rPr>
                  <a:t>EKF</a:t>
                </a:r>
              </a:p>
              <a:p>
                <a:pPr lvl="2"/>
                <a:r>
                  <a:rPr lang="en-US" dirty="0">
                    <a:solidFill>
                      <a:srgbClr val="0070C0"/>
                    </a:solidFill>
                  </a:rPr>
                  <a:t>UKF</a:t>
                </a:r>
              </a:p>
              <a:p>
                <a:pPr lvl="2"/>
                <a:r>
                  <a:rPr lang="en-US" dirty="0">
                    <a:solidFill>
                      <a:srgbClr val="0070C0"/>
                    </a:solidFill>
                  </a:rPr>
                  <a:t>SCKF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B50DC-04F2-B885-587B-646F0F10D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34A3-49FF-E296-AB8C-42F464D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9531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42F0-05A2-CF09-59ED-B03FB3B6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EE12F-6362-B835-048B-63C206F0A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Noise Covariance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Measurements uncertainty is represented by:</a:t>
                </a:r>
              </a:p>
              <a:p>
                <a:pPr lvl="2"/>
                <a:r>
                  <a:rPr lang="en-US" dirty="0"/>
                  <a:t>Range error covariance</a:t>
                </a:r>
              </a:p>
              <a:p>
                <a:pPr lvl="2"/>
                <a:r>
                  <a:rPr lang="en-US" dirty="0"/>
                  <a:t>Radial velocity error variance</a:t>
                </a:r>
              </a:p>
              <a:p>
                <a:pPr lvl="2"/>
                <a:r>
                  <a:rPr lang="en-US" dirty="0"/>
                  <a:t>Angle error variance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CRLB of Measurement Accuracy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EE12F-6362-B835-048B-63C206F0A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1E9F-A7AE-6212-0A06-34C6D46E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84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999C-D400-8236-DA8F-44872DB7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6C2E-BD5F-54D2-C117-B9D8587AF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Key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Interpretation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Bandwidth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duration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Target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reflection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quality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improves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This section builds the chain:</a:t>
                </a:r>
              </a:p>
              <a:p>
                <a:pPr lvl="1"/>
                <a:r>
                  <a:rPr lang="en-US" b="0" dirty="0"/>
                  <a:t>Power + Bandwidth + Measur</a:t>
                </a:r>
                <a:r>
                  <a:rPr lang="en-US" dirty="0"/>
                  <a:t>ement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 CRLB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PCRLB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Tracking Accuracy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6C2E-BD5F-54D2-C117-B9D8587AF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C732-FCB4-A3ED-A67C-9CAC146B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668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13DC-6237-0EF1-B68A-B41866435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5E8AD-8457-2219-1C8F-2763E6FEB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/ measurement model: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Probability of observing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when true target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Prior probability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probability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Updated belief about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after observing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 rule: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5E8AD-8457-2219-1C8F-2763E6FEB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3598F-EF0F-8404-8D3B-25AC15B1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3546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5A6A-45D5-920B-0AFC-036ED701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79ABF4-6D5E-D42B-89AF-D2EDA7E74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A Derivative Appears</a:t>
                </a:r>
              </a:p>
              <a:p>
                <a:pPr lvl="2"/>
                <a:r>
                  <a:rPr lang="en-US" dirty="0"/>
                  <a:t>If the parameter changes slightly: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the likelihood changes: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we check the sensitivity: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tells how sensitive the probability model is to the parameter.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79ABF4-6D5E-D42B-89AF-D2EDA7E74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AD8AF-3CFD-4F0A-660B-606E5B46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3565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5077-8C3C-3755-DE9F-1051959A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FE197-49CB-4E36-1682-329380EC3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Relative Change and Score Function</a:t>
                </a:r>
              </a:p>
              <a:p>
                <a:pPr lvl="2"/>
                <a:r>
                  <a:rPr lang="en-US" dirty="0"/>
                  <a:t>Instead of raw change, use relative change: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log rule: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00FF"/>
                    </a:solidFill>
                  </a:rPr>
                  <a:t>Score function = relative slope of the likelihood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FE197-49CB-4E36-1682-329380EC3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61EF6-F52D-69E0-0CDE-B4872D3F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4804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ED24-A0A0-0CB4-AB3C-7E90DA7E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A37D8-8269-9628-C2EB-84E63FD1B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From Score</a:t>
                </a:r>
              </a:p>
              <a:p>
                <a:pPr lvl="2"/>
                <a:r>
                  <a:rPr lang="en-US" dirty="0"/>
                  <a:t>The score is random because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is random.</a:t>
                </a:r>
              </a:p>
              <a:p>
                <a:pPr lvl="2"/>
                <a:r>
                  <a:rPr lang="en-US" dirty="0"/>
                  <a:t>One measurement gives one score value.</a:t>
                </a:r>
              </a:p>
              <a:p>
                <a:pPr lvl="2"/>
                <a:r>
                  <a:rPr lang="en-US" dirty="0"/>
                  <a:t>To measure average information: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den>
                            </m:f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00FF"/>
                    </a:solidFill>
                  </a:rPr>
                  <a:t>Fisher information = average squared sensitivity of log-likelihood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A37D8-8269-9628-C2EB-84E63FD1B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90774-46D6-128A-851B-2FACE7E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4951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C0F1-DFD1-E9A2-A972-17210A27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0B46B-5F53-CE46-4BCB-2B9B99A92B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Square the score?</a:t>
                </a:r>
              </a:p>
              <a:p>
                <a:pPr lvl="2"/>
                <a:r>
                  <a:rPr lang="en-US" dirty="0"/>
                  <a:t>Score can be positive or negative</a:t>
                </a:r>
              </a:p>
              <a:p>
                <a:pPr lvl="2"/>
                <a:r>
                  <a:rPr lang="en-US" dirty="0"/>
                  <a:t>If we only take expectation: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It becomes zero under regularity conditions.</a:t>
                </a:r>
              </a:p>
              <a:p>
                <a:pPr lvl="2"/>
                <a:r>
                  <a:rPr lang="en-US" dirty="0"/>
                  <a:t>Since: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Differentiate both sides: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0B46B-5F53-CE46-4BCB-2B9B99A92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3947A-59F1-7FCC-B241-05F0D9C4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323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F2B0-5933-387E-3410-C1A989A2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B0D34-3325-C7A7-38BA-2592565627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119" y="1590968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Average Score Is Zero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we use: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Instead of:</a:t>
                </a:r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B0D34-3325-C7A7-38BA-259256562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119" y="1590968"/>
                <a:ext cx="10515600" cy="4527272"/>
              </a:xfrm>
              <a:blipFill>
                <a:blip r:embed="rId2"/>
                <a:stretch>
                  <a:fillRect l="-522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1780-1B6D-9E35-35DA-0DA7F290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4607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4820-C8D5-64AD-AE12-789A984B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E63998-5934-F109-C3DB-9BDD1558B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Another equivalent form of Fisher information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average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squared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slope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average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curvature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sharpness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Fisher information has two views:</a:t>
                </a:r>
              </a:p>
              <a:p>
                <a:pPr lvl="4"/>
                <a:r>
                  <a:rPr lang="en-US" dirty="0"/>
                  <a:t>A sharp likelihood means the target is easy to estimate.</a:t>
                </a:r>
              </a:p>
              <a:p>
                <a:pPr lvl="4"/>
                <a:r>
                  <a:rPr lang="en-US" dirty="0"/>
                  <a:t>A flat likelihood means the target is difficult to estimate.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E63998-5934-F109-C3DB-9BDD1558B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75284-48E2-59A9-8BB6-BEDB858B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567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0C58-D23E-55D4-45E3-962C68AF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C77F4E-17F5-884D-EC54-846B71275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/>
                  <a:t>Score vector and Fisher information matrix</a:t>
                </a:r>
              </a:p>
              <a:p>
                <a:pPr lvl="2"/>
                <a:r>
                  <a:rPr lang="en-US" dirty="0"/>
                  <a:t>For random target vector: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Score component: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Fisher information matrix: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C77F4E-17F5-884D-EC54-846B71275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6173-46E9-47C2-BD3E-AAF97E9E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9241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816B-7373-4DEA-28B1-A58C20A4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80035-C6A5-02DA-BBFD-8212685929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/>
                  <a:t>Score vector and Fisher information matrix</a:t>
                </a:r>
              </a:p>
              <a:p>
                <a:pPr lvl="1"/>
                <a:r>
                  <a:rPr lang="en-US" dirty="0"/>
                  <a:t>Negative Hessian derivation</a:t>
                </a:r>
              </a:p>
              <a:p>
                <a:pPr lvl="2"/>
                <a:r>
                  <a:rPr lang="en-US" dirty="0"/>
                  <a:t>Let 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First derivative: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Second derivative: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Taking expectation: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nary>
                          <m:naryPr>
                            <m:chr m:val="∬"/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80035-C6A5-02DA-BBFD-8212685929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1EF1-C67C-C760-A239-CEA2F59F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9560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A12F-04E6-6EF2-1A11-F3035038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59FFD-8084-792C-408E-AAA92C752B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/>
                  <a:t>Score vector and Fisher information matrix</a:t>
                </a:r>
              </a:p>
              <a:p>
                <a:pPr lvl="1"/>
                <a:r>
                  <a:rPr lang="en-US" dirty="0"/>
                  <a:t>Negative Hessian derivation</a:t>
                </a:r>
              </a:p>
              <a:p>
                <a:pPr lvl="2"/>
                <a:r>
                  <a:rPr lang="en-US" dirty="0"/>
                  <a:t>Why first term becomes zero</a:t>
                </a:r>
              </a:p>
              <a:p>
                <a:pPr lvl="3"/>
                <a:r>
                  <a:rPr lang="en-US" dirty="0"/>
                  <a:t>First term: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Integrate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5"/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Under regularity condition:</a:t>
                </a:r>
              </a:p>
              <a:p>
                <a:pPr lvl="5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→0</m:t>
                    </m:r>
                  </m:oMath>
                </a14:m>
                <a:r>
                  <a:rPr lang="en-US" dirty="0"/>
                  <a:t> at boundary</a:t>
                </a:r>
              </a:p>
              <a:p>
                <a:pPr lvl="4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59FFD-8084-792C-408E-AAA92C752B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554BB-5BBA-F4DE-6B16-3D9B8297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4779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19F7-7D96-E7F6-C258-6A44D4F4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FC17D-AD02-6875-03EE-AC31F0335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66469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Score vector and Fisher information matrix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Negative Hessian derivation</a:t>
                </a:r>
              </a:p>
              <a:p>
                <a:pPr lvl="2"/>
                <a:r>
                  <a:rPr lang="en-US" dirty="0"/>
                  <a:t>Final Fisher information identity</a:t>
                </a:r>
              </a:p>
              <a:p>
                <a:pPr lvl="3"/>
                <a:r>
                  <a:rPr lang="en-US" dirty="0"/>
                  <a:t>Since the first term is zero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∬"/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But: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proves:</a:t>
                </a:r>
              </a:p>
              <a:p>
                <a:pPr lvl="3"/>
                <a:r>
                  <a:rPr lang="en-US" dirty="0">
                    <a:solidFill>
                      <a:srgbClr val="0000FF"/>
                    </a:solidFill>
                  </a:rPr>
                  <a:t>Negative Hessian = Score outer - product</a:t>
                </a:r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FC17D-AD02-6875-03EE-AC31F0335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66469"/>
                <a:ext cx="10515600" cy="4527272"/>
              </a:xfrm>
              <a:blipFill>
                <a:blip r:embed="rId2"/>
                <a:stretch>
                  <a:fillRect l="-522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7ABB-540B-F949-5253-8A945CEF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301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166F-1961-25B1-04DC-986FD5E6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CCFEC-9E8A-FD0F-0472-40C8F85890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/>
                  <a:t>For PCRB,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is random</a:t>
                </a:r>
              </a:p>
              <a:p>
                <a:pPr lvl="2"/>
                <a:r>
                  <a:rPr lang="en-US" dirty="0"/>
                  <a:t>So, we use joint density: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Bayes factorization: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Taking log: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−∆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PCRLB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CCFEC-9E8A-FD0F-0472-40C8F8589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2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E9E5E-1B5C-801A-93C2-00A62963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5017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77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5929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F6C0-E419-B011-2953-17DC2035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811" y="830999"/>
            <a:ext cx="10515600" cy="681250"/>
          </a:xfrm>
        </p:spPr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A02A3-C7D8-D49B-6F86-8B25A18B4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9172" y="1590968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Block matrix view of recursive PCRLB</a:t>
                </a:r>
              </a:p>
              <a:p>
                <a:pPr lvl="3"/>
                <a:r>
                  <a:rPr lang="en-US" dirty="0"/>
                  <a:t>Suppose: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Information matrix: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𝐉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If we only care about 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dirty="0"/>
                  <a:t>, then useful information is 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𝛼𝛼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is called the information submatrix.</a:t>
                </a:r>
              </a:p>
              <a:p>
                <a:pPr lvl="3"/>
                <a:r>
                  <a:rPr lang="en-US" dirty="0"/>
                  <a:t>Other unknown variables reduce the effective information about the parameter we care about.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A02A3-C7D8-D49B-6F86-8B25A18B4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9172" y="1590968"/>
                <a:ext cx="10515600" cy="4527272"/>
              </a:xfrm>
              <a:blipFill>
                <a:blip r:embed="rId2"/>
                <a:stretch>
                  <a:fillRect l="-522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3AC62-67E2-BAE6-51CB-9400CFDD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5432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49DF-F08D-835F-1024-A23DDEA7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DC159-0E6C-736C-4861-8C1463E918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/>
                  <a:t>Block matrix view of recursive PCRLB</a:t>
                </a:r>
              </a:p>
              <a:p>
                <a:pPr lvl="3"/>
                <a:r>
                  <a:rPr lang="en-US" dirty="0"/>
                  <a:t>In filtering, the full trajectory is: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1" i="0">
                                                    <a:latin typeface="Cambria Math" panose="02040503050406030204" pitchFamily="18" charset="0"/>
                                                  </a:rPr>
                                                  <m:t>𝐱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1" i="0">
                                                    <a:latin typeface="Cambria Math" panose="02040503050406030204" pitchFamily="18" charset="0"/>
                                                  </a:rPr>
                                                  <m:t>𝐱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,…..,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1" i="0">
                                                    <a:latin typeface="Cambria Math" panose="02040503050406030204" pitchFamily="18" charset="0"/>
                                                  </a:rPr>
                                                  <m:t>𝐱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But we only want the current state: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 previous states: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,……,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Act like nuisance variables</a:t>
                </a:r>
              </a:p>
              <a:p>
                <a:pPr lvl="3"/>
                <a:r>
                  <a:rPr lang="en-US" dirty="0"/>
                  <a:t>Therefore, we need the information submatrix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, not the full trajectory information.</a:t>
                </a:r>
              </a:p>
              <a:p>
                <a:pPr lvl="4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DC159-0E6C-736C-4861-8C1463E918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7AC21-2D05-AB1A-2FE6-744202C6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9405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7277-5B76-C5F6-F4C9-3672787F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DD78C-5F3A-B4BA-BBEC-6F7F42891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Block matrix view of recursive PCRLB</a:t>
                </a:r>
              </a:p>
              <a:p>
                <a:pPr lvl="3"/>
                <a:r>
                  <a:rPr lang="en-US" dirty="0"/>
                  <a:t>The non-linear filtering model is 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Recursive PCRB</a:t>
                </a:r>
              </a:p>
              <a:p>
                <a:pPr lvl="4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time-step by time-step</a:t>
                </a:r>
              </a:p>
              <a:p>
                <a:pPr lvl="4"/>
                <a:r>
                  <a:rPr lang="en-US" dirty="0"/>
                  <a:t>Instead of building one huge information matrix for the whole trajectory</a:t>
                </a:r>
              </a:p>
              <a:p>
                <a:pPr lvl="4"/>
                <a:r>
                  <a:rPr lang="en-US" dirty="0"/>
                  <a:t>The key recursion is :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This gives the posterior Fisher information for the next state.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DDD78C-5F3A-B4BA-BBEC-6F7F42891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325BA-3625-7E63-1763-FAB9D817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2348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757D-17EE-2ACF-2777-8257A259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F43CB-3A3F-E94B-8DDD-4895A784CE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/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Block matrix view of recursive PCRLB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Joint density Factorization</a:t>
                </a:r>
              </a:p>
              <a:p>
                <a:pPr lvl="4"/>
                <a:r>
                  <a:rPr lang="en-US" dirty="0">
                    <a:solidFill>
                      <a:srgbClr val="002060"/>
                    </a:solidFill>
                  </a:rPr>
                  <a:t>Because the system is Markov:</a:t>
                </a:r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nary>
                      <m:naryPr>
                        <m:chr m:val="∏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nary>
                          <m:naryPr>
                            <m:chr m:val="∏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one step recursion:</a:t>
                </a:r>
              </a:p>
              <a:p>
                <a:pPr lvl="6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6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𝑝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𝐳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|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6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old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information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dynamic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transition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model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new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measurement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F43CB-3A3F-E94B-8DDD-4895A784C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430F1-F6BD-0D90-9D9A-E0E510D9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240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39C6-7CE9-5CED-07B2-ACF8F4C3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C69A8-969B-4327-9891-CF1264D5F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From factorization to information matrix</a:t>
                </a:r>
              </a:p>
              <a:p>
                <a:pPr lvl="3"/>
                <a:r>
                  <a:rPr lang="en-US" dirty="0"/>
                  <a:t>The BFIM is obtained from the negative Hessian: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Using block-matrix elimination of previous states</a:t>
                </a:r>
              </a:p>
              <a:p>
                <a:pPr lvl="3"/>
                <a:r>
                  <a:rPr lang="en-US" dirty="0"/>
                  <a:t>The prior information for the current state is 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This is the recursive PCRLB result from Schur complement</a:t>
                </a:r>
              </a:p>
              <a:p>
                <a:pPr lvl="4"/>
                <a:r>
                  <a:rPr lang="en-US" dirty="0"/>
                  <a:t>It gives the predicted information before using the current measurement.</a:t>
                </a:r>
              </a:p>
              <a:p>
                <a:pPr lvl="4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C69A8-969B-4327-9891-CF1264D5F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7C9DD-9237-68D1-9EAA-98B128E5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1263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39FB-5CED-7C31-4322-57F1F10D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6B3EE-963A-DB59-D4A8-D0D935A4D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From factorization to information matrix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matrices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6B3EE-963A-DB59-D4A8-D0D935A4D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29CAE-3F50-CA9C-65C5-F0D50CD4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396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F9C4-4676-E474-06A2-672D3FA0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4E903-2409-49BA-501C-838A921984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From factorization to information matrix</a:t>
                </a:r>
              </a:p>
              <a:p>
                <a:pPr lvl="3"/>
                <a:r>
                  <a:rPr lang="en-US" dirty="0">
                    <a:solidFill>
                      <a:srgbClr val="002060"/>
                    </a:solidFill>
                  </a:rPr>
                  <a:t>Gaussian dynamic model</a:t>
                </a:r>
              </a:p>
              <a:p>
                <a:pPr lvl="4"/>
                <a:r>
                  <a:rPr lang="en-US" dirty="0"/>
                  <a:t>Target dynamics are:</a:t>
                </a:r>
              </a:p>
              <a:p>
                <a:pPr lvl="5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Where:</a:t>
                </a:r>
              </a:p>
              <a:p>
                <a:pPr lvl="6"/>
                <a:r>
                  <a:rPr lang="en-US" dirty="0"/>
                  <a:t>Process noise is gaussian:</a:t>
                </a:r>
              </a:p>
              <a:p>
                <a:pPr lvl="7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So conditioned on the previous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The current state also gaussian:</a:t>
                </a:r>
              </a:p>
              <a:p>
                <a:pPr lvl="6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6"/>
                <a:r>
                  <a:rPr lang="en-US" dirty="0"/>
                  <a:t>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is predicted mean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is process noise covariance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4E903-2409-49BA-501C-838A921984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F556F-00CB-2377-E223-3BCC5968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3463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C3E1-0856-5CF6-C950-4A338D11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6D0411-B798-5A88-01B6-E0709A577E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From factorization to information matrix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Gaussian dynamic model</a:t>
                </a:r>
              </a:p>
              <a:p>
                <a:pPr lvl="4"/>
                <a:r>
                  <a:rPr lang="en-US" dirty="0"/>
                  <a:t>The conditional PDF is:</a:t>
                </a:r>
              </a:p>
              <a:p>
                <a:pPr lvl="5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Prediction error</a:t>
                </a:r>
              </a:p>
              <a:p>
                <a:pPr lvl="6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𝐞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5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b="1">
                                                    <a:latin typeface="Cambria Math" panose="02040503050406030204" pitchFamily="18" charset="0"/>
                                                  </a:rPr>
                                                  <m:t>𝐐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</m:e>
                        </m:func>
                      </m:e>
                    </m:func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Since the first term does not depend on the state variables:</a:t>
                </a:r>
              </a:p>
              <a:p>
                <a:pPr lvl="5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</m:e>
                    </m:func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5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6D0411-B798-5A88-01B6-E0709A577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2F4EA-A5BC-62DF-3C2E-67E7ECC4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75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B3A0-59C3-851C-5BA5-52CF6F1F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FBD92-FC8E-96E6-A6AC-DC42EFA563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From factorization to information matrix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Gaussian dynamic model</a:t>
                </a:r>
              </a:p>
              <a:p>
                <a:pPr lvl="4"/>
                <a:r>
                  <a:rPr lang="en-US" dirty="0"/>
                  <a:t>This is quadratic because it contains</a:t>
                </a:r>
              </a:p>
              <a:p>
                <a:pPr lvl="5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5"/>
                <a:r>
                  <a:rPr lang="en-US" dirty="0"/>
                  <a:t>The Gaussian dynamic model penalizes prediction error quadratically</a:t>
                </a:r>
              </a:p>
              <a:p>
                <a:pPr lvl="5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more confidence in the motion model</a:t>
                </a:r>
              </a:p>
              <a:p>
                <a:pPr lvl="5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more uncertainty in the target model</a:t>
                </a:r>
              </a:p>
              <a:p>
                <a:pPr lvl="5"/>
                <a:endParaRPr lang="en-US" dirty="0"/>
              </a:p>
              <a:p>
                <a:pPr lvl="5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BFBD92-FC8E-96E6-A6AC-DC42EFA56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66A87-6A69-8313-A5BD-2AD8C71D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4778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5E7A8-D290-352F-8DFB-6F892C58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006F7-2B34-AE64-555E-42E8D5CEA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9173" y="1653886"/>
                <a:ext cx="10515600" cy="452727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From factorization to information matrix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matrices</a:t>
                </a:r>
              </a:p>
              <a:p>
                <a:pPr lvl="3"/>
                <a:r>
                  <a:rPr lang="en-US" dirty="0"/>
                  <a:t>From the negative Hessian of the Gaussian transition density: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4"/>
                <a:r>
                  <a:rPr lang="en-US" dirty="0">
                    <a:solidFill>
                      <a:srgbClr val="7030A0"/>
                    </a:solidFill>
                  </a:rPr>
                  <a:t>These terms depend only on target dynamics and process noise</a:t>
                </a:r>
              </a:p>
              <a:p>
                <a:pPr lvl="4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006F7-2B34-AE64-555E-42E8D5CEA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9173" y="1653886"/>
                <a:ext cx="10515600" cy="4527272"/>
              </a:xfrm>
              <a:blipFill>
                <a:blip r:embed="rId2"/>
                <a:stretch>
                  <a:fillRect l="-522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7E8CD-20A8-8732-7CCE-0134FC5A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265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5233-8468-63EF-9703-520B5C2B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A5C47-7DE8-37B9-FABD-27FF495FE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Prior information closed form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Substitute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-Matrices into: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Using the matrix inverse lemma: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𝐉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A5C47-7DE8-37B9-FABD-27FF495FE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89DE9-0218-07AF-828E-2006702B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0348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5F63-45A5-D334-94E8-62A4A9A0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22" y="763887"/>
            <a:ext cx="10515600" cy="681250"/>
          </a:xfrm>
        </p:spPr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3A9F4-36BA-FECA-1062-777CE4B64C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Measurement model: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data information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3A9F4-36BA-FECA-1062-777CE4B64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7180-A98F-DF18-5D7D-D792403A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4999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52E4-E6C3-C021-1766-000ECF55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3217C-3A10-BF40-3077-2E2F80FE5E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/>
                  <a:t>Predicted data FIM approximation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To reduce complexity, evaluate at the predicted state: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Final predicted BFIM</a:t>
                </a:r>
              </a:p>
              <a:p>
                <a:pPr lvl="3"/>
                <a:r>
                  <a:rPr lang="en-US" dirty="0"/>
                  <a:t>The BFIM is the sum of prior and data information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Therefore,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𝐉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3217C-3A10-BF40-3077-2E2F80FE5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75F39-42D7-EFCD-64F6-F1B30448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4614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D966-3AB1-3B60-9EF5-9620DB49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085572-475B-3842-C20D-6778C5340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/>
                  <a:t>In this paper, measurement covariance depends on allocated transmit parameters: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PCRLB Calculation</a:t>
                </a:r>
              </a:p>
              <a:p>
                <a:pPr lvl="3"/>
                <a:r>
                  <a:rPr lang="en-US" dirty="0"/>
                  <a:t>PCRLB is the inverse of BFIM: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PCRLB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PCRLB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𝐉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085572-475B-3842-C20D-6778C5340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44F2B-197B-D5B5-DFD2-872DD713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1668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820E-25E9-4C5C-ED29-228BCFDE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Relationship Between Transmit Parameters and Predicted PCRLB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E8840-3114-70B5-AA6F-DF16ACF2B4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Transmit-Parameter-Aware Predicted PCRLB for Multi-Target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information decomposition</a:t>
                </a:r>
              </a:p>
              <a:p>
                <a:pPr lvl="2"/>
                <a:r>
                  <a:rPr lang="en-US" dirty="0"/>
                  <a:t>Since position error dominates tracking performance, extract the position submatrix.</a:t>
                </a:r>
              </a:p>
              <a:p>
                <a:pPr lvl="3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select the position components</a:t>
                </a:r>
              </a:p>
              <a:p>
                <a:pPr lvl="3"/>
                <a:r>
                  <a:rPr lang="en-US" dirty="0"/>
                  <a:t>Then: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PCRL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final metric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FE8840-3114-70B5-AA6F-DF16ACF2B4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F0C8D-64A5-A795-31AE-601EDAD3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490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</TotalTime>
  <Words>5529</Words>
  <Application>Microsoft Office PowerPoint</Application>
  <PresentationFormat>Widescreen</PresentationFormat>
  <Paragraphs>1163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맑은 고딕</vt:lpstr>
      <vt:lpstr>Arial</vt:lpstr>
      <vt:lpstr>Cambria Math</vt:lpstr>
      <vt:lpstr>Tahoma</vt:lpstr>
      <vt:lpstr>Office 테마</vt:lpstr>
      <vt:lpstr>Posterior Cramer-Rao Bounds for Discrete-Time Nonlinear Filtering</vt:lpstr>
      <vt:lpstr>Table of Contents</vt:lpstr>
      <vt:lpstr>Roadmap from Score to Recursive PCRB</vt:lpstr>
      <vt:lpstr>Information Links Measurements to Estimation Error</vt:lpstr>
      <vt:lpstr>Bayes Rule Updates Prior Belief with Measurements</vt:lpstr>
      <vt:lpstr>Parameter Sensitivity Starts with a Derivative</vt:lpstr>
      <vt:lpstr>The Score Measures Relative Likelihood Change</vt:lpstr>
      <vt:lpstr>Large Scores Mean More Distinguishable States</vt:lpstr>
      <vt:lpstr>Fisher Information Averages Squared Sensitivity</vt:lpstr>
      <vt:lpstr>Squaring Keeps Score Contributions from Canceling</vt:lpstr>
      <vt:lpstr>The Average Score Vanishes Under Regularity</vt:lpstr>
      <vt:lpstr>Curvature Gives the Same Information Measure</vt:lpstr>
      <vt:lpstr>Vector States Require an Information Matrix</vt:lpstr>
      <vt:lpstr>Log-Density Derivatives Lead to the Hessian Identity</vt:lpstr>
      <vt:lpstr>Boundary Conditions Remove the Extra Hessian Term</vt:lpstr>
      <vt:lpstr>Score and Hessian Views Become Equivalent</vt:lpstr>
      <vt:lpstr>Posterior Information Splits into Data and Prior Terms</vt:lpstr>
      <vt:lpstr>More Information Means a Smaller PCRB</vt:lpstr>
      <vt:lpstr>Gaussian Posteriors Become Quadratic Costs</vt:lpstr>
      <vt:lpstr>Scalar Gaussian Curvature Equals Inverse Variance</vt:lpstr>
      <vt:lpstr>Vector Gaussian Cost Is Weighted by Precision</vt:lpstr>
      <vt:lpstr>Gaussian Posterior Information Equals Precision</vt:lpstr>
      <vt:lpstr>A Narrower Posterior Means More Information</vt:lpstr>
      <vt:lpstr>Kalman Achieves the Bound in the Linear Gaussian Case</vt:lpstr>
      <vt:lpstr>Nuisance States Reduce Usable Information</vt:lpstr>
      <vt:lpstr>Filtering Must Separate Current State from History</vt:lpstr>
      <vt:lpstr>Nonlinear Tracking Models Motivate PCRB Analysis</vt:lpstr>
      <vt:lpstr>Recursive PCRB Avoids Full-Trajectory Matrices</vt:lpstr>
      <vt:lpstr>Filtering Bounds the Current State, Not the Whole Path</vt:lpstr>
      <vt:lpstr>Markov Factorization Creates a One-Step Recursion</vt:lpstr>
      <vt:lpstr>Schur Complement Removes Old-State Nuisance</vt:lpstr>
      <vt:lpstr>Adding the Next State Expands the Information Blocks</vt:lpstr>
      <vt:lpstr>Each Density Term Adds a Hessian Contribution</vt:lpstr>
      <vt:lpstr>Old Density Does Not Directly Inform the Next State</vt:lpstr>
      <vt:lpstr>Dynamics Couple Current and Next-State Information</vt:lpstr>
      <vt:lpstr>New Measurements Inform Only the Next-State Block</vt:lpstr>
      <vt:lpstr>Transition and Measurement Terms Form the Final Block</vt:lpstr>
      <vt:lpstr>Markov Structure Makes the Corner Block Zero</vt:lpstr>
      <vt:lpstr>D Matrices Capture Model Curvature</vt:lpstr>
      <vt:lpstr>D Terms Separate Direct Information from Coupling</vt:lpstr>
      <vt:lpstr>Schur Complement Produces the Recursive PCRB Update</vt:lpstr>
      <vt:lpstr>Previous-State Uncertainty Subtracts Usable Information</vt:lpstr>
      <vt:lpstr>Process and Measurement Noise Control the Bound</vt:lpstr>
      <vt:lpstr>Sensing CRB Becomes Measurement Covariance</vt:lpstr>
      <vt:lpstr>Kalman Covariance Reaches PCRB in Linear Models</vt:lpstr>
      <vt:lpstr>EKF Performance Is Judged Against the PCRB</vt:lpstr>
      <vt:lpstr>ISAC Resource Choices Propagate into Tracking Accuracy</vt:lpstr>
      <vt:lpstr>PCRB Sets the Theoretical Floor for Tracking Error</vt:lpstr>
      <vt:lpstr>Power and Bandwidth Allocation for Multi-Target Tracking in Collocated MIMO Radar</vt:lpstr>
      <vt:lpstr>Table of Contents</vt:lpstr>
      <vt:lpstr>Abstract</vt:lpstr>
      <vt:lpstr>Abstract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  <vt:lpstr>Relationship Between Transmit Parameters and Predicted PCRLB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20</cp:revision>
  <dcterms:created xsi:type="dcterms:W3CDTF">2018-05-20T06:28:16Z</dcterms:created>
  <dcterms:modified xsi:type="dcterms:W3CDTF">2026-07-07T12:57:17Z</dcterms:modified>
</cp:coreProperties>
</file>