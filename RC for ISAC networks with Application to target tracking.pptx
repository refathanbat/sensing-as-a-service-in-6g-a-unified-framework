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1475" r:id="rId2"/>
    <p:sldId id="1474" r:id="rId3"/>
    <p:sldId id="1422" r:id="rId4"/>
    <p:sldId id="1423" r:id="rId5"/>
    <p:sldId id="1424" r:id="rId6"/>
    <p:sldId id="1425" r:id="rId7"/>
    <p:sldId id="1426" r:id="rId8"/>
    <p:sldId id="1427" r:id="rId9"/>
    <p:sldId id="1428" r:id="rId10"/>
    <p:sldId id="1429" r:id="rId11"/>
    <p:sldId id="1430" r:id="rId12"/>
    <p:sldId id="1431" r:id="rId13"/>
    <p:sldId id="1432" r:id="rId14"/>
    <p:sldId id="1433" r:id="rId15"/>
    <p:sldId id="1434" r:id="rId16"/>
    <p:sldId id="1435" r:id="rId17"/>
    <p:sldId id="1436" r:id="rId18"/>
    <p:sldId id="1437" r:id="rId19"/>
    <p:sldId id="1438" r:id="rId20"/>
    <p:sldId id="1439" r:id="rId21"/>
    <p:sldId id="1440" r:id="rId22"/>
    <p:sldId id="1465" r:id="rId23"/>
    <p:sldId id="1466" r:id="rId24"/>
    <p:sldId id="1467" r:id="rId25"/>
    <p:sldId id="1468" r:id="rId26"/>
    <p:sldId id="1469" r:id="rId27"/>
    <p:sldId id="1470" r:id="rId28"/>
    <p:sldId id="1471" r:id="rId29"/>
    <p:sldId id="1472" r:id="rId30"/>
    <p:sldId id="1473" r:id="rId31"/>
    <p:sldId id="1441" r:id="rId32"/>
    <p:sldId id="1442" r:id="rId33"/>
    <p:sldId id="1443" r:id="rId34"/>
    <p:sldId id="1444" r:id="rId35"/>
    <p:sldId id="1445" r:id="rId36"/>
    <p:sldId id="1446" r:id="rId37"/>
    <p:sldId id="1447" r:id="rId38"/>
    <p:sldId id="1448" r:id="rId39"/>
    <p:sldId id="1449" r:id="rId40"/>
    <p:sldId id="1450" r:id="rId41"/>
    <p:sldId id="1451" r:id="rId42"/>
    <p:sldId id="1452" r:id="rId43"/>
    <p:sldId id="1453" r:id="rId44"/>
    <p:sldId id="1454" r:id="rId45"/>
    <p:sldId id="1455" r:id="rId46"/>
    <p:sldId id="1456" r:id="rId47"/>
    <p:sldId id="1457" r:id="rId48"/>
    <p:sldId id="1458" r:id="rId49"/>
    <p:sldId id="1459" r:id="rId50"/>
    <p:sldId id="1460" r:id="rId51"/>
    <p:sldId id="1461" r:id="rId52"/>
    <p:sldId id="1462" r:id="rId53"/>
    <p:sldId id="1463" r:id="rId54"/>
    <p:sldId id="1464" r:id="rId55"/>
  </p:sldIdLst>
  <p:sldSz cx="12192000" cy="6858000"/>
  <p:notesSz cx="6858000" cy="9144000"/>
  <p:defaultTextStyle>
    <a:defPPr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193C43-86CB-4E59-B1EB-ADE4B892B60F}" v="3" dt="2026-03-09T01:02:53.5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HAK MD GULAM" userId="3629686c-1963-4ad0-9d90-f64896f145bd" providerId="ADAL" clId="{C1066301-46E8-4A63-ABD9-64A0D5EA0B02}"/>
    <pc:docChg chg="custSel modSld">
      <pc:chgData name="ISHAK MD GULAM" userId="3629686c-1963-4ad0-9d90-f64896f145bd" providerId="ADAL" clId="{C1066301-46E8-4A63-ABD9-64A0D5EA0B02}" dt="2026-03-09T01:06:44.258" v="194" actId="20577"/>
      <pc:docMkLst>
        <pc:docMk/>
      </pc:docMkLst>
      <pc:sldChg chg="modSp mod">
        <pc:chgData name="ISHAK MD GULAM" userId="3629686c-1963-4ad0-9d90-f64896f145bd" providerId="ADAL" clId="{C1066301-46E8-4A63-ABD9-64A0D5EA0B02}" dt="2026-03-09T01:06:44.258" v="194" actId="20577"/>
        <pc:sldMkLst>
          <pc:docMk/>
          <pc:sldMk cId="1157537709" sldId="1420"/>
        </pc:sldMkLst>
        <pc:spChg chg="mod">
          <ac:chgData name="ISHAK MD GULAM" userId="3629686c-1963-4ad0-9d90-f64896f145bd" providerId="ADAL" clId="{C1066301-46E8-4A63-ABD9-64A0D5EA0B02}" dt="2026-03-09T01:03:37.255" v="185" actId="27636"/>
          <ac:spMkLst>
            <pc:docMk/>
            <pc:sldMk cId="1157537709" sldId="1420"/>
            <ac:spMk id="2" creationId="{773E81F8-418E-46B0-BF79-A9E5C85CC220}"/>
          </ac:spMkLst>
        </pc:spChg>
        <pc:spChg chg="mod">
          <ac:chgData name="ISHAK MD GULAM" userId="3629686c-1963-4ad0-9d90-f64896f145bd" providerId="ADAL" clId="{C1066301-46E8-4A63-ABD9-64A0D5EA0B02}" dt="2026-03-09T01:06:44.258" v="194" actId="20577"/>
          <ac:spMkLst>
            <pc:docMk/>
            <pc:sldMk cId="1157537709" sldId="1420"/>
            <ac:spMk id="3" creationId="{9B30F031-E57C-4418-8811-D07BEE7C11F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7A80AD-75C0-4139-8349-D7A56AAE3422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B06930-2FBF-4BDF-BB7A-ED0F3C0B85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6361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2BAEBA-F25F-4473-80C2-25CDA93B21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25EA62A-FC14-43A6-9DFC-64DD0EA5E66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73821"/>
            <a:ext cx="9144000" cy="1655762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Master Subtitle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4FBF63-6BE2-44A2-9B92-27824B375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EF48-9CCD-4EE9-BB40-4739D0DAE972}" type="datetime1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98BBDE-AC92-4490-AADC-B4FE998E9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7C4298-2A89-4F0A-B1C0-77A882953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68C916F-6552-480F-893B-32796E62A980}"/>
              </a:ext>
            </a:extLst>
          </p:cNvPr>
          <p:cNvSpPr/>
          <p:nvPr userDrawn="1"/>
        </p:nvSpPr>
        <p:spPr>
          <a:xfrm>
            <a:off x="838200" y="3599357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452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21520A-C81E-4CF1-AECD-A61D6660DB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8E0C27-FA2C-4144-B7E7-505744E575A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FB215-C15F-4E74-86DC-78FAD0147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4ADD3-F434-478C-876A-1D3933DF4707}" type="datetime1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1EAFA9-F342-4D37-B503-8DFA950A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22012F-5023-43D1-B1CF-BFE3A8931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1333107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05CEF90-2A69-4F23-93AB-B8D6AADF74CD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9896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A8F93D-390F-465E-B0D5-72A75C2739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470026"/>
            <a:ext cx="10515600" cy="285273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01743D-6833-4A7C-B35A-0BDDB635A98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Master Subtitle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C2845C-3C54-4151-820C-12503D6F2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F26BB-6A75-410D-A6B0-8FD34915C10D}" type="datetime1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55650C-CE10-43E1-AA00-22EE20BAA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FE2F95-697E-490C-9C4D-A59E0F91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21879A5-E33B-484A-B193-FE66531AACAC}"/>
              </a:ext>
            </a:extLst>
          </p:cNvPr>
          <p:cNvSpPr/>
          <p:nvPr userDrawn="1"/>
        </p:nvSpPr>
        <p:spPr>
          <a:xfrm>
            <a:off x="838200" y="4413578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864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17D261-400F-43CD-95C8-FE0DF8044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346026-ED45-448B-8D67-475453B7B90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649691"/>
            <a:ext cx="5104598" cy="45272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86C6A5-08D8-440E-B258-B881C64EC21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649691"/>
            <a:ext cx="5181600" cy="45272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9FDB51-62F3-4D1B-B8F7-D40284A70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4CDF8-1723-475A-8393-34F016E9B184}" type="datetime1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744B04-D686-4DE2-BDDC-A3B4F371D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FBE183-4474-4131-AEA4-9ADE4020A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3208725-7285-4D04-9690-A0DD84547197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246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EBF73A-35E0-4388-AE26-587E20896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9F70A1-A021-4782-95A0-99F4C3203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0FFB53-257A-4315-A28C-9FE12D4C99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A17D5D-46C0-4878-B7E2-BD08FCD075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0C2F3F9-8CCB-4F5B-85A6-D7470170DC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047C80F-A4FC-4C78-89AB-B072C5C0E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CCD4A-1F8C-4D3E-BDD6-84C4090AF0D6}" type="datetime1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AD4C5CE-D7DE-4C43-8F9E-7EA5847ED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81C2CFA-CB2F-4476-8491-FBDAB29C3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163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1B9CC5-A2AF-47C1-8376-B695DF820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5A6AA3E-6C10-4BA8-AF8D-ECF436F9C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73545-46C1-49FB-A041-5415163523D0}" type="datetime1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DE3192-439D-4BEF-8848-4DF7C36D1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305EAAA-CE1A-4578-A8FD-BDB3D530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9670823-6C59-4996-843F-A4B8E1292D69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2351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4FA01BA-2C19-4BC8-9D08-60CC0DEE3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BC6A4-6274-4803-89FF-1DA18D4FE7AA}" type="datetime1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C921DE2-A0F7-482E-898F-C86B8C830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96F57A-5DCA-4541-B19A-1752D1A3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119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304372-0C6C-4F44-86AB-8DDAF142F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E88709-254A-4ED6-9188-74666615F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5872FF-AC9A-49BF-AC6E-F9EA1A4066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17015C5-8E89-4986-AA3C-42A3F8FB6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A353D-6971-4305-AB04-6AEE4DD0E048}" type="datetime1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82C019-EAA8-4CD6-BD5A-68BA98421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776716-556D-4628-94B1-7BC9A3454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5152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0E144E-AA68-4DFD-9736-416AF8EEE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C731A3-5F0D-4649-AF33-2F2F12D18B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0070ED-93CE-4C5B-9A13-47766D18C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C3E617-2B4B-4C49-B34C-F13496F5B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75523-461B-44DB-AD97-7C06B206BE7B}" type="datetime1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88F62D-BB02-4585-B0DB-6C572478F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DA3767-C6FA-46EE-B82E-E441B3360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994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5A2004-1E3B-4055-8772-F325E519E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9AC7F-90CD-432E-AFBA-09A312E26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3CBBB0-BA78-4216-B318-AF5F69D9D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620A-9A66-47B0-9218-43F171A33458}" type="datetime1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AE3B40-907A-49D6-9FA8-D643E4B4A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417526-857D-45AD-9891-D1359E79B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1E34BDA-8046-4B35-A748-33A5A9C8C415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787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9286F9E-ABB1-47D9-BCD5-5FE077BEA2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4F122D-472C-4176-9045-BF5B3ED412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F40FC9-5A0B-483C-BEC0-6349DDDF1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586D9-B5F3-454A-8918-B4C99ED5AEDE}" type="datetime1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FF7ACB-A377-4E38-BF13-4CE4A72C6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E2AD96-62E9-4856-8C7D-4FC6FA78D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334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30155A6-5E23-4681-A0F6-D6378107C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9054"/>
            <a:ext cx="10515600" cy="681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3357F3-390C-49AE-BB15-6F8F57DC0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49691"/>
            <a:ext cx="10515600" cy="45272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D9027F-305A-4270-8200-1B8B6B4B76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38399" y="6356350"/>
            <a:ext cx="13331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9D1D2423-15C0-4D7C-B759-40ACCC100800}" type="datetime1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1B4A95-7775-4330-B809-DA1B22478E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F4CA50-4832-40EE-82BE-A431AAD80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13331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A439D109-9F59-4B0B-8E20-D6D3A384B1F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FEB3B3E-F3B6-4A77-8CE1-CA270A7A296F}"/>
              </a:ext>
            </a:extLst>
          </p:cNvPr>
          <p:cNvSpPr/>
          <p:nvPr userDrawn="1"/>
        </p:nvSpPr>
        <p:spPr>
          <a:xfrm>
            <a:off x="0" y="0"/>
            <a:ext cx="12192000" cy="235670"/>
          </a:xfrm>
          <a:prstGeom prst="rect">
            <a:avLst/>
          </a:prstGeom>
          <a:gradFill>
            <a:gsLst>
              <a:gs pos="63000">
                <a:schemeClr val="tx1"/>
              </a:gs>
              <a:gs pos="0">
                <a:schemeClr val="tx1"/>
              </a:gs>
              <a:gs pos="80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64D56D-F798-41D4-B204-99B8E8DEAB5A}"/>
              </a:ext>
            </a:extLst>
          </p:cNvPr>
          <p:cNvSpPr txBox="1"/>
          <p:nvPr userDrawn="1"/>
        </p:nvSpPr>
        <p:spPr>
          <a:xfrm>
            <a:off x="8501826" y="6550223"/>
            <a:ext cx="3690174" cy="307777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ognitive</a:t>
            </a:r>
            <a:r>
              <a:rPr lang="en-US" altLang="ko-KR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ommunications</a:t>
            </a:r>
            <a:r>
              <a:rPr lang="en-US" altLang="ko-KR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ystems</a:t>
            </a:r>
            <a:r>
              <a:rPr lang="en-US" altLang="ko-KR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aboratory</a:t>
            </a:r>
            <a:endParaRPr lang="en-US" altLang="ko-KR" sz="14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501637D-BAF8-43B2-A298-C5B3DAB223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077" b="34980"/>
          <a:stretch/>
        </p:blipFill>
        <p:spPr>
          <a:xfrm>
            <a:off x="9886511" y="17253"/>
            <a:ext cx="527404" cy="52627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0D9003C-FC42-4D68-ADBA-ADDEC8861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t="68955" b="6534"/>
          <a:stretch/>
        </p:blipFill>
        <p:spPr>
          <a:xfrm>
            <a:off x="10413915" y="17253"/>
            <a:ext cx="1760832" cy="52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94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3E81F8-418E-46B0-BF79-A9E5C85CC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2514600"/>
            <a:ext cx="9753600" cy="1168400"/>
          </a:xfrm>
        </p:spPr>
        <p:txBody>
          <a:bodyPr lIns="91440" tIns="45720" rIns="91440" bIns="45720" anchor="ctr">
            <a:normAutofit/>
          </a:bodyPr>
          <a:lstStyle/>
          <a:p>
            <a:r>
              <a:rPr lang="en-US" altLang="ko-KR" sz="3000">
                <a:solidFill>
                  <a:srgbClr val="000000"/>
                </a:solidFill>
              </a:rPr>
              <a:t>Resource Allocation for ISAC Networks</a:t>
            </a:r>
            <a:br>
              <a:rPr lang="en-US" altLang="ko-KR" sz="3000">
                <a:solidFill>
                  <a:srgbClr val="000000"/>
                </a:solidFill>
              </a:rPr>
            </a:br>
            <a:r>
              <a:rPr lang="en-US" altLang="ko-KR" sz="3000">
                <a:solidFill>
                  <a:srgbClr val="000000"/>
                </a:solidFill>
              </a:rPr>
              <a:t>with Application to Target Tracking</a:t>
            </a:r>
            <a:endParaRPr lang="ko-KR" altLang="en-US" sz="3000" dirty="0">
              <a:solidFill>
                <a:srgbClr val="000000"/>
              </a:solidFill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B30F031-E57C-4418-8811-D07BEE7C11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35400"/>
            <a:ext cx="9144000" cy="172720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050" b="1">
                <a:solidFill>
                  <a:srgbClr val="006666"/>
                </a:solidFill>
              </a:rPr>
              <a:t>AUTHORS</a:t>
            </a:r>
          </a:p>
          <a:p>
            <a:r>
              <a:rPr lang="en-US" sz="1800" b="1">
                <a:solidFill>
                  <a:srgbClr val="111111"/>
                </a:solidFill>
              </a:rPr>
              <a:t>Lu Wang | Luis F. Abanto-Leon</a:t>
            </a:r>
          </a:p>
          <a:p>
            <a:r>
              <a:rPr lang="en-US" sz="1050" b="1">
                <a:solidFill>
                  <a:srgbClr val="006666"/>
                </a:solidFill>
              </a:rPr>
              <a:t>PUBLISHER / VENUE</a:t>
            </a:r>
          </a:p>
          <a:p>
            <a:r>
              <a:rPr lang="en-US" sz="1300">
                <a:solidFill>
                  <a:srgbClr val="444444"/>
                </a:solidFill>
              </a:rPr>
              <a:t>2024 IEEE Globecom Workshops (GC Wkshps)</a:t>
            </a:r>
          </a:p>
          <a:p>
            <a:r>
              <a:rPr lang="en-US" sz="1200">
                <a:solidFill>
                  <a:srgbClr val="666666"/>
                </a:solidFill>
              </a:rPr>
              <a:t>Conference date: 08-12 December 2024</a:t>
            </a:r>
          </a:p>
          <a:p>
            <a:r>
              <a:rPr lang="en-US" sz="1200">
                <a:solidFill>
                  <a:srgbClr val="666666"/>
                </a:solidFill>
              </a:rPr>
              <a:t>Added to IEEE Xplore: 12 August 2025</a:t>
            </a:r>
            <a:endParaRPr lang="en-US" altLang="ko-KR" sz="1200" dirty="0">
              <a:solidFill>
                <a:srgbClr val="666666"/>
              </a:solidFill>
              <a:ea typeface="맑은 고딕"/>
              <a:cs typeface="Arial"/>
            </a:endParaRPr>
          </a:p>
        </p:txBody>
      </p:sp>
      <p:sp>
        <p:nvSpPr>
          <p:cNvPr id="6" name="슬라이드 번호 개체 틀 5" hidden="1">
            <a:extLst>
              <a:ext uri="{FF2B5EF4-FFF2-40B4-BE49-F238E27FC236}">
                <a16:creationId xmlns:a16="http://schemas.microsoft.com/office/drawing/2014/main" id="{793469BC-9EBF-44CC-97A2-356DEFF55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2841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4BE7B-EA96-E19A-68A5-22C3C378D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5200"/>
            <a:ext cx="9652000" cy="736600"/>
          </a:xfrm>
        </p:spPr>
        <p:txBody>
          <a:bodyPr/>
          <a:lstStyle/>
          <a:p>
            <a:r>
              <a:rPr lang="en-US" sz="3400">
                <a:solidFill>
                  <a:srgbClr val="000000"/>
                </a:solidFill>
              </a:rPr>
              <a:t>Table of Contents</a:t>
            </a:r>
            <a:endParaRPr lang="en-US" sz="3400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203C3-4F25-588B-9535-4DE143BED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654393-FE40-4B55-C7D6-18DE97A05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Table of contents: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01179A-1590-A110-840B-37B620A088D3}"/>
              </a:ext>
            </a:extLst>
          </p:cNvPr>
          <p:cNvSpPr/>
          <p:nvPr/>
        </p:nvSpPr>
        <p:spPr>
          <a:xfrm>
            <a:off x="1333500" y="2120900"/>
            <a:ext cx="533400" cy="355600"/>
          </a:xfrm>
          <a:prstGeom prst="rect">
            <a:avLst/>
          </a:prstGeom>
          <a:solidFill>
            <a:srgbClr val="0066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 panose="020B0604020202020204" pitchFamily="34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24D661-19C1-4965-A4D1-9AA5243CA8B4}"/>
              </a:ext>
            </a:extLst>
          </p:cNvPr>
          <p:cNvSpPr txBox="1"/>
          <p:nvPr/>
        </p:nvSpPr>
        <p:spPr>
          <a:xfrm>
            <a:off x="2019300" y="2082800"/>
            <a:ext cx="4216400" cy="5909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00" b="1">
                <a:solidFill>
                  <a:srgbClr val="1E1E1E"/>
                </a:solidFill>
                <a:latin typeface="Arial" panose="020B0604020202020204" pitchFamily="34" charset="0"/>
              </a:rPr>
              <a:t>Paper overview</a:t>
            </a:r>
          </a:p>
          <a:p>
            <a:r>
              <a:rPr lang="en-US" sz="1120">
                <a:solidFill>
                  <a:srgbClr val="585858"/>
                </a:solidFill>
                <a:latin typeface="Arial" panose="020B0604020202020204" pitchFamily="34" charset="0"/>
              </a:rPr>
              <a:t>Slides 3-5 | Motivation, research gap, proposed resource framework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474924-56B2-BECA-95AE-AC2250E73649}"/>
              </a:ext>
            </a:extLst>
          </p:cNvPr>
          <p:cNvSpPr/>
          <p:nvPr/>
        </p:nvSpPr>
        <p:spPr>
          <a:xfrm>
            <a:off x="2019300" y="2908300"/>
            <a:ext cx="3937000" cy="15240"/>
          </a:xfrm>
          <a:prstGeom prst="rect">
            <a:avLst/>
          </a:prstGeom>
          <a:solidFill>
            <a:srgbClr val="D2D2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EF0C36-7F6A-548F-D515-A0001CA4CC6C}"/>
              </a:ext>
            </a:extLst>
          </p:cNvPr>
          <p:cNvSpPr/>
          <p:nvPr/>
        </p:nvSpPr>
        <p:spPr>
          <a:xfrm>
            <a:off x="1333500" y="3162300"/>
            <a:ext cx="533400" cy="355600"/>
          </a:xfrm>
          <a:prstGeom prst="rect">
            <a:avLst/>
          </a:prstGeom>
          <a:solidFill>
            <a:srgbClr val="0066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30213A-F553-C824-FD1C-B9054B37669A}"/>
              </a:ext>
            </a:extLst>
          </p:cNvPr>
          <p:cNvSpPr txBox="1"/>
          <p:nvPr/>
        </p:nvSpPr>
        <p:spPr>
          <a:xfrm>
            <a:off x="2019300" y="3124200"/>
            <a:ext cx="4216400" cy="5909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00" b="1">
                <a:solidFill>
                  <a:srgbClr val="1E1E1E"/>
                </a:solidFill>
                <a:latin typeface="Arial" panose="020B0604020202020204" pitchFamily="34" charset="0"/>
              </a:rPr>
              <a:t>ISAC system and sensing model</a:t>
            </a:r>
          </a:p>
          <a:p>
            <a:r>
              <a:rPr lang="en-US" sz="1120">
                <a:solidFill>
                  <a:srgbClr val="585858"/>
                </a:solidFill>
                <a:latin typeface="Arial" panose="020B0604020202020204" pitchFamily="34" charset="0"/>
              </a:rPr>
              <a:t>Slides 6-16 | Protocol, resources, echo model, target measurements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66ADC1-D467-B8DE-3FAD-283B0A080EE6}"/>
              </a:ext>
            </a:extLst>
          </p:cNvPr>
          <p:cNvSpPr/>
          <p:nvPr/>
        </p:nvSpPr>
        <p:spPr>
          <a:xfrm>
            <a:off x="2019300" y="3949700"/>
            <a:ext cx="3937000" cy="15240"/>
          </a:xfrm>
          <a:prstGeom prst="rect">
            <a:avLst/>
          </a:prstGeom>
          <a:solidFill>
            <a:srgbClr val="D2D2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529FFB-EB52-44BC-D46E-B46762D64E3E}"/>
              </a:ext>
            </a:extLst>
          </p:cNvPr>
          <p:cNvSpPr/>
          <p:nvPr/>
        </p:nvSpPr>
        <p:spPr>
          <a:xfrm>
            <a:off x="1333500" y="4203700"/>
            <a:ext cx="533400" cy="355600"/>
          </a:xfrm>
          <a:prstGeom prst="rect">
            <a:avLst/>
          </a:prstGeom>
          <a:solidFill>
            <a:srgbClr val="0066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47FC1B-3736-F602-7CB5-4B251EBC2F46}"/>
              </a:ext>
            </a:extLst>
          </p:cNvPr>
          <p:cNvSpPr txBox="1"/>
          <p:nvPr/>
        </p:nvSpPr>
        <p:spPr>
          <a:xfrm>
            <a:off x="2019300" y="4165600"/>
            <a:ext cx="4216400" cy="5909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00" b="1">
                <a:solidFill>
                  <a:srgbClr val="1E1E1E"/>
                </a:solidFill>
                <a:latin typeface="Arial" panose="020B0604020202020204" pitchFamily="34" charset="0"/>
              </a:rPr>
              <a:t>Tracking and communication models</a:t>
            </a:r>
          </a:p>
          <a:p>
            <a:r>
              <a:rPr lang="en-US" sz="1120">
                <a:solidFill>
                  <a:srgbClr val="585858"/>
                </a:solidFill>
                <a:latin typeface="Arial" panose="020B0604020202020204" pitchFamily="34" charset="0"/>
              </a:rPr>
              <a:t>Slides 17-27 | Posterior CRB, EKF update, UE channel and throughput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7F0908-F03E-B2D1-4FD9-01F19C675F39}"/>
              </a:ext>
            </a:extLst>
          </p:cNvPr>
          <p:cNvSpPr/>
          <p:nvPr/>
        </p:nvSpPr>
        <p:spPr>
          <a:xfrm>
            <a:off x="2019300" y="4991100"/>
            <a:ext cx="3937000" cy="15240"/>
          </a:xfrm>
          <a:prstGeom prst="rect">
            <a:avLst/>
          </a:prstGeom>
          <a:solidFill>
            <a:srgbClr val="D2D2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A919BB-00C0-3BB9-D0EF-854A7A45E7CF}"/>
              </a:ext>
            </a:extLst>
          </p:cNvPr>
          <p:cNvSpPr/>
          <p:nvPr/>
        </p:nvSpPr>
        <p:spPr>
          <a:xfrm>
            <a:off x="6794500" y="2120900"/>
            <a:ext cx="533400" cy="355600"/>
          </a:xfrm>
          <a:prstGeom prst="rect">
            <a:avLst/>
          </a:prstGeom>
          <a:solidFill>
            <a:srgbClr val="0066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 panose="020B0604020202020204" pitchFamily="34" charset="0"/>
              </a:rPr>
              <a:t>04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AC4A69-7E62-6F27-6951-C083BB4E8903}"/>
              </a:ext>
            </a:extLst>
          </p:cNvPr>
          <p:cNvSpPr txBox="1"/>
          <p:nvPr/>
        </p:nvSpPr>
        <p:spPr>
          <a:xfrm>
            <a:off x="7480300" y="2082800"/>
            <a:ext cx="4216400" cy="4185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00" b="1">
                <a:solidFill>
                  <a:srgbClr val="1E1E1E"/>
                </a:solidFill>
                <a:latin typeface="Arial" panose="020B0604020202020204" pitchFamily="34" charset="0"/>
              </a:rPr>
              <a:t>Optimization problem</a:t>
            </a:r>
          </a:p>
          <a:p>
            <a:r>
              <a:rPr lang="en-US" sz="1120">
                <a:solidFill>
                  <a:srgbClr val="585858"/>
                </a:solidFill>
                <a:latin typeface="Arial" panose="020B0604020202020204" pitchFamily="34" charset="0"/>
              </a:rPr>
              <a:t>Slides 28-32 | Joint variables, QoS constraints, power/RB limits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AD9C96-7BC9-87EB-8B82-AD6364377BDE}"/>
              </a:ext>
            </a:extLst>
          </p:cNvPr>
          <p:cNvSpPr/>
          <p:nvPr/>
        </p:nvSpPr>
        <p:spPr>
          <a:xfrm>
            <a:off x="7480300" y="2908300"/>
            <a:ext cx="3937000" cy="15240"/>
          </a:xfrm>
          <a:prstGeom prst="rect">
            <a:avLst/>
          </a:prstGeom>
          <a:solidFill>
            <a:srgbClr val="D2D2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985955-4189-1447-6A09-945932E7B77D}"/>
              </a:ext>
            </a:extLst>
          </p:cNvPr>
          <p:cNvSpPr/>
          <p:nvPr/>
        </p:nvSpPr>
        <p:spPr>
          <a:xfrm>
            <a:off x="6794500" y="3162300"/>
            <a:ext cx="533400" cy="355600"/>
          </a:xfrm>
          <a:prstGeom prst="rect">
            <a:avLst/>
          </a:prstGeom>
          <a:solidFill>
            <a:srgbClr val="0066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 panose="020B0604020202020204" pitchFamily="34" charset="0"/>
              </a:rPr>
              <a:t>05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DBE2BA-8B48-8877-A784-8536FE1559B7}"/>
              </a:ext>
            </a:extLst>
          </p:cNvPr>
          <p:cNvSpPr txBox="1"/>
          <p:nvPr/>
        </p:nvSpPr>
        <p:spPr>
          <a:xfrm>
            <a:off x="7480300" y="3124200"/>
            <a:ext cx="4216400" cy="5909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00" b="1">
                <a:solidFill>
                  <a:srgbClr val="1E1E1E"/>
                </a:solidFill>
                <a:latin typeface="Arial" panose="020B0604020202020204" pitchFamily="34" charset="0"/>
              </a:rPr>
              <a:t>PCRB objective reformulation</a:t>
            </a:r>
          </a:p>
          <a:p>
            <a:r>
              <a:rPr lang="en-US" sz="1120">
                <a:solidFill>
                  <a:srgbClr val="585858"/>
                </a:solidFill>
                <a:latin typeface="Arial" panose="020B0604020202020204" pitchFamily="34" charset="0"/>
              </a:rPr>
              <a:t>Slides 33-45 | Resource-dependent FIM, scalarization, SCA relaxation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8F7A0E0-CE78-B14B-9E82-4A5F902E9B6E}"/>
              </a:ext>
            </a:extLst>
          </p:cNvPr>
          <p:cNvSpPr/>
          <p:nvPr/>
        </p:nvSpPr>
        <p:spPr>
          <a:xfrm>
            <a:off x="7480300" y="3949700"/>
            <a:ext cx="3937000" cy="15240"/>
          </a:xfrm>
          <a:prstGeom prst="rect">
            <a:avLst/>
          </a:prstGeom>
          <a:solidFill>
            <a:srgbClr val="D2D2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2CBBFF-63A4-569F-6A62-CD05DF0C6BC0}"/>
              </a:ext>
            </a:extLst>
          </p:cNvPr>
          <p:cNvSpPr/>
          <p:nvPr/>
        </p:nvSpPr>
        <p:spPr>
          <a:xfrm>
            <a:off x="6794500" y="4203700"/>
            <a:ext cx="533400" cy="355600"/>
          </a:xfrm>
          <a:prstGeom prst="rect">
            <a:avLst/>
          </a:prstGeom>
          <a:solidFill>
            <a:srgbClr val="0066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 panose="020B0604020202020204" pitchFamily="34" charset="0"/>
              </a:rPr>
              <a:t>06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0B428B-D8C2-2B5C-3A43-EEF4FCEFD937}"/>
              </a:ext>
            </a:extLst>
          </p:cNvPr>
          <p:cNvSpPr txBox="1"/>
          <p:nvPr/>
        </p:nvSpPr>
        <p:spPr>
          <a:xfrm>
            <a:off x="7480300" y="4165600"/>
            <a:ext cx="4216400" cy="5909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00" b="1">
                <a:solidFill>
                  <a:srgbClr val="1E1E1E"/>
                </a:solidFill>
                <a:latin typeface="Arial" panose="020B0604020202020204" pitchFamily="34" charset="0"/>
              </a:rPr>
              <a:t>BCD solution flow</a:t>
            </a:r>
          </a:p>
          <a:p>
            <a:r>
              <a:rPr lang="en-US" sz="1120">
                <a:solidFill>
                  <a:srgbClr val="585858"/>
                </a:solidFill>
                <a:latin typeface="Arial" panose="020B0604020202020204" pitchFamily="34" charset="0"/>
              </a:rPr>
              <a:t>Slides 46-54 | Penalty method, beam search, sensing power update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54C96C3-6E72-AAD5-52DE-7177961E4A90}"/>
              </a:ext>
            </a:extLst>
          </p:cNvPr>
          <p:cNvSpPr/>
          <p:nvPr/>
        </p:nvSpPr>
        <p:spPr>
          <a:xfrm>
            <a:off x="7480300" y="4991100"/>
            <a:ext cx="3937000" cy="15240"/>
          </a:xfrm>
          <a:prstGeom prst="rect">
            <a:avLst/>
          </a:prstGeom>
          <a:solidFill>
            <a:srgbClr val="D2D2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034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D3D23-6B31-C2E3-D549-1722C02D6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D9485-928A-9526-8D21-47457D3CD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Motivation and Research Gap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Dynamic ISAC Resource for 6G</a:t>
            </a:r>
          </a:p>
          <a:p>
            <a:pPr lvl="2"/>
            <a:r>
              <a:rPr lang="en-US" dirty="0"/>
              <a:t>6G ISAC integrates sensing and communication in one system</a:t>
            </a:r>
          </a:p>
          <a:p>
            <a:pPr lvl="2"/>
            <a:r>
              <a:rPr lang="en-US" dirty="0"/>
              <a:t>Limited resources may increase traffic congestion</a:t>
            </a:r>
          </a:p>
          <a:p>
            <a:pPr lvl="2"/>
            <a:r>
              <a:rPr lang="en-US" dirty="0"/>
              <a:t>Existing methods are insufficient for :</a:t>
            </a:r>
          </a:p>
          <a:p>
            <a:pPr lvl="3"/>
            <a:r>
              <a:rPr lang="en-US" dirty="0">
                <a:solidFill>
                  <a:srgbClr val="7030A0"/>
                </a:solidFill>
              </a:rPr>
              <a:t>Frequent target tracking in every frame</a:t>
            </a:r>
          </a:p>
          <a:p>
            <a:pPr lvl="3"/>
            <a:r>
              <a:rPr lang="en-US" dirty="0">
                <a:solidFill>
                  <a:srgbClr val="7030A0"/>
                </a:solidFill>
              </a:rPr>
              <a:t>Simultaneous communication with users</a:t>
            </a:r>
          </a:p>
          <a:p>
            <a:pPr lvl="3"/>
            <a:r>
              <a:rPr lang="en-US" dirty="0">
                <a:solidFill>
                  <a:srgbClr val="7030A0"/>
                </a:solidFill>
              </a:rPr>
              <a:t>Target movement and time-varying channels</a:t>
            </a:r>
          </a:p>
          <a:p>
            <a:pPr lvl="3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BB9A8D-8A79-C9B8-61BC-5BE520FAF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6827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B4A14-9F40-06FB-FB32-D62349BBE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FF67E6-CDD4-F419-BE74-1DC801CFA0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Proposed Solution and Key Idea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Joint Multi-Domain Resource Allocation</a:t>
                </a:r>
              </a:p>
              <a:p>
                <a:pPr lvl="2"/>
                <a:r>
                  <a:rPr lang="en-US" dirty="0"/>
                  <a:t>Jointly allocates:</a:t>
                </a:r>
              </a:p>
              <a:p>
                <a:pPr lvl="3"/>
                <a:r>
                  <a:rPr lang="en-US" dirty="0"/>
                  <a:t>Time , Frequency, Power, Spatial/beam resource</a:t>
                </a:r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Objective:</a:t>
                </a:r>
              </a:p>
              <a:p>
                <a:pPr lvl="3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Tr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Posterior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CRB</m:t>
                            </m:r>
                          </m:e>
                        </m:d>
                      </m:e>
                    </m:func>
                  </m:oMath>
                </a14:m>
                <a:endParaRPr lang="en-US" b="0" dirty="0"/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Constraints:</a:t>
                </a:r>
              </a:p>
              <a:p>
                <a:pPr lvl="3"/>
                <a:r>
                  <a:rPr lang="en-US" dirty="0"/>
                  <a:t>Communication throughput</a:t>
                </a:r>
              </a:p>
              <a:p>
                <a:pPr lvl="3"/>
                <a:r>
                  <a:rPr lang="en-US" dirty="0"/>
                  <a:t>Resource allocation limit</a:t>
                </a:r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Solution: </a:t>
                </a:r>
                <a:r>
                  <a:rPr lang="en-US" dirty="0"/>
                  <a:t>BCD + penalty method + SCA + one-dimensional search</a:t>
                </a:r>
              </a:p>
              <a:p>
                <a:pPr lvl="2"/>
                <a:r>
                  <a:rPr lang="en-US" dirty="0"/>
                  <a:t>Shows sensing communication trade-off</a:t>
                </a:r>
              </a:p>
              <a:p>
                <a:pPr lvl="2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FF67E6-CDD4-F419-BE74-1DC801CFA0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82837B-9BCB-8463-EC4B-EF61DA394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737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F1E21-40C8-D63B-4E7E-9A1862BB4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4AA19B-16AB-E268-AECB-65E04A7543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Motivating and Research Gap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Dynamic ISAC Resource Allocation for 6G</a:t>
                </a:r>
              </a:p>
              <a:p>
                <a:pPr lvl="2"/>
                <a:r>
                  <a:rPr lang="en-US" dirty="0"/>
                  <a:t>6G ISAC supports both sensing and communication in one system.</a:t>
                </a:r>
              </a:p>
              <a:p>
                <a:pPr lvl="2"/>
                <a:r>
                  <a:rPr lang="en-US" dirty="0" err="1"/>
                  <a:t>mmWave</a:t>
                </a:r>
                <a:r>
                  <a:rPr lang="en-US" dirty="0"/>
                  <a:t> bands provide large bandwidth for high data rate and sensing resolution</a:t>
                </a:r>
              </a:p>
              <a:p>
                <a:pPr lvl="2"/>
                <a:r>
                  <a:rPr lang="en-US" dirty="0"/>
                  <a:t>Existing ISAC resource allocation mostly considers one snapshot</a:t>
                </a:r>
              </a:p>
              <a:p>
                <a:pPr lvl="2"/>
                <a:r>
                  <a:rPr lang="en-US" dirty="0"/>
                  <a:t>In practice, targets and users move, so CSI changes over time</a:t>
                </a:r>
              </a:p>
              <a:p>
                <a:pPr lvl="2"/>
                <a:r>
                  <a:rPr lang="en-US" dirty="0"/>
                  <a:t>Key gap : target tracking only at the frame beginning is not enough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Proposed Framework</a:t>
                </a:r>
              </a:p>
              <a:p>
                <a:pPr lvl="2"/>
                <a:r>
                  <a:rPr lang="en-US" dirty="0"/>
                  <a:t>Target tracking and UE communication </a:t>
                </a:r>
                <a:r>
                  <a:rPr lang="en-US" dirty="0">
                    <a:solidFill>
                      <a:srgbClr val="7030A0"/>
                    </a:solidFill>
                  </a:rPr>
                  <a:t>occur in every frame</a:t>
                </a:r>
              </a:p>
              <a:p>
                <a:pPr lvl="2"/>
                <a:r>
                  <a:rPr lang="en-US" dirty="0"/>
                  <a:t>EKF predicts and tracks target states </a:t>
                </a:r>
                <a:r>
                  <a:rPr lang="en-US" dirty="0">
                    <a:solidFill>
                      <a:srgbClr val="7030A0"/>
                    </a:solidFill>
                  </a:rPr>
                  <a:t>without requiring instant BS-target CSI</a:t>
                </a:r>
              </a:p>
              <a:p>
                <a:pPr lvl="2"/>
                <a:r>
                  <a:rPr lang="en-US" dirty="0"/>
                  <a:t>Optimization objection:</a:t>
                </a:r>
              </a:p>
              <a:p>
                <a:pPr lvl="3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Posterior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CRB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Constraints: communication throughput + practical resource limits</a:t>
                </a:r>
              </a:p>
              <a:p>
                <a:pPr lvl="2"/>
                <a:r>
                  <a:rPr lang="en-US" dirty="0"/>
                  <a:t>Solution: BCD with penalty method, SCA and one-dimensional search.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4AA19B-16AB-E268-AECB-65E04A7543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3C6AEC-D3CA-36EE-29E3-5109584AB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217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D59C5-4C05-8574-6BD8-50B2D3996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A09CFA1-5D5B-B8B2-BE75-3B847EC3CC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662" y="1739152"/>
            <a:ext cx="9953097" cy="346821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30FAD-F2E8-A6B8-4C85-F09C6B91C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FAC06B-4E09-6AC2-C9A6-DD9635412E59}"/>
              </a:ext>
            </a:extLst>
          </p:cNvPr>
          <p:cNvSpPr txBox="1"/>
          <p:nvPr/>
        </p:nvSpPr>
        <p:spPr>
          <a:xfrm>
            <a:off x="1837765" y="4912659"/>
            <a:ext cx="7449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Fig.1. </a:t>
            </a:r>
            <a:r>
              <a:rPr lang="en-US" dirty="0"/>
              <a:t>Transmission protocol of ISAC system</a:t>
            </a:r>
          </a:p>
        </p:txBody>
      </p:sp>
    </p:spTree>
    <p:extLst>
      <p:ext uri="{BB962C8B-B14F-4D97-AF65-F5344CB8AC3E}">
        <p14:creationId xmlns:p14="http://schemas.microsoft.com/office/powerpoint/2010/main" val="3860580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9A28E-B98F-D061-C12A-9F5663378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F16F11-2236-873D-0DAB-4571A61956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mmWave ISAC Network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BS with ULA: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transmit antennas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 receive antennas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Serves: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moving targets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single-antenna Ues.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Performs joint:</a:t>
                </a:r>
              </a:p>
              <a:p>
                <a:pPr lvl="2"/>
                <a:r>
                  <a:rPr lang="en-US" dirty="0"/>
                  <a:t>Communication</a:t>
                </a:r>
              </a:p>
              <a:p>
                <a:pPr lvl="2"/>
                <a:r>
                  <a:rPr lang="en-US" dirty="0"/>
                  <a:t>Location tracking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At the beginning of each frame:</a:t>
                </a:r>
              </a:p>
              <a:p>
                <a:pPr lvl="2"/>
                <a:r>
                  <a:rPr lang="en-US" dirty="0"/>
                  <a:t>Resources are allocated</a:t>
                </a:r>
              </a:p>
              <a:p>
                <a:pPr lvl="2"/>
                <a:r>
                  <a:rPr lang="en-US" dirty="0"/>
                  <a:t>Target states are predicted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F16F11-2236-873D-0DAB-4571A61956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00D808-5E65-4A5E-0C2E-A890ABF96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6592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050D9-3363-62F9-7FD2-45B46B36C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70B328-D2CF-F336-E672-3EE6CBAAE9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Resource Allocation Model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Four-Dimensional Resource Allocation</a:t>
                </a:r>
              </a:p>
              <a:p>
                <a:pPr lvl="2"/>
                <a:r>
                  <a:rPr lang="en-US" dirty="0"/>
                  <a:t>Frequency: resource blocks RBS</a:t>
                </a:r>
              </a:p>
              <a:p>
                <a:pPr lvl="2"/>
                <a:r>
                  <a:rPr lang="en-US" dirty="0"/>
                  <a:t>Time: mini-slots</a:t>
                </a:r>
              </a:p>
              <a:p>
                <a:pPr lvl="2"/>
                <a:r>
                  <a:rPr lang="en-US" dirty="0"/>
                  <a:t>Power: transmit power</a:t>
                </a:r>
              </a:p>
              <a:p>
                <a:pPr lvl="2"/>
                <a:r>
                  <a:rPr lang="en-US" dirty="0"/>
                  <a:t>Spatial: beams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Each resource constraint: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RU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=1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RB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+1 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mini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slot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Total resource constraint:</a:t>
                </a:r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 </m:t>
                        </m:r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nary>
                              <m:naryPr>
                                <m:chr m:val="∑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p>
                                </m:sSub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𝑅𝐵</m:t>
                                    </m:r>
                                  </m:sub>
                                </m:sSub>
                              </m:e>
                            </m:nary>
                          </m:e>
                        </m:nary>
                      </m:e>
                    </m:nary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Allocated bandwidth: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for target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for 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70B328-D2CF-F336-E672-3EE6CBAAE9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197A1F-0012-BFDB-99C6-CB6AF56D6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5971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B1721-FD76-A1AD-BF45-0D65941E8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D8BDD0-D5A9-CA29-86ED-E43A65F4BC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Sensing Model</a:t>
                </a:r>
              </a:p>
              <a:p>
                <a:pPr lvl="1"/>
                <a:r>
                  <a:rPr lang="en-US" dirty="0"/>
                  <a:t>Received Echo at the BS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b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</m:e>
                        </m:rad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</m:e>
                        </m:d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𝜈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Where: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number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targets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Allocated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sensing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power</m:t>
                    </m:r>
                  </m:oMath>
                </a14:m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delay</m:t>
                    </m:r>
                  </m:oMath>
                </a14:m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Doppler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shift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0000FF"/>
                    </a:solidFill>
                  </a:rPr>
                  <a:t>Sensing channel: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d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reflection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coefficient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receive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steering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vector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transmit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steering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vector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AoA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AoD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pPr lvl="3"/>
                <a:endParaRPr lang="en-US" dirty="0"/>
              </a:p>
              <a:p>
                <a:pPr lvl="3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D8BDD0-D5A9-CA29-86ED-E43A65F4BC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A1B80F-DCD9-5382-FE3A-E91F6F2A5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0201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E04B6-E8AA-8232-17DA-E192EEB73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89FF31-74C8-C013-E4E4-DC4A0ABAE1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Sensing Model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Reflection Coefficient: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Where: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transmit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antennas</m:t>
                    </m:r>
                  </m:oMath>
                </a14:m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receive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antennas</m:t>
                    </m:r>
                  </m:oMath>
                </a14:m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carrier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wavelength</m:t>
                    </m:r>
                  </m:oMath>
                </a14:m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radar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cross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section</m:t>
                    </m:r>
                  </m:oMath>
                </a14:m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target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distance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Sup>
                      <m:sSubSup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weaker</m:t>
                    </m:r>
                    <m:r>
                      <a:rPr lang="en-US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echo</m:t>
                    </m:r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Transmit Steering Vector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rad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𝑑𝑠𝑖𝑛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sup>
                                    </m:sSubSup>
                                  </m:e>
                                </m:d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,…..,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den>
                                </m:f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sup>
                                    </m:sSubSup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Where: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This vector represents the spatial direction of the transmitted sensing beam.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89FF31-74C8-C013-E4E4-DC4A0ABAE1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70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A823D-7B6D-CF24-D5EB-38015458E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9087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18438-3D7F-0DAB-93A6-1309C6A4E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1423CE-831E-F050-628D-14E5E22D51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Sensing Model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Receive Steering Vector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e>
                        </m:rad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1,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den>
                                </m:f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𝑑𝑠𝑖𝑛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sup>
                                    </m:sSubSup>
                                  </m:e>
                                </m:d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,…..,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den>
                                </m:f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sup>
                                    </m:sSubSup>
                                  </m:e>
                                </m:d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Beamforming Vector</a:t>
                </a:r>
              </a:p>
              <a:p>
                <a:pPr lvl="2"/>
                <a:r>
                  <a:rPr lang="en-US" dirty="0"/>
                  <a:t>The transmit beamformer points to the predicted </a:t>
                </a:r>
                <a:r>
                  <a:rPr lang="en-US" dirty="0" err="1"/>
                  <a:t>AoD</a:t>
                </a:r>
                <a:r>
                  <a:rPr lang="en-US" dirty="0"/>
                  <a:t>: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 where:</a:t>
                </a:r>
              </a:p>
              <a:p>
                <a:pPr lvl="4"/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𝑝𝑟𝑒𝑑𝑖𝑐𝑡𝑒𝑑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𝐴𝑜𝐷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𝑡𝑎𝑟𝑔𝑒𝑡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:pPr lvl="4"/>
                <a:r>
                  <a:rPr lang="en-US" dirty="0"/>
                  <a:t>Beam is designed using prediction, not perfect current target CSI</a:t>
                </a:r>
              </a:p>
              <a:p>
                <a:pPr lvl="3"/>
                <a:r>
                  <a:rPr lang="en-US" dirty="0"/>
                  <a:t>Target prediction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beam direction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sensing echo quality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Target State Vector</a:t>
                </a:r>
              </a:p>
              <a:p>
                <a:pPr lvl="2"/>
                <a:r>
                  <a:rPr lang="en-US" dirty="0"/>
                  <a:t>Each target follows constant-velocity motion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Where:</a:t>
                </a:r>
              </a:p>
              <a:p>
                <a:pPr lvl="4"/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target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position</m:t>
                    </m:r>
                  </m:oMath>
                </a14:m>
                <a:endParaRPr lang="en-US" dirty="0"/>
              </a:p>
              <a:p>
                <a:pPr lvl="4"/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̇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̇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target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velocity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1423CE-831E-F050-628D-14E5E22D51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09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79D22-0E60-1D76-C6CC-C78218DAB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9754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DC80B-F9AC-25C4-910D-7DFC3C4D3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430788-21F4-C727-6550-87DAD626E5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Sensing Model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Tracking Purpose</a:t>
                </a:r>
              </a:p>
              <a:p>
                <a:pPr lvl="2"/>
                <a:r>
                  <a:rPr lang="en-US" dirty="0"/>
                  <a:t>The sensing model provides measurements for tracking: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echo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signal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Then the paper uses:</a:t>
                </a:r>
              </a:p>
              <a:p>
                <a:pPr lvl="3"/>
                <a:r>
                  <a:rPr lang="en-US" dirty="0"/>
                  <a:t>State prediction + measurement model + PCRB</a:t>
                </a:r>
              </a:p>
              <a:p>
                <a:pPr lvl="3"/>
                <a:r>
                  <a:rPr lang="en-US" dirty="0"/>
                  <a:t>To evaluate target localization tracking performance</a:t>
                </a:r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State Evolution Model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Constant Velocity Target Motion</a:t>
                </a:r>
              </a:p>
              <a:p>
                <a:pPr lvl="2"/>
                <a:r>
                  <a:rPr lang="en-US" dirty="0"/>
                  <a:t>For target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motion between frame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and frame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sub>
                    </m:sSub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Where:</a:t>
                </a:r>
              </a:p>
              <a:p>
                <a:pPr lvl="4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target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state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frame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dirty="0"/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𝜉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state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transition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matrix</m:t>
                    </m:r>
                  </m:oMath>
                </a14:m>
                <a:endParaRPr lang="en-US" b="0" dirty="0"/>
              </a:p>
              <a:p>
                <a:pPr lvl="4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process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noise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430788-21F4-C727-6550-87DAD626E5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DDA93-4654-E062-6F93-4957FDBD1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6182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B7E4C-C0FF-3087-F87F-2C602513C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54E975-3FC9-36BD-8A62-E757A8D648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State Evolution Model</a:t>
                </a:r>
              </a:p>
              <a:p>
                <a:pPr lvl="1"/>
                <a:r>
                  <a:rPr lang="en-US" dirty="0"/>
                  <a:t>Transition Matrix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Where: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time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interval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between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adjacent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frames</m:t>
                    </m:r>
                  </m:oMath>
                </a14:m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2 −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dimensional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identity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matrix</m:t>
                    </m:r>
                  </m:oMath>
                </a14:m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⊗ 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Kronecker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Product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>
                    <a:solidFill>
                      <a:srgbClr val="0000FF"/>
                    </a:solidFill>
                  </a:rPr>
                  <a:t>Process Noise Model</a:t>
                </a:r>
              </a:p>
              <a:p>
                <a:pPr lvl="2"/>
                <a:r>
                  <a:rPr lang="en-US" b="0" dirty="0"/>
                  <a:t>The process noise is :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/>
              </a:p>
              <a:p>
                <a:pPr lvl="3"/>
                <a:r>
                  <a:rPr lang="en-US" dirty="0"/>
                  <a:t>Target motion is </a:t>
                </a:r>
                <a:r>
                  <a:rPr lang="en-US" dirty="0">
                    <a:solidFill>
                      <a:srgbClr val="7030A0"/>
                    </a:solidFill>
                  </a:rPr>
                  <a:t>not perfectly predictable</a:t>
                </a:r>
              </a:p>
              <a:p>
                <a:pPr lvl="3"/>
                <a:r>
                  <a:rPr lang="en-US" b="0" dirty="0"/>
                  <a:t>Acceleration or random maneuvering is modeled as noise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b="0" dirty="0"/>
                  <a:t> </a:t>
                </a:r>
                <a:r>
                  <a:rPr lang="en-US" b="0" dirty="0">
                    <a:solidFill>
                      <a:srgbClr val="7030A0"/>
                    </a:solidFill>
                  </a:rPr>
                  <a:t>controls the motion uncertainty</a:t>
                </a:r>
              </a:p>
              <a:p>
                <a:pPr lvl="2"/>
                <a:r>
                  <a:rPr lang="en-US" dirty="0"/>
                  <a:t>Usually larger  process noise means: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prediction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uncertainty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increases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The state evaluation model provides the prediction step: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→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Previous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state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state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prediction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sensing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measurement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tracking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update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PCRB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evaluation</m:t>
                    </m:r>
                  </m:oMath>
                </a14:m>
                <a:endParaRPr lang="en-US" b="0" dirty="0"/>
              </a:p>
              <a:p>
                <a:pPr lvl="3"/>
                <a:endParaRPr lang="en-US" b="0" dirty="0"/>
              </a:p>
              <a:p>
                <a:pPr lvl="3"/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54E975-3FC9-36BD-8A62-E757A8D648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21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D3916-39AD-33A3-DF34-26AF37347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5675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A80DF-D6B2-A8A5-66D6-3F4C97537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D96030-B5EE-2718-2107-C60AA225D9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Measurement Model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Distance and </a:t>
                </a:r>
                <a:r>
                  <a:rPr lang="en-US" dirty="0" err="1">
                    <a:solidFill>
                      <a:srgbClr val="7030A0"/>
                    </a:solidFill>
                  </a:rPr>
                  <a:t>AoA</a:t>
                </a:r>
                <a:r>
                  <a:rPr lang="en-US" dirty="0">
                    <a:solidFill>
                      <a:srgbClr val="7030A0"/>
                    </a:solidFill>
                  </a:rPr>
                  <a:t>-Based Localization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̃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Where: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Distance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between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target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BS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AoA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toward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BS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Measurment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noise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Mapping from State to Measurement</a:t>
                </a:r>
              </a:p>
              <a:p>
                <a:pPr lvl="2"/>
                <a:r>
                  <a:rPr lang="en-US" dirty="0"/>
                  <a:t>Target state: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Measurement function: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𝑢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𝑢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arctan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p>
                                </m:sSubSup>
                              </m:num>
                              <m:den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p>
                                </m:sSubSup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So: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ad>
                                <m:radPr>
                                  <m:deg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arctan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Sup>
                                            <m:sSubSup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sup>
                                          </m:sSubSup>
                                        </m:num>
                                        <m:den>
                                          <m:sSubSup>
                                            <m:sSubSup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sup>
                                          </m:sSubSup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lvl="3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D96030-B5EE-2718-2107-C60AA225D9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8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652FB6-1AE1-3F77-D60C-FF6881E05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3809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5DF11-4E2C-0805-AD2F-DBF897DAF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D66BEE-2603-45EA-4F89-EDA3AC6850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Measurement Model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Measurement Noise Covariance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̃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diag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distance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estimation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error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variance</m:t>
                    </m:r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AoA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estimatin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error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variance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Distance Estimatin CRB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∝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 i="0">
                                            <a:latin typeface="Cambria Math" panose="02040503050406030204" pitchFamily="18" charset="0"/>
                                          </a:rPr>
                                          <m:t>𝐇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sup>
                                    </m:sSubSup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 i="0">
                                            <a:latin typeface="Cambria Math" panose="02040503050406030204" pitchFamily="18" charset="0"/>
                                          </a:rPr>
                                          <m:t>𝐟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 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So distance accuracy improves with:</a:t>
                </a:r>
              </a:p>
              <a:p>
                <a:pPr lvl="3"/>
                <a:r>
                  <a:rPr lang="en-US" dirty="0"/>
                  <a:t>Higher sensing power</a:t>
                </a:r>
              </a:p>
              <a:p>
                <a:pPr lvl="3"/>
                <a:r>
                  <a:rPr lang="en-US" dirty="0"/>
                  <a:t>Stronger sensing power</a:t>
                </a:r>
              </a:p>
              <a:p>
                <a:pPr lvl="3"/>
                <a:r>
                  <a:rPr lang="en-US" dirty="0"/>
                  <a:t>Larger allocated bandwidth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D66BEE-2603-45EA-4F89-EDA3AC6850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B0126-58AC-A2EC-862A-F0C8DB9F1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30865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097C0-4D67-3D16-FCEC-71606AB61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8BAED0-AE8F-616D-7AF5-895826E226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Measurement Model</a:t>
                </a:r>
              </a:p>
              <a:p>
                <a:pPr lvl="1"/>
                <a:r>
                  <a:rPr lang="en-US" dirty="0" err="1">
                    <a:solidFill>
                      <a:srgbClr val="7030A0"/>
                    </a:solidFill>
                  </a:rPr>
                  <a:t>AoA</a:t>
                </a:r>
                <a:r>
                  <a:rPr lang="en-US" dirty="0">
                    <a:solidFill>
                      <a:srgbClr val="7030A0"/>
                    </a:solidFill>
                  </a:rPr>
                  <a:t> Estimatin CRB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∝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b="1">
                                                <a:latin typeface="Cambria Math" panose="02040503050406030204" pitchFamily="18" charset="0"/>
                                              </a:rPr>
                                              <m:t>𝐇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sub>
                                          <m:sup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𝑢</m:t>
                                            </m:r>
                                          </m:sup>
                                        </m:sSubSup>
                                        <m:sSubSup>
                                          <m:sSub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b="1">
                                                <a:latin typeface="Cambria Math" panose="02040503050406030204" pitchFamily="18" charset="0"/>
                                              </a:rPr>
                                              <m:t>𝐟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sub>
                                          <m:sup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𝑢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𝑛𝑛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Where: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𝑛𝑛</m:t>
                        </m:r>
                      </m:sub>
                    </m:sSub>
                  </m:oMath>
                </a14:m>
                <a:r>
                  <a:rPr lang="en-US" dirty="0"/>
                  <a:t> is the null-to-null beamwidth of the receive antenna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𝐇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𝐟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 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Better beam/channel quality improves </a:t>
                </a:r>
                <a:r>
                  <a:rPr lang="en-US" dirty="0" err="1"/>
                  <a:t>AoA</a:t>
                </a:r>
                <a:r>
                  <a:rPr lang="en-US" dirty="0"/>
                  <a:t> estimation</a:t>
                </a:r>
              </a:p>
              <a:p>
                <a:pPr lvl="2"/>
                <a:r>
                  <a:rPr lang="en-US" dirty="0"/>
                  <a:t>This measurement model connects sensing resources to tracking accuracy: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u</m:t>
                        </m:r>
                      </m:sup>
                    </m:sSubSup>
                    <m:r>
                      <a:rPr lang="en-US" b="0" i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measurement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information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PCRB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more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resource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smaller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measurement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noise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lower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PCRB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better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target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tracking</m:t>
                    </m:r>
                  </m:oMath>
                </a14:m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8BAED0-AE8F-616D-7AF5-895826E226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B24162-E8E7-ABE1-2B19-1137E1B0B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3781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CC883-26FA-7BD5-3CF1-70291D07F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4D9D02-645D-22A1-07C0-3D69703150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Posterior CRB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Tracking Performance Matric</a:t>
                </a:r>
              </a:p>
              <a:p>
                <a:pPr lvl="2"/>
                <a:r>
                  <a:rPr lang="en-US" dirty="0"/>
                  <a:t>The posterior FIM is 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Where:</a:t>
                </a:r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prior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FIM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from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target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motion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prediction</m:t>
                    </m:r>
                  </m:oMath>
                </a14:m>
                <a:endParaRPr lang="en-US" b="0" dirty="0"/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data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FIM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from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current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sensing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measurement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Prior FIM</a:t>
                </a:r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Information Propagated from Previous Frame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𝚽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b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𝐅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𝐉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bSup>
                              </m:e>
                            </m:d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𝐅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Previous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PCRB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motion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uncertainty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prior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informatin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frame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4D9D02-645D-22A1-07C0-3D69703150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67982E-1F9E-EE6B-54E7-BD61B2685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26063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BDEAA-A5D1-D156-0C3B-7E8CCA4AC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69BB69-418D-E5C3-D08C-292E39CA06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Posterior CRB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Information from Current Measurement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𝐐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𝚺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Where: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den>
                    </m:f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𝛏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sub>
                    </m:sSub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Jacobian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measurement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function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𝚺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Measurement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covariance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predicted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state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Resource Dependence</a:t>
                </a:r>
              </a:p>
              <a:p>
                <a:pPr lvl="2"/>
                <a:r>
                  <a:rPr lang="en-US" dirty="0">
                    <a:solidFill>
                      <a:srgbClr val="002060"/>
                    </a:solidFill>
                  </a:rPr>
                  <a:t>Measurement Covariance Depends on Resource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𝚺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diag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∝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𝐇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sup>
                                    </m:sSubSup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𝐟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So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𝚺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𝐉</m:t>
                    </m:r>
                  </m:oMath>
                </a14:m>
                <a:endParaRPr lang="en-US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69BB69-418D-E5C3-D08C-292E39CA06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1AFB1C-69C7-B123-237B-124442E41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036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447DB-9EC4-D12D-B938-96333C9EA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1D4506-036B-D645-26D7-E3859C0F55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Posterior CRB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Predictive PCRB</a:t>
                </a:r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Inverse of Posterior FIM</a:t>
                </a:r>
              </a:p>
              <a:p>
                <a:pPr lvl="3"/>
                <a:r>
                  <a:rPr lang="en-US" dirty="0"/>
                  <a:t>The predictive PCRB is </a:t>
                </a:r>
              </a:p>
              <a:p>
                <a:pPr lvl="4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PCRB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Tracking performance is evaluated by:</a:t>
                </a:r>
              </a:p>
              <a:p>
                <a:pPr lvl="4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Smaller trace:</a:t>
                </a:r>
              </a:p>
              <a:p>
                <a:pPr lvl="4"/>
                <a:r>
                  <a:rPr lang="en-US" dirty="0"/>
                  <a:t>Lower tracking uncertainty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en-US" dirty="0"/>
                  <a:t>better localization tracking</a:t>
                </a:r>
              </a:p>
              <a:p>
                <a:pPr lvl="4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1D4506-036B-D645-26D7-E3859C0F55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01C61E-BF3E-A37A-C707-A5CEF3AA8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01385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6BCF8-4F55-E416-D11B-4DF8538EE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216C5A-E60C-8908-3E64-07E213014C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EKF-Based Prediction</a:t>
                </a:r>
              </a:p>
              <a:p>
                <a:pPr lvl="1"/>
                <a:r>
                  <a:rPr lang="en-US" dirty="0"/>
                  <a:t>After receiving reflected echoes, the BS estimates: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Then EKF predicts and updates the target state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State vector: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Step 1: State Prediction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𝛏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sub>
                    </m:sSub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𝛏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−1 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Predict current state using previous estimated state</a:t>
                </a:r>
              </a:p>
              <a:p>
                <a:pPr lvl="2"/>
                <a:r>
                  <a:rPr lang="en-US" dirty="0"/>
                  <a:t>No current measurement is used yet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Step 2: MSE Matrix Prediction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sub>
                    </m:sSub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predicted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estimate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error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covariance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process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noise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Motion uncertainty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prediction uncertainty</a:t>
                </a:r>
              </a:p>
              <a:p>
                <a:pPr lvl="2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216C5A-E60C-8908-3E64-07E213014C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44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D01C39-4583-B0B8-A939-6E8F1B109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6713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F7F3B-426C-CBF0-53FA-56AD36DE9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F6BA13-99E6-72F9-9C46-284B4E9284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EKF-Based Prediction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Step 3: Kalman Gain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𝐐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𝚺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𝐐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𝐌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bSup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𝐌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Controls how much the EKF trust the new measurement</a:t>
                </a:r>
              </a:p>
              <a:p>
                <a:pPr lvl="3"/>
                <a:r>
                  <a:rPr lang="en-US" dirty="0"/>
                  <a:t>Smaller measurement noise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larger measurement trust</a:t>
                </a:r>
              </a:p>
              <a:p>
                <a:pPr lvl="3"/>
                <a:r>
                  <a:rPr lang="en-US" dirty="0"/>
                  <a:t>Larger prediction error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stronger correction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Step 4: State Tracking Update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𝛏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>
                                <a:latin typeface="Cambria Math" panose="02040503050406030204" pitchFamily="18" charset="0"/>
                              </a:rPr>
                              <m:t>𝛏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0">
                                        <a:latin typeface="Cambria Math" panose="02040503050406030204" pitchFamily="18" charset="0"/>
                                      </a:rPr>
                                      <m:t>𝛏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bSup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𝛏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Actual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measurement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predicted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measur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ment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EKF corrects prediction using this mismatch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Step 5: MSE Matrix Update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d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Update MSE matrix after using measurement </a:t>
                </a:r>
              </a:p>
              <a:p>
                <a:pPr lvl="2"/>
                <a:r>
                  <a:rPr lang="en-US" dirty="0"/>
                  <a:t>Tracking uncertainty is reduced after measurement update</a:t>
                </a:r>
              </a:p>
              <a:p>
                <a:pPr lvl="3"/>
                <a:r>
                  <a:rPr lang="en-US" dirty="0"/>
                  <a:t>Prediction covariance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Updated covariance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F6BA13-99E6-72F9-9C46-284B4E928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76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E49C8D-EFFD-46E2-0B08-A2309B747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12760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C8B4C-BEE7-3DBB-CD6C-AC11A59C8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39901D-A43E-EFAC-E278-DDDABABB76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Communication Model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Downlink UE Channel</a:t>
                </a:r>
              </a:p>
              <a:p>
                <a:pPr lvl="2"/>
                <a:r>
                  <a:rPr lang="en-US" dirty="0"/>
                  <a:t>BS communicates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single-antenna UEs. </a:t>
                </a:r>
              </a:p>
              <a:p>
                <a:pPr lvl="2"/>
                <a:r>
                  <a:rPr lang="en-US" dirty="0"/>
                  <a:t>The channel varies from frame to frame. </a:t>
                </a:r>
              </a:p>
              <a:p>
                <a:pPr lvl="2"/>
                <a:r>
                  <a:rPr lang="en-US" dirty="0"/>
                  <a:t>Temporal dynamicity is considered. </a:t>
                </a:r>
              </a:p>
              <a:p>
                <a:pPr lvl="2"/>
                <a:r>
                  <a:rPr lang="en-US" dirty="0"/>
                  <a:t>Frequency selectivity is ignored. 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̌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</m:oMath>
                </a14:m>
                <a:endParaRPr lang="en-US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Channel Dynamicity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̌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: time correlation between adjacent frames 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̌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</m:oMath>
                </a14:m>
                <a:r>
                  <a:rPr lang="en-US" dirty="0"/>
                  <a:t>: complex Gaussian channel noise </a:t>
                </a:r>
              </a:p>
              <a:p>
                <a:pPr lvl="2"/>
                <a:r>
                  <a:rPr lang="en-US" dirty="0"/>
                  <a:t>Larger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: channel changes slowly </a:t>
                </a:r>
              </a:p>
              <a:p>
                <a:pPr lvl="2"/>
                <a:r>
                  <a:rPr lang="en-US" dirty="0"/>
                  <a:t>Smaller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: channel changes rapidly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39901D-A43E-EFAC-E278-DDDABABB76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8D822A-EEF0-A6AF-E252-A19B417B6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7317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FCB94-3711-01B9-138B-A6BFE2B64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1226E9-4C6B-BE96-1578-D44BB68D41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Communication Model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Initial </a:t>
                </a:r>
                <a:r>
                  <a:rPr lang="en-US" dirty="0" err="1">
                    <a:solidFill>
                      <a:srgbClr val="7030A0"/>
                    </a:solidFill>
                  </a:rPr>
                  <a:t>mmWave</a:t>
                </a:r>
                <a:r>
                  <a:rPr lang="en-US" dirty="0">
                    <a:solidFill>
                      <a:srgbClr val="7030A0"/>
                    </a:solidFill>
                  </a:rPr>
                  <a:t> Channel</a:t>
                </a:r>
              </a:p>
              <a:p>
                <a:pPr lvl="2"/>
                <a:r>
                  <a:rPr lang="en-US" dirty="0"/>
                  <a:t>At the first frame: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sub>
                            </m:sSub>
                          </m:den>
                        </m:f>
                      </m:e>
                    </m:rad>
                    <m:nary>
                      <m:naryPr>
                        <m:chr m:val="∑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sup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nary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d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Where: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dirty="0"/>
                  <a:t>: number of paths 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</m:oMath>
                </a14:m>
                <a:r>
                  <a:rPr lang="en-US" dirty="0"/>
                  <a:t>: channel coefficient 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: </a:t>
                </a:r>
                <a:r>
                  <a:rPr lang="en-US" dirty="0" err="1">
                    <a:solidFill>
                      <a:srgbClr val="7030A0"/>
                    </a:solidFill>
                  </a:rPr>
                  <a:t>AoD</a:t>
                </a:r>
                <a:r>
                  <a:rPr lang="en-US" dirty="0">
                    <a:solidFill>
                      <a:srgbClr val="7030A0"/>
                    </a:solidFill>
                  </a:rPr>
                  <a:t> of path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Why Codebook Beamforming?</a:t>
                </a:r>
              </a:p>
              <a:p>
                <a:pPr lvl="2"/>
                <a:r>
                  <a:rPr lang="en-US" dirty="0" err="1"/>
                  <a:t>mmWave</a:t>
                </a:r>
                <a:r>
                  <a:rPr lang="en-US" dirty="0"/>
                  <a:t> suffers from severe path loss. </a:t>
                </a:r>
              </a:p>
              <a:p>
                <a:pPr lvl="2"/>
                <a:r>
                  <a:rPr lang="en-US" dirty="0"/>
                  <a:t>Beamforming focuses transmit energy toward UEs. </a:t>
                </a:r>
              </a:p>
              <a:p>
                <a:pPr lvl="2"/>
                <a:r>
                  <a:rPr lang="en-US" dirty="0"/>
                  <a:t>Codebook-based beamforming reduces complexity. </a:t>
                </a:r>
              </a:p>
              <a:p>
                <a:pPr lvl="2"/>
                <a:r>
                  <a:rPr lang="en-US" dirty="0"/>
                  <a:t>Beam vectors have normalized power. 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𝒞ℬ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𝒞ℬ</m:t>
                    </m:r>
                  </m:oMath>
                </a14:m>
                <a:r>
                  <a:rPr lang="en-US" dirty="0"/>
                  <a:t> is the beam codebook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1226E9-4C6B-BE96-1578-D44BB68D41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5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16EBD-3C20-4ED9-C7F9-91BE65B0C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53201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70D02-4868-D45E-9CE4-11B76D0D2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28DD88-4ABE-EF98-181B-5A22126491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Communication Model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UE Received Signal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rad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d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Where: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</m:oMath>
                </a14:m>
                <a:r>
                  <a:rPr lang="en-US" dirty="0"/>
                  <a:t>: UE transmit power 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</m:oMath>
                </a14:m>
                <a:r>
                  <a:rPr lang="en-US" dirty="0"/>
                  <a:t>: UE beamformer 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</m:oMath>
                </a14:m>
                <a:r>
                  <a:rPr lang="en-US" dirty="0"/>
                  <a:t>: delay 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</m:oMath>
                </a14:m>
                <a:r>
                  <a:rPr lang="en-US" dirty="0"/>
                  <a:t>: Doppler shift 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: communication noise 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Communication Noise Power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Where: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</m:oMath>
                </a14:m>
                <a:r>
                  <a:rPr lang="en-US" dirty="0"/>
                  <a:t>: RBs allocated to UE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in mini-slot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 bandwidth of one RB 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 noise power spectral density </a:t>
                </a:r>
              </a:p>
              <a:p>
                <a:pPr lvl="3"/>
                <a:r>
                  <a:rPr lang="en-US" dirty="0"/>
                  <a:t>More allocated bandwidth increases both:</a:t>
                </a:r>
              </a:p>
              <a:p>
                <a:pPr lvl="4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data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bandwidth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/>
                      <m:t>and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/>
                      <m:t>noise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power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28DD88-4ABE-EF98-181B-5A22126491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2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55287-70DB-2ED4-B9DC-0AFA5C060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25880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60AA2-33A4-0EAD-6492-0ED804398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02A69D-FAED-674F-3EC1-A772D4F94E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Communication Model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UE Throughput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𝑘𝑖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sup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d>
                      <m:dPr>
                        <m:beg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𝐟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This is the communication QoS metric.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Throughput Interpretation</a:t>
                </a:r>
              </a:p>
              <a:p>
                <a:pPr lvl="2"/>
                <a:r>
                  <a:rPr lang="en-US" dirty="0"/>
                  <a:t>Throughput improves when: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↑⇒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↑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↑⇒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↑</m:t>
                    </m:r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↑⇒</m:t>
                    </m:r>
                    <m:r>
                      <m:rPr>
                        <m:nor/>
                      </m:rPr>
                      <a:rPr lang="en-US"/>
                      <m:t>more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bandwidth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for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data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transmission</m:t>
                    </m:r>
                  </m:oMath>
                </a14:m>
                <a:endParaRPr lang="en-US" b="0" dirty="0"/>
              </a:p>
              <a:p>
                <a:pPr lvl="2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02A69D-FAED-674F-3EC1-A772D4F94E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84598-0A4F-F22E-731C-3D87A7DAE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9707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0499F-1F3B-090A-49A1-66AA6980E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9054"/>
            <a:ext cx="10515600" cy="6812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605D81-781B-97C9-DE09-4872F319011D}"/>
                  </a:ext>
                </a:extLst>
              </p:cNvPr>
              <p:cNvSpPr txBox="1"/>
              <p:nvPr/>
            </p:nvSpPr>
            <p:spPr>
              <a:xfrm>
                <a:off x="838200" y="1649691"/>
                <a:ext cx="5104598" cy="45272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Problem Formulation Goal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Joint ISAC Resource Allocation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Minimize target tracking uncertainty while guaranteeing UE communication QoS.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>
                            <a:latin typeface="Cambria Math" panose="02040503050406030204" pitchFamily="18" charset="0"/>
                          </a:rPr>
                          <m:t>∑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func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nary>
                          <m:naryPr>
                            <m:chr m:val="∑"/>
                            <m:grow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tr</m:t>
                            </m:r>
                          </m:e>
                        </m:nary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𝐉</m:t>
                            </m:r>
                            <m:sSup>
                              <m:sSu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  <m:t>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endParaRPr lang="en-US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685800" lvl="1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endParaRPr lang="en-US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685800" lvl="1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Optimization Variables</a:t>
                </a:r>
              </a:p>
              <a:p>
                <a:pPr marL="1143000" lvl="2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{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2000" b="1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𝐟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endParaRPr lang="en-US" sz="20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605D81-781B-97C9-DE09-4872F3190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49691"/>
                <a:ext cx="5104598" cy="4527272"/>
              </a:xfrm>
              <a:prstGeom prst="rect">
                <a:avLst/>
              </a:prstGeom>
              <a:blipFill>
                <a:blip r:embed="rId2"/>
                <a:stretch>
                  <a:fillRect l="-1075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E4E634-50DA-9250-2C6C-F747505F2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133310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439D109-9F59-4B0B-8E20-D6D3A384B1F1}" type="slidenum">
              <a:rPr lang="ko-KR" altLang="en-US" smtClean="0"/>
              <a:pPr>
                <a:spcAft>
                  <a:spcPts val="600"/>
                </a:spcAft>
              </a:pPr>
              <a:t>26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06EE69A9-193B-8729-3629-96088B0A7765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3346793627"/>
                  </p:ext>
                </p:extLst>
              </p:nvPr>
            </p:nvGraphicFramePr>
            <p:xfrm>
              <a:off x="6350008" y="1649691"/>
              <a:ext cx="4825984" cy="4527274"/>
            </p:xfrm>
            <a:graphic>
              <a:graphicData uri="http://schemas.openxmlformats.org/drawingml/2006/table">
                <a:tbl>
                  <a:tblPr firstRow="1" bandRow="1">
                    <a:noFill/>
                  </a:tblPr>
                  <a:tblGrid>
                    <a:gridCol w="1393295">
                      <a:extLst>
                        <a:ext uri="{9D8B030D-6E8A-4147-A177-3AD203B41FA5}">
                          <a16:colId xmlns:a16="http://schemas.microsoft.com/office/drawing/2014/main" val="2133050177"/>
                        </a:ext>
                      </a:extLst>
                    </a:gridCol>
                    <a:gridCol w="3432689">
                      <a:extLst>
                        <a:ext uri="{9D8B030D-6E8A-4147-A177-3AD203B41FA5}">
                          <a16:colId xmlns:a16="http://schemas.microsoft.com/office/drawing/2014/main" val="1222202414"/>
                        </a:ext>
                      </a:extLst>
                    </a:gridCol>
                  </a:tblGrid>
                  <a:tr h="75009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b="0" cap="none" spc="0" dirty="0">
                              <a:solidFill>
                                <a:srgbClr val="7030A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Variable</a:t>
                          </a:r>
                        </a:p>
                      </a:txBody>
                      <a:tcPr marL="0" marR="99570" marT="39828" marB="298711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38100" cmpd="sng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b="0" cap="none" spc="0" dirty="0">
                              <a:solidFill>
                                <a:srgbClr val="7030A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Meaning</a:t>
                          </a:r>
                        </a:p>
                      </a:txBody>
                      <a:tcPr marL="0" marR="99570" marT="39828" marB="298711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38100" cmpd="sng"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76270278"/>
                      </a:ext>
                    </a:extLst>
                  </a:tr>
                  <a:tr h="75009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22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2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22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  <m:sup>
                                    <m:r>
                                      <a:rPr lang="en-US" sz="22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2200" cap="none" spc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99570" marT="39828" marB="298711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mpd="sng">
                          <a:noFill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cap="none" spc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RBs for target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 cap="none" spc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endParaRPr lang="en-US" sz="22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99570" marT="39828" marB="298711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mpd="sng">
                          <a:noFill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8546166"/>
                      </a:ext>
                    </a:extLst>
                  </a:tr>
                  <a:tr h="77678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22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2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en-US" sz="22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2200" i="0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2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22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2200" cap="none" spc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99570" marT="39828" marB="298711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cap="none" spc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RBs for UE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 cap="none" spc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lang="en-US" sz="2200" cap="none" spc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in mini-slot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 cap="none" spc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oMath>
                          </a14:m>
                          <a:endParaRPr lang="en-US" sz="2200" cap="none" spc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99570" marT="39828" marB="298711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7548459"/>
                      </a:ext>
                    </a:extLst>
                  </a:tr>
                  <a:tr h="75009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22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2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2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  <m:sup>
                                    <m:r>
                                      <a:rPr lang="en-US" sz="22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22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99570" marT="39828" marB="298711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cap="none" spc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sensing power</a:t>
                          </a:r>
                        </a:p>
                      </a:txBody>
                      <a:tcPr marL="0" marR="99570" marT="39828" marB="298711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0726224"/>
                      </a:ext>
                    </a:extLst>
                  </a:tr>
                  <a:tr h="75009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22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2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2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sz="22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22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99570" marT="39828" marB="298711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cap="none" spc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communication power</a:t>
                          </a:r>
                        </a:p>
                      </a:txBody>
                      <a:tcPr marL="0" marR="99570" marT="39828" marB="298711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6187819"/>
                      </a:ext>
                    </a:extLst>
                  </a:tr>
                  <a:tr h="75009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2200" b="1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200" b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𝐟</m:t>
                                    </m:r>
                                  </m:e>
                                  <m:sub>
                                    <m:r>
                                      <a:rPr lang="en-US" sz="2200" b="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sz="2200" b="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2200" cap="none" spc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99570" marT="39828" marB="298711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cap="none" spc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UE beamformer</a:t>
                          </a:r>
                        </a:p>
                      </a:txBody>
                      <a:tcPr marL="0" marR="99570" marT="39828" marB="298711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8343680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06EE69A9-193B-8729-3629-96088B0A7765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3346793627"/>
                  </p:ext>
                </p:extLst>
              </p:nvPr>
            </p:nvGraphicFramePr>
            <p:xfrm>
              <a:off x="6350008" y="1649691"/>
              <a:ext cx="4825984" cy="4527274"/>
            </p:xfrm>
            <a:graphic>
              <a:graphicData uri="http://schemas.openxmlformats.org/drawingml/2006/table">
                <a:tbl>
                  <a:tblPr firstRow="1" bandRow="1">
                    <a:noFill/>
                  </a:tblPr>
                  <a:tblGrid>
                    <a:gridCol w="1393295">
                      <a:extLst>
                        <a:ext uri="{9D8B030D-6E8A-4147-A177-3AD203B41FA5}">
                          <a16:colId xmlns:a16="http://schemas.microsoft.com/office/drawing/2014/main" val="2133050177"/>
                        </a:ext>
                      </a:extLst>
                    </a:gridCol>
                    <a:gridCol w="3432689">
                      <a:extLst>
                        <a:ext uri="{9D8B030D-6E8A-4147-A177-3AD203B41FA5}">
                          <a16:colId xmlns:a16="http://schemas.microsoft.com/office/drawing/2014/main" val="1222202414"/>
                        </a:ext>
                      </a:extLst>
                    </a:gridCol>
                  </a:tblGrid>
                  <a:tr h="75009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b="0" cap="none" spc="0" dirty="0">
                              <a:solidFill>
                                <a:srgbClr val="7030A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Variable</a:t>
                          </a:r>
                        </a:p>
                      </a:txBody>
                      <a:tcPr marL="0" marR="99570" marT="39828" marB="298711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38100" cmpd="sng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b="0" cap="none" spc="0" dirty="0">
                              <a:solidFill>
                                <a:srgbClr val="7030A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Meaning</a:t>
                          </a:r>
                        </a:p>
                      </a:txBody>
                      <a:tcPr marL="0" marR="99570" marT="39828" marB="298711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38100" cmpd="sng"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76270278"/>
                      </a:ext>
                    </a:extLst>
                  </a:tr>
                  <a:tr h="75009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99570" marT="39828" marB="298711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mpd="sng">
                          <a:noFill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t="-100806" r="-247162" b="-4008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99570" marT="39828" marB="298711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mpd="sng">
                          <a:noFill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l="-40603" t="-100806" r="-355" b="-4008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8546166"/>
                      </a:ext>
                    </a:extLst>
                  </a:tr>
                  <a:tr h="7767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99570" marT="39828" marB="298711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blipFill>
                          <a:blip r:embed="rId3"/>
                          <a:stretch>
                            <a:fillRect t="-196063" r="-247162" b="-2913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99570" marT="39828" marB="298711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blipFill>
                          <a:blip r:embed="rId3"/>
                          <a:stretch>
                            <a:fillRect l="-40603" t="-196063" r="-355" b="-2913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7548459"/>
                      </a:ext>
                    </a:extLst>
                  </a:tr>
                  <a:tr h="75009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99570" marT="39828" marB="298711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t="-305691" r="-247162" b="-2008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cap="none" spc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sensing power</a:t>
                          </a:r>
                        </a:p>
                      </a:txBody>
                      <a:tcPr marL="0" marR="99570" marT="39828" marB="298711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0726224"/>
                      </a:ext>
                    </a:extLst>
                  </a:tr>
                  <a:tr h="75009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99570" marT="39828" marB="298711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blipFill>
                          <a:blip r:embed="rId3"/>
                          <a:stretch>
                            <a:fillRect t="-402419" r="-247162" b="-99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cap="none" spc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communication power</a:t>
                          </a:r>
                        </a:p>
                      </a:txBody>
                      <a:tcPr marL="0" marR="99570" marT="39828" marB="298711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6187819"/>
                      </a:ext>
                    </a:extLst>
                  </a:tr>
                  <a:tr h="75009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99570" marT="39828" marB="298711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blipFill>
                          <a:blip r:embed="rId3"/>
                          <a:stretch>
                            <a:fillRect t="-506504" r="-2471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cap="none" spc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UE beamformer</a:t>
                          </a:r>
                        </a:p>
                      </a:txBody>
                      <a:tcPr marL="0" marR="99570" marT="39828" marB="298711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834368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815705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71C8FED-51D0-1B08-45F3-7658F3187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36EEE166-AD2C-1A67-05F4-EF667AB160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Objective Function</a:t>
                </a:r>
              </a:p>
              <a:p>
                <a:pPr lvl="1"/>
                <a14:m>
                  <m:oMath xmlns:m="http://schemas.openxmlformats.org/officeDocument/2006/math">
                    <m:limLow>
                      <m:limLow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a:rPr lang="en-US" i="1">
                            <a:latin typeface="Cambria Math" panose="02040503050406030204" pitchFamily="18" charset="0"/>
                          </a:rPr>
                          <m:t>{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}</m:t>
                        </m:r>
                      </m:lim>
                    </m:limLow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nary>
                          <m:naryPr>
                            <m:chr m:val="∑"/>
                            <m:grow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sup>
                          <m:e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sup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tr</m:t>
                                </m:r>
                              </m:e>
                            </m:nary>
                          </m:e>
                        </m:nary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𝐉</m:t>
                            </m:r>
                            <m:sSup>
                              <m:sSu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  <m:t>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PCRB</m:t>
                    </m:r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𝐉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total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tracking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uncertainty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Smaller value means better target tracking.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Communication Throughput Constraint</a:t>
                </a:r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sup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𝑘𝑖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𝐟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</m:e>
                        </m:d>
                      </m:e>
                    </m:nary>
                    <m:r>
                      <a:rPr lang="en-US">
                        <a:latin typeface="Cambria Math" panose="02040503050406030204" pitchFamily="18" charset="0"/>
                      </a:rPr>
                      <m:t>≥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Each UE must satisfy minimum throughput. </a:t>
                </a:r>
              </a:p>
              <a:p>
                <a:pPr lvl="2"/>
                <a:r>
                  <a:rPr lang="en-US" dirty="0"/>
                  <a:t>Communication QoS must be guaranteed in every frame. 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≥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36EEE166-AD2C-1A67-05F4-EF667AB160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49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AF50E6-4BED-7128-2032-B87CA018A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13002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0AC49-1A04-405D-057B-BD7213BF0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A7ABFD-63F1-A6E4-176E-4332234BF3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7030A0"/>
                    </a:solidFill>
                  </a:rPr>
                  <a:t>Power Constraint</a:t>
                </a:r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nary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nary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sensing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power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/>
                      <m:t>communication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power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nor/>
                      </m:rPr>
                      <a:rPr lang="en-US"/>
                      <m:t>total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power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budget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This creates sensing communication power competition.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Time-Frequency Resource Constraint</a:t>
                </a:r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nary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</m:e>
                        </m:nary>
                      </m:e>
                    </m:nary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𝑅𝐵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Targets and UEs share limited RB-mini-slot resources. </a:t>
                </a:r>
              </a:p>
              <a:p>
                <a:pPr lvl="2"/>
                <a:r>
                  <a:rPr lang="en-US" dirty="0"/>
                  <a:t>Total allocated resources cannot exceed available </a:t>
                </a:r>
                <a:r>
                  <a:rPr lang="en-US" dirty="0" err="1"/>
                  <a:t>RUs.</a:t>
                </a:r>
                <a:r>
                  <a:rPr lang="en-US" dirty="0"/>
                  <a:t> 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available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r>
                      <m:rPr>
                        <m:nor/>
                      </m:rPr>
                      <a:rPr lang="en-US" b="0"/>
                      <m:t>RUs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𝑅𝐵</m:t>
                        </m:r>
                      </m:sub>
                    </m:sSub>
                  </m:oMath>
                </a14:m>
                <a:endParaRPr lang="en-US" b="0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A7ABFD-63F1-A6E4-176E-4332234BF3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65BB29-0AA6-EC57-5A5E-46BBCA218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7088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891D8-0139-06EB-7C28-4E602F938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8562F1-A894-75B1-0CFE-779EE1E0E5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7030A0"/>
                    </a:solidFill>
                  </a:rPr>
                  <a:t>Integer RB Constraints</a:t>
                </a:r>
              </a:p>
              <a:p>
                <a:pPr lvl="1"/>
                <a:r>
                  <a:rPr lang="en-US" dirty="0"/>
                  <a:t>For each target: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req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req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+1, …….,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𝑅𝐵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For each UE: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1,…..,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𝑅𝐵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Meaning:</a:t>
                </a:r>
              </a:p>
              <a:p>
                <a:pPr lvl="2"/>
                <a:r>
                  <a:rPr lang="en-US" dirty="0"/>
                  <a:t>RB allocation is discrete. </a:t>
                </a:r>
              </a:p>
              <a:p>
                <a:pPr lvl="2"/>
                <a:r>
                  <a:rPr lang="en-US" dirty="0"/>
                  <a:t>Each target must receive at least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req</m:t>
                        </m:r>
                      </m:sub>
                    </m:sSub>
                  </m:oMath>
                </a14:m>
                <a:r>
                  <a:rPr lang="en-US" dirty="0"/>
                  <a:t> RBs.</a:t>
                </a:r>
              </a:p>
              <a:p>
                <a:r>
                  <a:rPr lang="en-US" dirty="0">
                    <a:solidFill>
                      <a:srgbClr val="7030A0"/>
                    </a:solidFill>
                  </a:rPr>
                  <a:t>Minimum Required RBs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req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⌈"/>
                        <m:endChr m:val="⌉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res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Where: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: speed of light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 bandwidth of one RB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res</m:t>
                        </m:r>
                      </m:sub>
                    </m:sSub>
                  </m:oMath>
                </a14:m>
                <a:r>
                  <a:rPr lang="en-US" dirty="0"/>
                  <a:t>: desired distance resolution </a:t>
                </a:r>
              </a:p>
              <a:p>
                <a:pPr lvl="2"/>
                <a:r>
                  <a:rPr lang="en-US" dirty="0"/>
                  <a:t>Better resolution requires more bandwidth: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res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↓⇒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req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↑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8562F1-A894-75B1-0CFE-779EE1E0E5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57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6485D-A191-13BE-7486-3523459E5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77151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DC019-34E4-C5DD-3B1F-A8E946F9D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90505B-A195-C506-D6F5-922E2D3E40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Why P1 Is Difficult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P1 is a mixed-integer nonlinear programming problem because: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</m:oMath>
                </a14:m>
                <a:r>
                  <a:rPr lang="en-US" dirty="0"/>
                  <a:t> are integer variables. </a:t>
                </a:r>
              </a:p>
              <a:p>
                <a:pPr lvl="2"/>
                <a:r>
                  <a:rPr lang="en-US" dirty="0"/>
                  <a:t>PCRB objective contains: 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𝐉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Throughput expression couples: 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Target movement and channel variation create dynamicity.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90505B-A195-C506-D6F5-922E2D3E40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0BEFF-0987-0458-D1A5-E272EC2CF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22255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21AB3-D896-6ACB-16BA-E9610E0C5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4635E4-18DC-2343-9E36-3C858EB4DE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Original objective: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𝐉</m:t>
                            </m:r>
                            <m:sSup>
                              <m:sSu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  <m:t>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hard because it contains:</a:t>
                </a:r>
              </a:p>
              <a:p>
                <a:pPr lvl="3"/>
                <a:r>
                  <a:rPr lang="en-US" dirty="0"/>
                  <a:t>matrix inverse, </a:t>
                </a:r>
              </a:p>
              <a:p>
                <a:pPr lvl="3"/>
                <a:r>
                  <a:rPr lang="en-US" dirty="0"/>
                  <a:t>trace operation, </a:t>
                </a:r>
              </a:p>
              <a:p>
                <a:pPr lvl="3"/>
                <a:r>
                  <a:rPr lang="en-US" dirty="0"/>
                  <a:t>nonlinear dependence on resource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</a:p>
              <a:p>
                <a:pPr lvl="1"/>
                <a:r>
                  <a:rPr lang="en-US" dirty="0">
                    <a:solidFill>
                      <a:srgbClr val="0000FF"/>
                    </a:solidFill>
                  </a:rPr>
                  <a:t>Goal: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matrix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PCRB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objective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/>
                      <m:t>scalar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optimization</m:t>
                    </m:r>
                    <m:r>
                      <m:rPr>
                        <m:nor/>
                      </m:rPr>
                      <a:rPr lang="en-US"/>
                      <m:t>−</m:t>
                    </m:r>
                    <m:r>
                      <m:rPr>
                        <m:nor/>
                      </m:rPr>
                      <a:rPr lang="en-US"/>
                      <m:t>friendly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form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4635E4-18DC-2343-9E36-3C858EB4DE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85EEF-A5EB-8EF3-7E04-C13E6E5E2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11464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1E2F1-CC08-542B-6F62-50DC5DBD0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2A9064-2448-3479-D0BD-ED47D365DC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BCD Subproblem Focus</a:t>
                </a:r>
              </a:p>
              <a:p>
                <a:pPr lvl="1"/>
                <a:r>
                  <a:rPr lang="en-US" dirty="0"/>
                  <a:t>For this block, fix:</a:t>
                </a:r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Optimize: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where: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: RBs for target sensing 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: RBs for UE communication 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: UE communication power</a:t>
                </a:r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Posterior FIM Structure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𝐉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Data FIM: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𝚺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Only the measurement covariance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𝚺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 depends on sensing resources.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2A9064-2448-3479-D0BD-ED47D365DC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9B3910-CA88-1576-860F-7FBDE553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02150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AE26A-5F45-6100-8AAD-C741FA4E6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5156C5-10EA-19E1-B387-CDEDD3EF3C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Measurement Covariance</a:t>
                </a:r>
                <a:endParaRPr lang="en-US" b="0" dirty="0">
                  <a:solidFill>
                    <a:srgbClr val="0000FF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𝚺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diag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So:</a:t>
                </a:r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𝚺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diag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sub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sub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Distance and </a:t>
                </a:r>
                <a:r>
                  <a:rPr lang="en-US" dirty="0" err="1"/>
                  <a:t>AoA</a:t>
                </a:r>
                <a:r>
                  <a:rPr lang="en-US" dirty="0"/>
                  <a:t> errors contribute separately to the data FIM.</a:t>
                </a:r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Resource Dependence of Distance CRB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∝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∥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𝐇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𝐟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Therefore: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∝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𝐇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So, distance information increases with: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5156C5-10EA-19E1-B387-CDEDD3EF3C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70477E-A601-166C-2D4E-60F25CFFD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4047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5086B-AF1D-C699-8530-359D8BA79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0460E1-E7DE-F560-40B1-AF7BDA30A6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Resource Dependence of </a:t>
                </a:r>
                <a:r>
                  <a:rPr lang="en-US" dirty="0" err="1">
                    <a:solidFill>
                      <a:srgbClr val="0000FF"/>
                    </a:solidFill>
                  </a:rPr>
                  <a:t>AoA</a:t>
                </a:r>
                <a:r>
                  <a:rPr lang="en-US" dirty="0">
                    <a:solidFill>
                      <a:srgbClr val="0000FF"/>
                    </a:solidFill>
                  </a:rPr>
                  <a:t> CRB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∝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𝐇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𝐟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e>
                                  <m: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𝑛𝑛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Therefore: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∝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𝐇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𝑛𝑛</m:t>
                            </m:r>
                          </m:sub>
                        </m:sSub>
                      </m:den>
                    </m:f>
                  </m:oMath>
                </a14:m>
                <a:endParaRPr lang="en-US" b="0" dirty="0"/>
              </a:p>
              <a:p>
                <a:pPr lvl="1"/>
                <a:r>
                  <a:rPr lang="en-US" dirty="0" err="1"/>
                  <a:t>AoA</a:t>
                </a:r>
                <a:r>
                  <a:rPr lang="en-US" dirty="0"/>
                  <a:t> information depends on sensing power and channel strength, but not 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Expanding the Data FIM</a:t>
                </a:r>
              </a:p>
              <a:p>
                <a:pPr lvl="1"/>
                <a:r>
                  <a:rPr lang="en-US" dirty="0"/>
                  <a:t>Let: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1">
                                          <a:latin typeface="Cambria Math" panose="02040503050406030204" pitchFamily="18" charset="0"/>
                                        </a:rPr>
                                        <m:t>𝐪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1">
                                          <a:latin typeface="Cambria Math" panose="02040503050406030204" pitchFamily="18" charset="0"/>
                                        </a:rPr>
                                        <m:t>𝐪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where: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</m:acc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: distance row 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</m:acc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: </a:t>
                </a:r>
                <a:r>
                  <a:rPr lang="en-US" dirty="0" err="1"/>
                  <a:t>AoA</a:t>
                </a:r>
                <a:r>
                  <a:rPr lang="en-US" dirty="0"/>
                  <a:t> row </a:t>
                </a:r>
              </a:p>
              <a:p>
                <a:pPr lvl="1"/>
                <a:r>
                  <a:rPr lang="en-US" dirty="0"/>
                  <a:t>Then: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</m:acc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</m:acc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</m:acc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</m:acc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0460E1-E7DE-F560-40B1-AF7BDA30A6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7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EB065B-029F-466E-243E-83912B641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1" y="6356350"/>
            <a:ext cx="1179352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63529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9F5CC-2C0D-A37B-77C0-20FEB8A4E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5D8367-D614-3F68-CE0C-FEBFFA007A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Separating Fixed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 Dependent Parts</a:t>
                </a:r>
              </a:p>
              <a:p>
                <a:pPr lvl="1"/>
                <a:r>
                  <a:rPr lang="en-US" dirty="0"/>
                  <a:t>Substitute the CRB relations: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𝐉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𝐇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𝑛𝑛</m:t>
                            </m:r>
                          </m:sub>
                        </m:sSub>
                      </m:den>
                    </m:f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</m:acc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</m:acc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𝐇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</m:acc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</m:acc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Define: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𝐉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Meaning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𝐇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𝑛𝑛</m:t>
                            </m:r>
                          </m:sub>
                        </m:sSub>
                      </m:den>
                    </m:f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</m:acc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</m:acc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𝐇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</m:acc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</m:acc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Meaning: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mtClean="0"/>
                      <m:t>fixed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smtClean="0"/>
                      <m:t>prior</m:t>
                    </m:r>
                    <m:r>
                      <m:rPr>
                        <m:nor/>
                      </m:rPr>
                      <a:rPr lang="en-US" smtClean="0"/>
                      <m:t> + </m:t>
                    </m:r>
                    <m:r>
                      <m:rPr>
                        <m:nor/>
                      </m:rPr>
                      <a:rPr lang="en-US" smtClean="0"/>
                      <m:t>AoA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smtClean="0"/>
                      <m:t>information</m:t>
                    </m:r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distance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information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from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sensing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bandwidth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5D8367-D614-3F68-CE0C-FEBFFA007A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EFF07-B3C3-0324-3AB0-42CB665E7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3639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EE605-4B5F-1AD4-9281-425DB541D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2BF67B-830D-DA86-5878-360F8447BF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Why Eq. (27) Matters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𝐉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This exposes the role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↑⇒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𝐉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↑⇒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𝐉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↓⇒</m:t>
                    </m:r>
                    <m:r>
                      <m:rPr>
                        <m:nor/>
                      </m:rPr>
                      <a:rPr lang="en-US"/>
                      <m:t>PCRB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decreases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So more sensing RBs improve tracking accuracy.</a:t>
                </a:r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Remaining Difficulty</a:t>
                </a:r>
              </a:p>
              <a:p>
                <a:pPr lvl="1"/>
                <a:r>
                  <a:rPr lang="en-US" dirty="0"/>
                  <a:t>Even after Eq. (27), the objective is still: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𝐄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𝑚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𝐕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This is still a matrix inverse expression.</a:t>
                </a:r>
              </a:p>
              <a:p>
                <a:pPr lvl="2"/>
                <a:r>
                  <a:rPr lang="en-US" dirty="0"/>
                  <a:t>Next goal: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matrix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trace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inverse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/>
                      <m:t>scalar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summation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2BF67B-830D-DA86-5878-360F8447BF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47E29-25A5-1911-0030-332E161B5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68819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A87B1-B9A0-08BE-5816-5B84B6A0A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741285-C8AC-87C1-44D0-F6D4243408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9691"/>
                <a:ext cx="10515600" cy="4881138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Factorizing the Matrix</a:t>
                </a:r>
              </a:p>
              <a:p>
                <a:pPr lvl="1"/>
                <a:r>
                  <a:rPr lang="en-US" dirty="0"/>
                  <a:t>Write: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1/2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𝐈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−1/2</m:t>
                            </m:r>
                          </m:sup>
                        </m:sSub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𝐕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−1/2</m:t>
                            </m:r>
                          </m:sup>
                        </m:sSubSup>
                      </m:e>
                    </m:d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1/2</m:t>
                        </m:r>
                      </m:sup>
                    </m:sSubSup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Therefore: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𝐄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𝐕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−1/2</m:t>
                        </m:r>
                      </m:sup>
                    </m:sSub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𝐈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𝐄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−1/2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𝐕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𝐄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−1/2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−1/2</m:t>
                        </m:r>
                      </m:sup>
                    </m:sSubSup>
                  </m:oMath>
                </a14:m>
                <a:endParaRPr lang="en-US" b="0" dirty="0"/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Eigenvalue Decomposition</a:t>
                </a:r>
              </a:p>
              <a:p>
                <a:pPr lvl="1"/>
                <a:r>
                  <a:rPr lang="en-US" dirty="0"/>
                  <a:t>Define: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−1/2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−1/2</m:t>
                        </m:r>
                      </m:sup>
                    </m:sSubSup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Use eigen decomposition: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𝚲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where:</a:t>
                </a:r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𝚲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diag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33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44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Then: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𝐈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𝐆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𝐈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𝚲</m:t>
                            </m:r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b="1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741285-C8AC-87C1-44D0-F6D4243408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9691"/>
                <a:ext cx="10515600" cy="4881138"/>
              </a:xfrm>
              <a:blipFill>
                <a:blip r:embed="rId2"/>
                <a:stretch>
                  <a:fillRect l="-522" t="-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6BDA4-B65F-0FE4-C4D2-EDEA4437A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25989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271BD-377C-37B0-58E3-8A4B9A825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02E3F1-2F79-6561-74E7-C2F25B0CBE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Applying Trace Cyclic Property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𝐄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𝑚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𝐕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becomes: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𝐆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𝐄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bSup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𝐆</m:t>
                            </m:r>
                            <m:sSup>
                              <m:sSu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𝐈</m:t>
                                    </m:r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𝑚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𝚲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endParaRPr lang="en-US" b="1" dirty="0"/>
              </a:p>
              <a:p>
                <a:pPr lvl="2"/>
                <a:r>
                  <a:rPr lang="en-US" dirty="0"/>
                  <a:t>Because: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𝐀𝐁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𝐁𝐀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Scalar Summation Form</a:t>
                </a:r>
              </a:p>
              <a:p>
                <a:pPr lvl="1"/>
                <a:r>
                  <a:rPr lang="en-US" dirty="0"/>
                  <a:t>Since: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𝐈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𝚲</m:t>
                            </m:r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diagonal,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fName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func>
                    <m:nary>
                      <m:naryPr>
                        <m:chr m:val="∑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𝐆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𝐄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  <m:sup>
                                        <m: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bSup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𝐆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𝑗𝑗</m:t>
                                </m:r>
                              </m:sub>
                            </m:sSub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𝑗𝑗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02E3F1-2F79-6561-74E7-C2F25B0CBE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1628C8-C93D-EA2E-A46B-66435F8D3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508233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38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97336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405D4-0553-F6ED-8CA4-DBA11C673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D9D56D-7112-7A16-C1AD-A2BE0A6897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9691"/>
                <a:ext cx="10515600" cy="4709164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Scalar Summation Form</a:t>
                </a:r>
              </a:p>
              <a:p>
                <a:pPr lvl="1"/>
                <a:r>
                  <a:rPr lang="en-US" dirty="0"/>
                  <a:t>Define: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𝑚𝑗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𝐆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𝐄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  <m:sup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bSup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𝐆</m:t>
                                </m:r>
                              </m:e>
                            </m:d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𝑗𝑗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𝑚𝑗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𝑚𝑗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𝑗𝑗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Then: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𝐉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d>
                      <m:dPr>
                        <m:begChr m:val="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What Eq. (30) Achieves</a:t>
                </a:r>
              </a:p>
              <a:p>
                <a:pPr lvl="1"/>
                <a:r>
                  <a:rPr lang="en-US" dirty="0"/>
                  <a:t>Before: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𝐄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𝑚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𝐕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After:</a:t>
                </a:r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d>
                      <m:dPr>
                        <m:begChr m:val="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Purpose: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matrix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inverse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objective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/>
                      <m:t>scalar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nonlinear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objective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Now the dependence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 is explicit.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D9D56D-7112-7A16-C1AD-A2BE0A6897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9691"/>
                <a:ext cx="10515600" cy="4709164"/>
              </a:xfrm>
              <a:blipFill>
                <a:blip r:embed="rId2"/>
                <a:stretch>
                  <a:fillRect l="-522" t="-1295" b="-12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987B9-CC78-B656-DEC8-7B29860BD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05589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1179D-331B-8298-C1AE-71BF55102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FAF95F-9158-23CD-01B5-65AF5FF8DC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Subproblem</a:t>
                </a:r>
                <a:r>
                  <a:rPr lang="en-US" b="1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1.1</m:t>
                    </m:r>
                  </m:oMath>
                </a14:m>
                <a:endParaRPr lang="en-US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/>
                  <a:t>After Eq. (30):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d>
                              <m:dPr>
                                <m:begChr m:val="{"/>
                                <m:endChr m:val="}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p>
                          <m:e>
                            <m:nary>
                              <m:naryPr>
                                <m:chr m:val="∑"/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𝑚𝑗</m:t>
                                            </m:r>
                                          </m:sub>
                                        </m:s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𝑚𝑗</m:t>
                                            </m:r>
                                          </m:sub>
                                        </m:sSub>
                                        <m:sSup>
                                          <m:sSup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𝑛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𝑚𝑛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e>
                            </m:nary>
                          </m:e>
                        </m:nary>
                      </m:e>
                    </m:func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subject to:</a:t>
                </a:r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nary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grow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nary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grow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nary>
                          <m:naryPr>
                            <m:chr m:val="∑"/>
                            <m:limLoc m:val="undOvr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nary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𝑅𝐵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and integer RB constraints.</a:t>
                </a:r>
              </a:p>
              <a:p>
                <a:pPr lvl="1"/>
                <a:r>
                  <a:rPr lang="en-US" dirty="0">
                    <a:solidFill>
                      <a:srgbClr val="0000FF"/>
                    </a:solidFill>
                  </a:rPr>
                  <a:t>Why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1.1</m:t>
                    </m:r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 Is Still Hard</a:t>
                </a:r>
              </a:p>
              <a:p>
                <a:pPr lvl="2"/>
                <a:r>
                  <a:rPr lang="en-US" dirty="0"/>
                  <a:t>The objective contains: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𝑚𝑗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𝑚𝑗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This is nonlinear.</a:t>
                </a:r>
              </a:p>
              <a:p>
                <a:pPr lvl="3"/>
                <a:r>
                  <a:rPr lang="en-US" dirty="0"/>
                  <a:t>Also:</a:t>
                </a:r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are integer variables.</a:t>
                </a:r>
              </a:p>
              <a:p>
                <a:pPr lvl="3"/>
                <a:r>
                  <a:rPr lang="en-US" dirty="0"/>
                  <a:t>The throughput constraint couples:</a:t>
                </a:r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/>
                      <m:t>and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4"/>
                <a:r>
                  <a:rPr lang="en-US" dirty="0"/>
                  <a:t>So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1.1</m:t>
                    </m:r>
                  </m:oMath>
                </a14:m>
                <a:r>
                  <a:rPr lang="en-US" dirty="0"/>
                  <a:t> is still a mixed-integer nonlinear problem.</a:t>
                </a:r>
              </a:p>
              <a:p>
                <a:pPr lvl="2"/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FAF95F-9158-23CD-01B5-65AF5FF8DC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21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EADB7D-D7D0-8F2C-CFD6-2A19895B2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730541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40</a:t>
            </a:fld>
            <a:r>
              <a:rPr lang="en-US" altLang="ko-KR" dirty="0"/>
              <a:t>	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05238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2E7A1-6088-4A76-4A78-7613A78AD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E36AEB-84BC-131B-CD5F-4FC87B9E66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Introducing Auxiliary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𝑚𝑗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Introduce: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𝑚𝑗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such that: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𝑚𝑗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𝑚𝑗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𝑚𝑗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Then minimize: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d>
                              <m:dPr>
                                <m:begChr m:val="{"/>
                                <m:endChr m:val="}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𝑚𝑗</m:t>
                                    </m:r>
                                  </m:sub>
                                </m:sSub>
                              </m:e>
                            </m:d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p>
                          <m:e>
                            <m:nary>
                              <m:naryPr>
                                <m:chr m:val="∑"/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𝑚𝑗</m:t>
                                    </m:r>
                                  </m:sub>
                                </m:sSub>
                              </m:e>
                            </m:nary>
                          </m:e>
                        </m:nary>
                      </m:e>
                    </m:func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This is an epigraph transformation.</a:t>
                </a:r>
              </a:p>
              <a:p>
                <a:pPr lvl="2"/>
                <a:r>
                  <a:rPr lang="en-US" dirty="0"/>
                  <a:t>Purpose: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nonlinear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r>
                      <m:rPr>
                        <m:nor/>
                      </m:rPr>
                      <a:rPr lang="en-US" b="0"/>
                      <m:t>inverse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objective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/>
                      <m:t>linear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objective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with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nonlinear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constraint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E36AEB-84BC-131B-CD5F-4FC87B9E66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C407B-7663-E252-34AD-9703BF8C7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61960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59BED-8A5B-E43E-AC80-3B9A69C83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DC7CC2-CDA8-1FC2-9B4A-E86BAF5551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Constraint Reformulation</a:t>
                </a:r>
              </a:p>
              <a:p>
                <a:pPr lvl="1"/>
                <a:r>
                  <a:rPr lang="en-US" dirty="0"/>
                  <a:t>From: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𝑚𝑗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𝑚𝑗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𝑚𝑗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we obtain: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1.2</m:t>
                    </m:r>
                  </m:oMath>
                </a14:m>
                <a:r>
                  <a:rPr lang="en-US" dirty="0"/>
                  <a:t> becomes: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d>
                              <m:dPr>
                                <m:begChr m:val="{"/>
                                <m:endChr m:val="}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𝑚𝑗</m:t>
                                </m:r>
                              </m:sub>
                            </m:sSub>
                          </m:e>
                        </m:nary>
                      </m:e>
                    </m:func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subject to: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and the remaining constraints.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DC7CC2-CDA8-1FC2-9B4A-E86BAF5551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44F979-6E7E-7B72-447F-AA441163E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4258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7B603-54F0-B578-2531-32BDC5353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D40673-04E5-E61F-918F-961CAC51F1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Why 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1.2</m:t>
                    </m:r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 Is Non-Convex</a:t>
                </a:r>
              </a:p>
              <a:p>
                <a:pPr lvl="1"/>
                <a:r>
                  <a:rPr lang="en-US" dirty="0"/>
                  <a:t>The constraint is: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Here: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is convex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𝑚𝑗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2"/>
                <a:r>
                  <a:rPr lang="en-US" dirty="0"/>
                  <a:t>Also: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is convex.</a:t>
                </a:r>
              </a:p>
              <a:p>
                <a:pPr lvl="1"/>
                <a:r>
                  <a:rPr lang="en-US" dirty="0"/>
                  <a:t>So, the left side is: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convex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/>
                      <m:t>convex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This is a DC constraint, therefore non-convex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D40673-04E5-E61F-918F-961CAC51F1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921EC-4CFE-FE44-5208-1C218A615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84216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A4211-1E5A-CE94-BA8B-9A11D5635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4776D7-C6DE-C582-3A26-AA098290A9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SCA / Taylor Approximation</a:t>
                </a:r>
              </a:p>
              <a:p>
                <a:r>
                  <a:rPr lang="en-US" dirty="0"/>
                  <a:t>Linearize: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around previous iteration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+2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Then: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  <m:sup>
                                        <m: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+2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  <m:sup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e>
                            </m:d>
                          </m:e>
                        </m:d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This is the SCA approximation used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1.3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4776D7-C6DE-C582-3A26-AA098290A9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913C4-DBB4-6EA7-4D3E-1D9673235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23845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7CE0A-6BE2-C282-7A7E-563DF8EF7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80B01D-0900-B030-D8D5-A3E331FF6A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Why Taylor Expansion Helps</a:t>
                </a:r>
              </a:p>
              <a:p>
                <a:pPr lvl="1"/>
                <a:r>
                  <a:rPr lang="en-US" dirty="0"/>
                  <a:t>Original constraint: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is DC and non-convex.</a:t>
                </a:r>
              </a:p>
              <a:p>
                <a:pPr lvl="1"/>
                <a:r>
                  <a:rPr lang="en-US" dirty="0"/>
                  <a:t>After Taylor approximation: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i="1"/>
                      <m:t>affine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This is convex.</a:t>
                </a:r>
              </a:p>
              <a:p>
                <a:pPr lvl="1"/>
                <a:r>
                  <a:rPr lang="en-US" dirty="0"/>
                  <a:t>Therefore: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1.2→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1.3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converts a non-convex constraint into a convex SCA constraint.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80B01D-0900-B030-D8D5-A3E331FF6A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30B9FF-B3D8-582F-1ADB-7407FD6FA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16114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7F4CB-6240-986D-7733-E3051A553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B2196C-46D3-91F2-59AB-5C4EC5F44F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9690"/>
                <a:ext cx="10515600" cy="4851777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Throughput Constraint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Communication constraint: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is rewritten as: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where: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𝐟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Penalty Method</a:t>
                </a:r>
              </a:p>
              <a:p>
                <a:pPr lvl="1"/>
                <a:r>
                  <a:rPr lang="en-US" dirty="0"/>
                  <a:t>Move throughput violation into objective: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nary>
                          <m:naryPr>
                            <m:chr m:val="∑"/>
                            <m:grow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</m:nary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If constraint is satisfied: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≤0⇒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If constraint is violated: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>
                        <a:latin typeface="Cambria Math" panose="02040503050406030204" pitchFamily="18" charset="0"/>
                      </a:rPr>
                      <m:t>&gt;0⇒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e>
                    </m:func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Larger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enforces the throughput constraint more strongly.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B2196C-46D3-91F2-59AB-5C4EC5F44F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9690"/>
                <a:ext cx="10515600" cy="4851777"/>
              </a:xfrm>
              <a:blipFill>
                <a:blip r:embed="rId2"/>
                <a:stretch>
                  <a:fillRect l="-522" t="-1256" b="-23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F8AB13-CDC5-B796-6806-A4EC188EF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8595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BCC34-B91A-F381-CE77-B4D49551D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E7B88E-BBEE-EDF0-5132-3DDE32CB7C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Final Convex Subproblem 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1.4</m:t>
                    </m:r>
                  </m:oMath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/>
                  <a:t>The objective becomes: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{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𝑚𝑗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}</m:t>
                            </m:r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p>
                          <m:e>
                            <m:nary>
                              <m:naryPr>
                                <m:chr m:val="∑"/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𝑚𝑗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p>
                                  <m:e>
                                    <m:func>
                                      <m:func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max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begChr m:val="{"/>
                                            <m:endChr m:val="}"/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𝑓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𝑜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𝑘𝑖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𝑝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𝑘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,0</m:t>
                                            </m:r>
                                          </m:e>
                                        </m:d>
                                      </m:e>
                                    </m:func>
                                  </m:e>
                                </m:nary>
                              </m:e>
                            </m:nary>
                          </m:e>
                        </m:nary>
                      </m:e>
                    </m:func>
                  </m:oMath>
                </a14:m>
                <a:endParaRPr lang="en-US" i="1" dirty="0"/>
              </a:p>
              <a:p>
                <a:pPr lvl="1"/>
                <a:r>
                  <a:rPr lang="en-US" dirty="0"/>
                  <a:t>subject to:</a:t>
                </a:r>
              </a:p>
              <a:p>
                <a:pPr lvl="2"/>
                <a:r>
                  <a:rPr lang="en-US" dirty="0"/>
                  <a:t>SCA convexified PCRB constraint, </a:t>
                </a:r>
              </a:p>
              <a:p>
                <a:pPr lvl="2"/>
                <a:r>
                  <a:rPr lang="en-US" dirty="0"/>
                  <a:t>power constraint, </a:t>
                </a:r>
              </a:p>
              <a:p>
                <a:pPr lvl="2"/>
                <a:r>
                  <a:rPr lang="en-US" dirty="0"/>
                  <a:t>RB constraint, </a:t>
                </a:r>
              </a:p>
              <a:p>
                <a:pPr lvl="2"/>
                <a:r>
                  <a:rPr lang="en-US" dirty="0"/>
                  <a:t>RB lower/upper constraints. </a:t>
                </a:r>
              </a:p>
              <a:p>
                <a:pPr lvl="1"/>
                <a:r>
                  <a:rPr lang="en-US" dirty="0"/>
                  <a:t>At each SCA iteration, this problem is solved by CVX.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E7B88E-BBEE-EDF0-5132-3DDE32CB7C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73AF6-AC97-4980-231C-D9E91FF20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88636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748AF-A481-959E-1200-9E5BB8940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0409F1-6AEE-D0C8-3B41-58592DD0A2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Second BCD Subproblem</a:t>
                </a:r>
              </a:p>
              <a:p>
                <a:pPr lvl="1"/>
                <a:r>
                  <a:rPr lang="en-US" dirty="0"/>
                  <a:t>Fixed Variables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Optimized Variables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: sensing power for target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: communication beamformer for UE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Beam Selection by Codebook Search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Codebook:</a:t>
                </a:r>
                <a:endParaRPr lang="en-US" b="0" dirty="0">
                  <a:solidFill>
                    <a:srgbClr val="7030A0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𝒞ℬ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,……,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</m:e>
                            </m:acc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𝐶𝐵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For each UE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choose the beam that maximizes SNR: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𝐟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𝐟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𝒞ℬ</m:t>
                            </m:r>
                          </m:lim>
                        </m:limLow>
                      </m:e>
                    </m:func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𝐟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Purpose: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select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best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beam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/>
                      <m:t>maximize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received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SNR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/>
                      <m:t>improve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UE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throughput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0409F1-6AEE-D0C8-3B41-58592DD0A2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59F3E-90E8-C5D9-808E-4623C0A46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3985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6EDF7-0C0A-CE38-EC18-B054B80F2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FE5D73-75AC-B27A-EF5E-769B151022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Why Beam Search Is Simple Here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In this BCD step: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are fixed.</a:t>
                </a:r>
              </a:p>
              <a:p>
                <a:pPr lvl="1"/>
                <a:r>
                  <a:rPr lang="en-US" dirty="0"/>
                  <a:t>So, maximizing SNR becomes equivalent to:</a:t>
                </a:r>
              </a:p>
              <a:p>
                <a:pPr lvl="2"/>
                <a14:m>
                  <m:oMath xmlns:m="http://schemas.openxmlformats.org/officeDocument/2006/math">
                    <m:limLow>
                      <m:limLow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𝐟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𝒞ℬ</m:t>
                        </m:r>
                      </m:lim>
                    </m:limLow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𝐟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Thus, the BS only checks all codebook beams and selects the strongest one.</a:t>
                </a:r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Posterior FIM with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Given fixed sensing RBs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, the posterior FIM becomes: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𝐉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𝐕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where: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𝐕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𝚺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den>
                    </m:f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 now controls the sensing information linearly.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FE5D73-75AC-B27A-EF5E-769B151022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F7DD6F-3285-673F-1CE9-F66BED41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21648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C61AF-F727-5882-75B1-41DD8F7A9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A06F6C-0906-2D03-B28E-4AEC754515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Why This Form Matter</a:t>
                </a:r>
                <a:r>
                  <a:rPr lang="en-US" dirty="0"/>
                  <a:t>s</a:t>
                </a:r>
              </a:p>
              <a:p>
                <a:pPr lvl="1"/>
                <a:r>
                  <a:rPr lang="en-US" dirty="0"/>
                  <a:t>The new form: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𝐉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𝐕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is similar to the previous form: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𝐉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Previous block: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/>
                      <m:t>was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the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main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sensing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variable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Current block: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/>
                      <m:t>is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the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main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sensing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variable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A06F6C-0906-2D03-B28E-4AEC754515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5D3A23-F78D-8C33-7B83-069AA2A20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28792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197C6-2036-852A-EA42-E607BDF10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B40FB3-DDFD-90F3-FE3B-2D300841B6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Transforming PCRB Objective</a:t>
                </a:r>
              </a:p>
              <a:p>
                <a:pPr lvl="1"/>
                <a:r>
                  <a:rPr lang="en-US" dirty="0"/>
                  <a:t>Using the same matrix transformation as Eq. (30):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𝐉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b="1">
                                                <a:latin typeface="Cambria Math" panose="02040503050406030204" pitchFamily="18" charset="0"/>
                                              </a:rPr>
                                              <m:t>𝐕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can be written as:</a:t>
                </a:r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d>
                      <m:dPr>
                        <m:begChr m:val="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where: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𝑚𝑗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𝑚𝑗</m:t>
                        </m:r>
                      </m:sub>
                    </m:sSub>
                  </m:oMath>
                </a14:m>
                <a:r>
                  <a:rPr lang="en-US" dirty="0"/>
                  <a:t> are constants with respect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B40FB3-DDFD-90F3-FE3B-2D300841B6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27781-4B25-35C1-20A8-02C80C351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5748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ACF0B-4374-B8BC-E175-D7EEAF509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B929D7-1406-DFA5-1259-AB00FC3DD0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Subproblem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2.1</m:t>
                    </m:r>
                  </m:oMath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/>
                  <a:t>After beam selection, solve:</a:t>
                </a:r>
              </a:p>
              <a:p>
                <a:pPr lvl="2"/>
                <a14:m>
                  <m:oMath xmlns:m="http://schemas.openxmlformats.org/officeDocument/2006/math">
                    <m:limLow>
                      <m:limLow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lim>
                    </m:limLow>
                    <m:nary>
                      <m:naryPr>
                        <m:chr m:val="∑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nary>
                          <m:naryPr>
                            <m:chr m:val="∑"/>
                            <m:limLoc m:val="undOvr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(</m:t>
                            </m:r>
                          </m:e>
                        </m:nary>
                      </m:e>
                    </m:nary>
                    <m:d>
                      <m:dPr>
                        <m:begChr m:val="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subject to: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sepChr m:val=",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nary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is selected by codebook search, CVX mainly solves for: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B929D7-1406-DFA5-1259-AB00FC3DD0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99FC3-492D-B658-198C-8F0FCB307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79870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7069E-FBFF-C705-1EF6-9D11F8407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C1168F-7403-6405-5537-1A5D92BCF8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Why 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2.1</m:t>
                    </m:r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 Is Easier</a:t>
                </a:r>
              </a:p>
              <a:p>
                <a:pPr lvl="1"/>
                <a:r>
                  <a:rPr lang="en-US" dirty="0"/>
                  <a:t>After fixing: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and selecting: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the remaining variable is sensing power: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objective:</a:t>
                </a:r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d>
                      <m:dPr>
                        <m:begChr m:val="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is convex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when: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𝑚𝑗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&gt;0,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𝑚𝑗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2.1</m:t>
                    </m:r>
                  </m:oMath>
                </a14:m>
                <a:r>
                  <a:rPr lang="en-US" dirty="0"/>
                  <a:t>can be solved by CVX.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C1168F-7403-6405-5537-1A5D92BCF8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82874C-47F0-5434-2E3A-9DBCE9DC8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869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2C54E-4C82-7002-A5F8-5A0A40B92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EFCCDA-7D83-59C0-F992-98DD53E1DB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BCD Algorithm Flow</a:t>
                </a:r>
              </a:p>
              <a:p>
                <a:pPr lvl="1"/>
                <a:r>
                  <a:rPr lang="en-US" dirty="0"/>
                  <a:t>Initialize feasible: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Then repeat:</a:t>
                </a:r>
              </a:p>
              <a:p>
                <a:pPr lvl="2"/>
                <a:r>
                  <a:rPr lang="en-US" dirty="0"/>
                  <a:t>Fix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Solve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1.4</m:t>
                    </m:r>
                  </m:oMath>
                </a14:m>
                <a:r>
                  <a:rPr lang="en-US" dirty="0"/>
                  <a:t> by CVX to obtain: 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Fix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Select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by codebook search </a:t>
                </a:r>
              </a:p>
              <a:p>
                <a:pPr lvl="1"/>
                <a:r>
                  <a:rPr lang="en-US" dirty="0"/>
                  <a:t>Solve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2.1</m:t>
                    </m:r>
                  </m:oMath>
                </a14:m>
                <a:r>
                  <a:rPr lang="en-US" dirty="0"/>
                  <a:t> by CVX to obtain: 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Repeat until objective reduction is small.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EFCCDA-7D83-59C0-F992-98DD53E1DB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357AC-0F0E-3E8A-3E27-ECD1D1014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4104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718</TotalTime>
  <Words>3283</Words>
  <Application>Microsoft Office PowerPoint</Application>
  <PresentationFormat>Widescreen</PresentationFormat>
  <Paragraphs>765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9" baseType="lpstr">
      <vt:lpstr>맑은 고딕</vt:lpstr>
      <vt:lpstr>Arial</vt:lpstr>
      <vt:lpstr>Cambria Math</vt:lpstr>
      <vt:lpstr>Tahoma</vt:lpstr>
      <vt:lpstr>Office 테마</vt:lpstr>
      <vt:lpstr>Resource Allocation for ISAC Networks with Application to Target Tracking</vt:lpstr>
      <vt:lpstr>Table of Contents</vt:lpstr>
      <vt:lpstr>Abstract</vt:lpstr>
      <vt:lpstr>Abstract</vt:lpstr>
      <vt:lpstr>Introduction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Problem Formulation</vt:lpstr>
      <vt:lpstr>Problem Formulation</vt:lpstr>
      <vt:lpstr>Problem Formulation</vt:lpstr>
      <vt:lpstr>Problem Formulation</vt:lpstr>
      <vt:lpstr>Problem Formulation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Jihwan Moon</dc:creator>
  <cp:lastModifiedBy>Refat Khan</cp:lastModifiedBy>
  <cp:revision>9</cp:revision>
  <dcterms:created xsi:type="dcterms:W3CDTF">2018-05-20T06:28:16Z</dcterms:created>
  <dcterms:modified xsi:type="dcterms:W3CDTF">2026-07-07T14:44:13Z</dcterms:modified>
</cp:coreProperties>
</file>