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1420" r:id="rId2"/>
    <p:sldId id="1421" r:id="rId3"/>
    <p:sldId id="1422" r:id="rId4"/>
    <p:sldId id="1423" r:id="rId5"/>
    <p:sldId id="1424" r:id="rId6"/>
    <p:sldId id="1425" r:id="rId7"/>
    <p:sldId id="1426" r:id="rId8"/>
    <p:sldId id="1427" r:id="rId9"/>
    <p:sldId id="1428" r:id="rId10"/>
    <p:sldId id="1429" r:id="rId11"/>
    <p:sldId id="1430" r:id="rId12"/>
    <p:sldId id="1431" r:id="rId13"/>
    <p:sldId id="1432" r:id="rId14"/>
    <p:sldId id="1433" r:id="rId15"/>
    <p:sldId id="1434" r:id="rId16"/>
    <p:sldId id="1435" r:id="rId17"/>
    <p:sldId id="1436" r:id="rId18"/>
    <p:sldId id="1437" r:id="rId19"/>
    <p:sldId id="1438" r:id="rId20"/>
    <p:sldId id="1439" r:id="rId21"/>
    <p:sldId id="1440" r:id="rId22"/>
    <p:sldId id="1465" r:id="rId23"/>
    <p:sldId id="1441" r:id="rId24"/>
    <p:sldId id="1466" r:id="rId25"/>
    <p:sldId id="1442" r:id="rId26"/>
    <p:sldId id="1467" r:id="rId27"/>
    <p:sldId id="1468" r:id="rId28"/>
    <p:sldId id="1469" r:id="rId29"/>
    <p:sldId id="1470" r:id="rId30"/>
    <p:sldId id="1471" r:id="rId31"/>
    <p:sldId id="1472" r:id="rId32"/>
    <p:sldId id="1473" r:id="rId33"/>
    <p:sldId id="1443" r:id="rId34"/>
    <p:sldId id="1444" r:id="rId35"/>
    <p:sldId id="1445" r:id="rId36"/>
    <p:sldId id="1446" r:id="rId37"/>
    <p:sldId id="1447" r:id="rId38"/>
    <p:sldId id="1448" r:id="rId39"/>
    <p:sldId id="1449" r:id="rId40"/>
    <p:sldId id="1450" r:id="rId41"/>
    <p:sldId id="1451" r:id="rId42"/>
    <p:sldId id="1452" r:id="rId43"/>
    <p:sldId id="1453" r:id="rId44"/>
    <p:sldId id="1454" r:id="rId45"/>
    <p:sldId id="1455" r:id="rId46"/>
    <p:sldId id="1456" r:id="rId47"/>
    <p:sldId id="1457" r:id="rId48"/>
    <p:sldId id="1458" r:id="rId49"/>
    <p:sldId id="1459" r:id="rId50"/>
    <p:sldId id="1460" r:id="rId51"/>
    <p:sldId id="1461" r:id="rId52"/>
    <p:sldId id="1462" r:id="rId53"/>
    <p:sldId id="1463" r:id="rId54"/>
    <p:sldId id="1464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514600"/>
            <a:ext cx="9753600" cy="1168400"/>
          </a:xfrm>
        </p:spPr>
        <p:txBody>
          <a:bodyPr lIns="91440" tIns="45720" rIns="91440" bIns="45720" anchor="ctr">
            <a:normAutofit/>
          </a:bodyPr>
          <a:lstStyle/>
          <a:p>
            <a:r>
              <a:rPr lang="en-US" altLang="ko-KR" sz="3000">
                <a:solidFill>
                  <a:srgbClr val="000000"/>
                </a:solidFill>
              </a:rPr>
              <a:t>Resource Allocation for ISAC Networks</a:t>
            </a:r>
            <a:br>
              <a:rPr lang="en-US" altLang="ko-KR" sz="3000">
                <a:solidFill>
                  <a:srgbClr val="000000"/>
                </a:solidFill>
              </a:rPr>
            </a:br>
            <a:r>
              <a:rPr lang="en-US" altLang="ko-KR" sz="3000">
                <a:solidFill>
                  <a:srgbClr val="000000"/>
                </a:solidFill>
              </a:rPr>
              <a:t>with Application to Target Tracking</a:t>
            </a:r>
            <a:endParaRPr lang="ko-KR" altLang="en-US" sz="3000" dirty="0">
              <a:solidFill>
                <a:srgbClr val="000000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400"/>
            <a:ext cx="9144000" cy="1727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050" b="1">
                <a:solidFill>
                  <a:srgbClr val="006666"/>
                </a:solidFill>
              </a:rPr>
              <a:t>AUTHORS</a:t>
            </a:r>
          </a:p>
          <a:p>
            <a:r>
              <a:rPr lang="en-US" sz="1800" b="1">
                <a:solidFill>
                  <a:srgbClr val="111111"/>
                </a:solidFill>
              </a:rPr>
              <a:t>Lu Wang | Luis F. Abanto-Leon</a:t>
            </a:r>
          </a:p>
          <a:p>
            <a:r>
              <a:rPr lang="en-US" sz="1050" b="1">
                <a:solidFill>
                  <a:srgbClr val="006666"/>
                </a:solidFill>
              </a:rPr>
              <a:t>PUBLISHER / VENUE</a:t>
            </a:r>
          </a:p>
          <a:p>
            <a:r>
              <a:rPr lang="en-US" sz="1300">
                <a:solidFill>
                  <a:srgbClr val="444444"/>
                </a:solidFill>
              </a:rPr>
              <a:t>2024 IEEE Globecom Workshops (GC Wkshps)</a:t>
            </a:r>
          </a:p>
          <a:p>
            <a:r>
              <a:rPr lang="en-US" sz="1200">
                <a:solidFill>
                  <a:srgbClr val="666666"/>
                </a:solidFill>
              </a:rPr>
              <a:t>Conference date: 08-12 December 2024</a:t>
            </a:r>
          </a:p>
          <a:p>
            <a:r>
              <a:rPr lang="en-US" sz="1200">
                <a:solidFill>
                  <a:srgbClr val="666666"/>
                </a:solidFill>
              </a:rPr>
              <a:t>Added to IEEE Xplore: 12 August 2025</a:t>
            </a:r>
            <a:endParaRPr lang="en-US" altLang="ko-KR" sz="1200" dirty="0">
              <a:solidFill>
                <a:srgbClr val="666666"/>
              </a:solidFill>
              <a:ea typeface="맑은 고딕"/>
              <a:cs typeface="Arial"/>
            </a:endParaRPr>
          </a:p>
        </p:txBody>
      </p:sp>
      <p:sp>
        <p:nvSpPr>
          <p:cNvPr id="6" name="슬라이드 번호 개체 틀 5" hidden="1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BE7B-EA96-E19A-68A5-22C3C378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5200"/>
            <a:ext cx="9652000" cy="736600"/>
          </a:xfrm>
        </p:spPr>
        <p:txBody>
          <a:bodyPr/>
          <a:lstStyle/>
          <a:p>
            <a:r>
              <a:rPr lang="en-US" sz="3400">
                <a:solidFill>
                  <a:srgbClr val="000000"/>
                </a:solidFill>
              </a:rPr>
              <a:t>Table of Contents</a:t>
            </a:r>
            <a:endParaRPr lang="en-US" sz="34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03C3-4F25-588B-9535-4DE143BE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54393-FE40-4B55-C7D6-18DE97A05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1179A-1590-A110-840B-37B620A088D3}"/>
              </a:ext>
            </a:extLst>
          </p:cNvPr>
          <p:cNvSpPr/>
          <p:nvPr/>
        </p:nvSpPr>
        <p:spPr>
          <a:xfrm>
            <a:off x="1333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24D661-19C1-4965-A4D1-9AA5243CA8B4}"/>
              </a:ext>
            </a:extLst>
          </p:cNvPr>
          <p:cNvSpPr txBox="1"/>
          <p:nvPr/>
        </p:nvSpPr>
        <p:spPr>
          <a:xfrm>
            <a:off x="2019300" y="20828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Paper overview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3-5 | Motivation, research gap, proposed resource framework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74924-56B2-BECA-95AE-AC2250E73649}"/>
              </a:ext>
            </a:extLst>
          </p:cNvPr>
          <p:cNvSpPr/>
          <p:nvPr/>
        </p:nvSpPr>
        <p:spPr>
          <a:xfrm>
            <a:off x="2019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F0C36-7F6A-548F-D515-A0001CA4CC6C}"/>
              </a:ext>
            </a:extLst>
          </p:cNvPr>
          <p:cNvSpPr/>
          <p:nvPr/>
        </p:nvSpPr>
        <p:spPr>
          <a:xfrm>
            <a:off x="1333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0213A-F553-C824-FD1C-B9054B37669A}"/>
              </a:ext>
            </a:extLst>
          </p:cNvPr>
          <p:cNvSpPr txBox="1"/>
          <p:nvPr/>
        </p:nvSpPr>
        <p:spPr>
          <a:xfrm>
            <a:off x="2019300" y="31242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ISAC system and sensing model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6-16 | Protocol, resources, echo model, target measurements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66ADC1-D467-B8DE-3FAD-283B0A080EE6}"/>
              </a:ext>
            </a:extLst>
          </p:cNvPr>
          <p:cNvSpPr/>
          <p:nvPr/>
        </p:nvSpPr>
        <p:spPr>
          <a:xfrm>
            <a:off x="2019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529FFB-EB52-44BC-D46E-B46762D64E3E}"/>
              </a:ext>
            </a:extLst>
          </p:cNvPr>
          <p:cNvSpPr/>
          <p:nvPr/>
        </p:nvSpPr>
        <p:spPr>
          <a:xfrm>
            <a:off x="1333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47FC1B-3736-F602-7CB5-4B251EBC2F46}"/>
              </a:ext>
            </a:extLst>
          </p:cNvPr>
          <p:cNvSpPr txBox="1"/>
          <p:nvPr/>
        </p:nvSpPr>
        <p:spPr>
          <a:xfrm>
            <a:off x="2019300" y="41656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Tracking and communication models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17-27 | Posterior CRB, EKF update, UE channel and throughput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7F0908-F03E-B2D1-4FD9-01F19C675F39}"/>
              </a:ext>
            </a:extLst>
          </p:cNvPr>
          <p:cNvSpPr/>
          <p:nvPr/>
        </p:nvSpPr>
        <p:spPr>
          <a:xfrm>
            <a:off x="2019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A919BB-00C0-3BB9-D0EF-854A7A45E7CF}"/>
              </a:ext>
            </a:extLst>
          </p:cNvPr>
          <p:cNvSpPr/>
          <p:nvPr/>
        </p:nvSpPr>
        <p:spPr>
          <a:xfrm>
            <a:off x="6794500" y="21209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C4A69-7E62-6F27-6951-C083BB4E8903}"/>
              </a:ext>
            </a:extLst>
          </p:cNvPr>
          <p:cNvSpPr txBox="1"/>
          <p:nvPr/>
        </p:nvSpPr>
        <p:spPr>
          <a:xfrm>
            <a:off x="7480300" y="2082800"/>
            <a:ext cx="4216400" cy="4185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Optimization problem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28-32 | Joint variables, QoS constraints, power/RB limits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AD9C96-7BC9-87EB-8B82-AD6364377BDE}"/>
              </a:ext>
            </a:extLst>
          </p:cNvPr>
          <p:cNvSpPr/>
          <p:nvPr/>
        </p:nvSpPr>
        <p:spPr>
          <a:xfrm>
            <a:off x="7480300" y="29083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985955-4189-1447-6A09-945932E7B77D}"/>
              </a:ext>
            </a:extLst>
          </p:cNvPr>
          <p:cNvSpPr/>
          <p:nvPr/>
        </p:nvSpPr>
        <p:spPr>
          <a:xfrm>
            <a:off x="6794500" y="31623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BE2BA-8B48-8877-A784-8536FE1559B7}"/>
              </a:ext>
            </a:extLst>
          </p:cNvPr>
          <p:cNvSpPr txBox="1"/>
          <p:nvPr/>
        </p:nvSpPr>
        <p:spPr>
          <a:xfrm>
            <a:off x="7480300" y="31242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PCRB objective reformulation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33-45 | Resource-dependent FIM, scalarization, SCA relaxation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7A0E0-CE78-B14B-9E82-4A5F902E9B6E}"/>
              </a:ext>
            </a:extLst>
          </p:cNvPr>
          <p:cNvSpPr/>
          <p:nvPr/>
        </p:nvSpPr>
        <p:spPr>
          <a:xfrm>
            <a:off x="7480300" y="39497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2CBBFF-63A4-569F-6A62-CD05DF0C6BC0}"/>
              </a:ext>
            </a:extLst>
          </p:cNvPr>
          <p:cNvSpPr/>
          <p:nvPr/>
        </p:nvSpPr>
        <p:spPr>
          <a:xfrm>
            <a:off x="6794500" y="4203700"/>
            <a:ext cx="533400" cy="355600"/>
          </a:xfrm>
          <a:prstGeom prst="rect">
            <a:avLst/>
          </a:prstGeom>
          <a:solidFill>
            <a:srgbClr val="00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0B428B-D8C2-2B5C-3A43-EEF4FCEFD937}"/>
              </a:ext>
            </a:extLst>
          </p:cNvPr>
          <p:cNvSpPr txBox="1"/>
          <p:nvPr/>
        </p:nvSpPr>
        <p:spPr>
          <a:xfrm>
            <a:off x="7480300" y="4165600"/>
            <a:ext cx="4216400" cy="5909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E1E1E"/>
                </a:solidFill>
                <a:latin typeface="Arial" panose="020B0604020202020204" pitchFamily="34" charset="0"/>
              </a:rPr>
              <a:t>BCD solution flow</a:t>
            </a:r>
          </a:p>
          <a:p>
            <a:r>
              <a:rPr lang="en-US" sz="1120">
                <a:solidFill>
                  <a:srgbClr val="585858"/>
                </a:solidFill>
                <a:latin typeface="Arial" panose="020B0604020202020204" pitchFamily="34" charset="0"/>
              </a:rPr>
              <a:t>Slides 46-54 | Penalty method, beam search, sensing power update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4C96C3-6E72-AAD5-52DE-7177961E4A90}"/>
              </a:ext>
            </a:extLst>
          </p:cNvPr>
          <p:cNvSpPr/>
          <p:nvPr/>
        </p:nvSpPr>
        <p:spPr>
          <a:xfrm>
            <a:off x="7480300" y="4991100"/>
            <a:ext cx="3937000" cy="15240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0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3D23-6B31-C2E3-D549-1722C02D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D9485-928A-9526-8D21-47457D3CD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 and Research Gap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Dynamic ISAC Resource for 6G</a:t>
            </a:r>
          </a:p>
          <a:p>
            <a:pPr lvl="2"/>
            <a:r>
              <a:rPr lang="en-US" dirty="0"/>
              <a:t>6G ISAC integrates sensing and communication in one system</a:t>
            </a:r>
          </a:p>
          <a:p>
            <a:pPr lvl="2"/>
            <a:r>
              <a:rPr lang="en-US" dirty="0"/>
              <a:t>Limited resources may increase traffic congestion</a:t>
            </a:r>
          </a:p>
          <a:p>
            <a:pPr lvl="2"/>
            <a:r>
              <a:rPr lang="en-US" dirty="0"/>
              <a:t>Existing methods are insufficient for :</a:t>
            </a:r>
          </a:p>
          <a:p>
            <a:pPr lvl="3"/>
            <a:r>
              <a:rPr lang="en-US" dirty="0"/>
              <a:t>Frequent target tracking in every frame</a:t>
            </a:r>
          </a:p>
          <a:p>
            <a:pPr lvl="3"/>
            <a:r>
              <a:rPr lang="en-US" dirty="0"/>
              <a:t>Simultaneous communication with users</a:t>
            </a:r>
          </a:p>
          <a:p>
            <a:pPr lvl="3"/>
            <a:r>
              <a:rPr lang="en-US" dirty="0"/>
              <a:t>Target movement and time-varying channels</a:t>
            </a:r>
          </a:p>
          <a:p>
            <a:pPr lvl="3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B9A8D-8A79-C9B8-61BC-5BE520FA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82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4A14-9F40-06FB-FB32-D62349BB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F67E6-CDD4-F419-BE74-1DC801CFA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Proposed Solution and Key Idea</a:t>
                </a:r>
              </a:p>
              <a:p>
                <a:pPr lvl="1"/>
                <a:r>
                  <a:rPr lang="en-US" dirty="0"/>
                  <a:t>Joint Multi-Domain Resource Allocation</a:t>
                </a:r>
              </a:p>
              <a:p>
                <a:pPr lvl="2"/>
                <a:r>
                  <a:rPr lang="en-US" dirty="0"/>
                  <a:t>Jointly allocates:</a:t>
                </a:r>
              </a:p>
              <a:p>
                <a:pPr lvl="3"/>
                <a:r>
                  <a:rPr lang="en-US" dirty="0"/>
                  <a:t>Time , Frequency, Power, Spatial/beam resource</a:t>
                </a:r>
              </a:p>
              <a:p>
                <a:pPr lvl="2"/>
                <a:r>
                  <a:rPr lang="en-US" dirty="0"/>
                  <a:t>Objective: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Posterior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CRB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Constraints:</a:t>
                </a:r>
              </a:p>
              <a:p>
                <a:pPr lvl="3"/>
                <a:r>
                  <a:rPr lang="en-US" dirty="0"/>
                  <a:t>Communication throughput</a:t>
                </a:r>
              </a:p>
              <a:p>
                <a:pPr lvl="3"/>
                <a:r>
                  <a:rPr lang="en-US" dirty="0"/>
                  <a:t>Resource allocation limit</a:t>
                </a:r>
              </a:p>
              <a:p>
                <a:pPr lvl="2"/>
                <a:r>
                  <a:rPr lang="en-US" dirty="0"/>
                  <a:t>Solution: BCD + penalty method + SCA + one-dimensional search</a:t>
                </a:r>
              </a:p>
              <a:p>
                <a:pPr lvl="2"/>
                <a:r>
                  <a:rPr lang="en-US" dirty="0"/>
                  <a:t>Shows sensing communication trade-off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F67E6-CDD4-F419-BE74-1DC801CFA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2837B-9BCB-8463-EC4B-EF61DA394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3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1E21-40C8-D63B-4E7E-9A1862BB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A19B-16AB-E268-AECB-65E04A7543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Motivating and Research Gap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Dynamic ISAC Resource Allocation for 6G</a:t>
                </a:r>
              </a:p>
              <a:p>
                <a:pPr lvl="2"/>
                <a:r>
                  <a:rPr lang="en-US" dirty="0"/>
                  <a:t>6G ISAC supports both sensing and communication in one system.</a:t>
                </a:r>
              </a:p>
              <a:p>
                <a:pPr lvl="2"/>
                <a:r>
                  <a:rPr lang="en-US" dirty="0" err="1"/>
                  <a:t>mmWave</a:t>
                </a:r>
                <a:r>
                  <a:rPr lang="en-US" dirty="0"/>
                  <a:t> bands provide large bandwidth for high data rate and sensing resolution</a:t>
                </a:r>
              </a:p>
              <a:p>
                <a:pPr lvl="2"/>
                <a:r>
                  <a:rPr lang="en-US" dirty="0"/>
                  <a:t>Existing ISAC resource allocation </a:t>
                </a:r>
                <a:r>
                  <a:rPr lang="en-US" dirty="0">
                    <a:solidFill>
                      <a:srgbClr val="7030A0"/>
                    </a:solidFill>
                  </a:rPr>
                  <a:t>mostly considers one snapshot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In practice, targets and users move, so CSI changes over time</a:t>
                </a:r>
              </a:p>
              <a:p>
                <a:pPr lvl="2"/>
                <a:r>
                  <a:rPr lang="en-US" dirty="0"/>
                  <a:t>Key gap : target tracking only at the frame beginning is not enough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Proposed Framework</a:t>
                </a:r>
              </a:p>
              <a:p>
                <a:pPr lvl="2"/>
                <a:r>
                  <a:rPr lang="en-US" dirty="0"/>
                  <a:t>Target tracking and UE communication occur in every frame</a:t>
                </a:r>
              </a:p>
              <a:p>
                <a:pPr lvl="2"/>
                <a:r>
                  <a:rPr lang="en-US" dirty="0"/>
                  <a:t>EKF predicts and tracks target states without requiring instant BS-target CSI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Optimization objection: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Posterior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CRB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Constraints: </a:t>
                </a:r>
                <a:r>
                  <a:rPr lang="en-US" dirty="0"/>
                  <a:t>communication throughput + practical resource limits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Solution: </a:t>
                </a:r>
                <a:r>
                  <a:rPr lang="en-US" dirty="0"/>
                  <a:t>BCD with penalty method, SCA and one-dimensional search.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4AA19B-16AB-E268-AECB-65E04A754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C6AEC-D3CA-36EE-29E3-5109584A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1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59C5-4C05-8574-6BD8-50B2D399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09CFA1-5D5B-B8B2-BE75-3B847EC3C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2" y="1739152"/>
            <a:ext cx="9953097" cy="34682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30FAD-F2E8-A6B8-4C85-F09C6B91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AC06B-4E09-6AC2-C9A6-DD9635412E59}"/>
              </a:ext>
            </a:extLst>
          </p:cNvPr>
          <p:cNvSpPr txBox="1"/>
          <p:nvPr/>
        </p:nvSpPr>
        <p:spPr>
          <a:xfrm>
            <a:off x="1837765" y="4912659"/>
            <a:ext cx="744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Fig.1. </a:t>
            </a:r>
            <a:r>
              <a:rPr lang="en-US" dirty="0"/>
              <a:t>Transmission protocol of ISAC system</a:t>
            </a:r>
          </a:p>
        </p:txBody>
      </p:sp>
    </p:spTree>
    <p:extLst>
      <p:ext uri="{BB962C8B-B14F-4D97-AF65-F5344CB8AC3E}">
        <p14:creationId xmlns:p14="http://schemas.microsoft.com/office/powerpoint/2010/main" val="386058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9A28E-B98F-D061-C12A-9F566337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16F11-2236-873D-0DAB-4571A6195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mmWave ISAC Network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BS with ULA: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transmit antennas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receive antennas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Serves: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moving targets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single-antenna Ues.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Performs joint:</a:t>
                </a:r>
              </a:p>
              <a:p>
                <a:pPr lvl="2"/>
                <a:r>
                  <a:rPr lang="en-US" dirty="0"/>
                  <a:t>Communication</a:t>
                </a:r>
              </a:p>
              <a:p>
                <a:pPr lvl="2"/>
                <a:r>
                  <a:rPr lang="en-US" dirty="0"/>
                  <a:t>Location tracking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At the beginning of each frame:</a:t>
                </a:r>
              </a:p>
              <a:p>
                <a:pPr lvl="2"/>
                <a:r>
                  <a:rPr lang="en-US" dirty="0"/>
                  <a:t>Resources are allocated</a:t>
                </a:r>
              </a:p>
              <a:p>
                <a:pPr lvl="2"/>
                <a:r>
                  <a:rPr lang="en-US" dirty="0"/>
                  <a:t>Target states are predicted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16F11-2236-873D-0DAB-4571A6195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0D808-5E65-4A5E-0C2E-A890ABF9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592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050D9-3363-62F9-7FD2-45B46B36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70B328-D2CF-F336-E672-3EE6CBAAE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Resource Allocation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Four-Dimensional Resource Allocation</a:t>
                </a:r>
              </a:p>
              <a:p>
                <a:pPr lvl="2"/>
                <a:r>
                  <a:rPr lang="en-US" dirty="0"/>
                  <a:t>Frequency: resource blocks RBS </a:t>
                </a:r>
              </a:p>
              <a:p>
                <a:pPr lvl="2"/>
                <a:r>
                  <a:rPr lang="en-US" dirty="0"/>
                  <a:t>Time: mini-slots</a:t>
                </a:r>
              </a:p>
              <a:p>
                <a:pPr lvl="2"/>
                <a:r>
                  <a:rPr lang="en-US" dirty="0"/>
                  <a:t>Power: transmit power</a:t>
                </a:r>
              </a:p>
              <a:p>
                <a:pPr lvl="2"/>
                <a:r>
                  <a:rPr lang="en-US" dirty="0"/>
                  <a:t>Spatial: beams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Each resource constraint: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slot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Total resource constraint: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𝑅𝐵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Allocated bandwidth: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for target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for 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70B328-D2CF-F336-E672-3EE6CBAAE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97A1F-0012-BFDB-99C6-CB6AF56D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71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1721-FD76-A1AD-BF45-0D65941E8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8BDD0-D5A9-CA29-86ED-E43A65F4B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Received Echo at the BS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rad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targets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Allocated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sensing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power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delay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Doppler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shift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Sensing channel: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reflection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coefficient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receive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steering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vector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transmit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steering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vector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AoA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AoD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D8BDD0-D5A9-CA29-86ED-E43A65F4B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1B80F-DCD9-5382-FE3A-E91F6F2A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20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04B6-E8AA-8232-17DA-E192EEB7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9FF31-74C8-C013-E4E4-DC4A0ABAE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Reflection Coefficient: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transmit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antennas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receive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antennas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carrier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wavelength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cross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section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distance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𝑤𝑒𝑎𝑘𝑒𝑟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𝑒𝑐h𝑜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Transmit Steering Vector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,…..,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vector represents the spatial direction of the transmitted sensing beam.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9FF31-74C8-C013-E4E4-DC4A0ABAE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A823D-7B6D-CF24-D5EB-38015458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087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8438-3D7F-0DAB-93A6-1309C6A4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1423CE-831E-F050-628D-14E5E22D51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Receive Steering Vector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𝑑𝑠𝑖𝑛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,…..,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Beamforming Vector</a:t>
                </a:r>
              </a:p>
              <a:p>
                <a:pPr lvl="2"/>
                <a:r>
                  <a:rPr lang="en-US" dirty="0"/>
                  <a:t>The transmit beamformer points to the predicted </a:t>
                </a:r>
                <a:r>
                  <a:rPr lang="en-US" dirty="0" err="1"/>
                  <a:t>AoD</a:t>
                </a:r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 where:</a:t>
                </a:r>
              </a:p>
              <a:p>
                <a:pPr lvl="4"/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Beam is designed using prediction, not perfect current target CSI</a:t>
                </a:r>
              </a:p>
              <a:p>
                <a:pPr lvl="3"/>
                <a:r>
                  <a:rPr lang="en-US" dirty="0"/>
                  <a:t>Target prediction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beam direction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sensing echo quality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Target State Vector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Each target follows constant-velocity motion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position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velocity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1423CE-831E-F050-628D-14E5E22D51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0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9D22-0E60-1D76-C6CC-C78218DA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75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C80B-F9AC-25C4-910D-7DFC3C4D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30788-21F4-C727-6550-87DAD626E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Sensing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Tracking Purpose</a:t>
                </a:r>
              </a:p>
              <a:p>
                <a:pPr lvl="2"/>
                <a:r>
                  <a:rPr lang="en-US" dirty="0"/>
                  <a:t>The sensing model provides measurements for tracking: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echo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signal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 the paper uses:</a:t>
                </a:r>
              </a:p>
              <a:p>
                <a:pPr lvl="3"/>
                <a:r>
                  <a:rPr lang="en-US" dirty="0"/>
                  <a:t>State prediction + measurement model + PCRB</a:t>
                </a:r>
              </a:p>
              <a:p>
                <a:pPr lvl="3"/>
                <a:r>
                  <a:rPr lang="en-US" dirty="0"/>
                  <a:t>To evaluate target localization tracking performance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State Evolution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Constant Velocity Target Motion</a:t>
                </a:r>
              </a:p>
              <a:p>
                <a:pPr lvl="2"/>
                <a:r>
                  <a:rPr lang="en-US" dirty="0"/>
                  <a:t>For target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motion between frame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and frame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frame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transition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matrix</m:t>
                    </m:r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process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30788-21F4-C727-6550-87DAD626E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DDA93-4654-E062-6F93-4957FDBD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82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7E4C-C0FF-3087-F87F-2C602513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4E975-3FC9-36BD-8A62-E757A8D64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State Evolution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Transition Matrix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interval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between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adjacent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frames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2 −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dimensional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identity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matrix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Kronecker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Product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Process Noise Model</a:t>
                </a:r>
              </a:p>
              <a:p>
                <a:pPr lvl="2"/>
                <a:r>
                  <a:rPr lang="en-US" b="0" dirty="0"/>
                  <a:t>The process noise is 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Target motion is not perfectly predictable</a:t>
                </a:r>
              </a:p>
              <a:p>
                <a:pPr lvl="3"/>
                <a:r>
                  <a:rPr lang="en-US" b="0" dirty="0"/>
                  <a:t>Acceleration or random maneuvering is modeled as noise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  <a:r>
                  <a:rPr lang="en-US" b="0" dirty="0">
                    <a:solidFill>
                      <a:srgbClr val="0070C0"/>
                    </a:solidFill>
                  </a:rPr>
                  <a:t>controls the motion uncertainty</a:t>
                </a:r>
              </a:p>
              <a:p>
                <a:pPr lvl="2"/>
                <a:r>
                  <a:rPr lang="en-US" dirty="0"/>
                  <a:t>Usually larger  process noise means: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prediction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uncertainty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increases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state evaluation model provides the prediction step: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→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Previous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sensing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tracking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update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evaluation</m:t>
                    </m:r>
                  </m:oMath>
                </a14:m>
                <a:endParaRPr lang="en-US" b="0" dirty="0"/>
              </a:p>
              <a:p>
                <a:pPr lvl="3"/>
                <a:endParaRPr lang="en-US" b="0" dirty="0"/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4E975-3FC9-36BD-8A62-E757A8D64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D3916-39AD-33A3-DF34-26AF3734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67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80DF-D6B2-A8A5-66D6-3F4C9753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96030-B5EE-2718-2107-C60AA225D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Distance and </a:t>
                </a:r>
                <a:r>
                  <a:rPr lang="en-US" dirty="0" err="1">
                    <a:solidFill>
                      <a:srgbClr val="7030A0"/>
                    </a:solidFill>
                  </a:rPr>
                  <a:t>AoA</a:t>
                </a:r>
                <a:r>
                  <a:rPr lang="en-US" dirty="0">
                    <a:solidFill>
                      <a:srgbClr val="7030A0"/>
                    </a:solidFill>
                  </a:rPr>
                  <a:t>-Based Localization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Distance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between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BS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toward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BS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Mapping from State to Measurement</a:t>
                </a:r>
              </a:p>
              <a:p>
                <a:pPr lvl="2"/>
                <a:r>
                  <a:rPr lang="en-US" dirty="0"/>
                  <a:t>Target state: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Measurement function: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96030-B5EE-2718-2107-C60AA225D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8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52FB6-1AE1-3F77-D60C-FF6881E0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809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DF11-4E2C-0805-AD2F-DBF897DA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66BEE-2603-45EA-4F89-EDA3AC6850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Measurement Noise Covariance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distance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estimation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variance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AoA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estimatin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variance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Distance Estimatin CRB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distance accuracy improves with:</a:t>
                </a:r>
              </a:p>
              <a:p>
                <a:pPr lvl="3"/>
                <a:r>
                  <a:rPr lang="en-US" dirty="0"/>
                  <a:t>Higher sensing power</a:t>
                </a:r>
              </a:p>
              <a:p>
                <a:pPr lvl="3"/>
                <a:r>
                  <a:rPr lang="en-US" dirty="0"/>
                  <a:t>Stronger sensing power</a:t>
                </a:r>
              </a:p>
              <a:p>
                <a:pPr lvl="3"/>
                <a:r>
                  <a:rPr lang="en-US" dirty="0"/>
                  <a:t>Larger allocated bandwidth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D66BEE-2603-45EA-4F89-EDA3AC685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B0126-58AC-A2EC-862A-F0C8DB9F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086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97C0-4D67-3D16-FCEC-71606AB6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BAED0-AE8F-616D-7AF5-895826E226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 Model</a:t>
                </a:r>
              </a:p>
              <a:p>
                <a:pPr lvl="1"/>
                <a:r>
                  <a:rPr lang="en-US" dirty="0" err="1"/>
                  <a:t>AoA</a:t>
                </a:r>
                <a:r>
                  <a:rPr lang="en-US" dirty="0"/>
                  <a:t> Estimatin CRB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>
                                                <a:latin typeface="Cambria Math" panose="02040503050406030204" pitchFamily="18" charset="0"/>
                                              </a:rPr>
                                              <m:t>𝐇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sup>
                                        </m:sSubSup>
                                        <m:sSubSup>
                                          <m:sSub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>
                                                <a:latin typeface="Cambria Math" panose="02040503050406030204" pitchFamily="18" charset="0"/>
                                              </a:rPr>
                                              <m:t>𝐟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𝑛𝑛</m:t>
                        </m:r>
                      </m:sub>
                    </m:sSub>
                  </m:oMath>
                </a14:m>
                <a:r>
                  <a:rPr lang="en-US" dirty="0"/>
                  <a:t> is the null-to-null beamwidth of the receive antenna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Better beam/channel quality improves </a:t>
                </a:r>
                <a:r>
                  <a:rPr lang="en-US" dirty="0" err="1"/>
                  <a:t>AoA</a:t>
                </a:r>
                <a:r>
                  <a:rPr lang="en-US" dirty="0"/>
                  <a:t> estimation</a:t>
                </a:r>
              </a:p>
              <a:p>
                <a:pPr lvl="2"/>
                <a:r>
                  <a:rPr lang="en-US" dirty="0"/>
                  <a:t>This measurement model connects sensing resources to tracking accuracy: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resource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smaller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lower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better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tracking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8BAED0-AE8F-616D-7AF5-895826E226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24162-E8E7-ABE1-2B19-1137E1B0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78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C883-26FA-7BD5-3CF1-70291D07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D9D02-645D-22A1-07C0-3D6970315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Tracking Performance Matric</a:t>
                </a:r>
              </a:p>
              <a:p>
                <a:pPr lvl="2"/>
                <a:r>
                  <a:rPr lang="en-US" dirty="0"/>
                  <a:t>The posterior FIM is 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prior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prediction</m:t>
                    </m:r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data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current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sensing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Prior FIM</a:t>
                </a:r>
              </a:p>
              <a:p>
                <a:pPr lvl="2"/>
                <a:r>
                  <a:rPr lang="en-US" dirty="0"/>
                  <a:t>Information Propagated from Previous Frame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𝐉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</m:e>
                            </m:d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Previous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uncertainty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prior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informatin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frame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D9D02-645D-22A1-07C0-3D6970315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7982E-1F9E-EE6B-54E7-BD61B268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606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DEAA-A5D1-D156-0C3B-7E8CCA4A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69BB69-418D-E5C3-D08C-292E39CA0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Information from Current Measurement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𝛏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Jacobian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function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covariance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Resource Dependence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Measurement Covariance Depends on Resource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𝐉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69BB69-418D-E5C3-D08C-292E39CA0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AFB1C-69C7-B123-237B-124442E4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03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47DB-9EC4-D12D-B938-96333C9E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D4506-036B-D645-26D7-E3859C0F5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CRB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Predictive PCRB</a:t>
                </a:r>
              </a:p>
              <a:p>
                <a:pPr lvl="2"/>
                <a:r>
                  <a:rPr lang="en-US" dirty="0"/>
                  <a:t>Inverse of Posterior FIM</a:t>
                </a:r>
              </a:p>
              <a:p>
                <a:pPr lvl="3"/>
                <a:r>
                  <a:rPr lang="en-US" dirty="0"/>
                  <a:t>The predictive PCRB is 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Tracking performance is evaluated by: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Smaller trace:</a:t>
                </a:r>
              </a:p>
              <a:p>
                <a:pPr lvl="4"/>
                <a:r>
                  <a:rPr lang="en-US" dirty="0"/>
                  <a:t>Lower tracking uncertainty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better localization tracking</a:t>
                </a:r>
              </a:p>
              <a:p>
                <a:pPr lvl="4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D4506-036B-D645-26D7-E3859C0F5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C61E-BF3E-A37A-C707-A5CEF3AA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138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BCF8-4F55-E416-D11B-4DF8538E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16C5A-E60C-8908-3E64-07E213014C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EKF-Based Prediction</a:t>
                </a:r>
              </a:p>
              <a:p>
                <a:pPr lvl="1"/>
                <a:r>
                  <a:rPr lang="en-US" dirty="0"/>
                  <a:t>After receiving reflected echoes, the BS estimates: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EKF </a:t>
                </a:r>
                <a:r>
                  <a:rPr lang="en-US" dirty="0">
                    <a:solidFill>
                      <a:srgbClr val="7030A0"/>
                    </a:solidFill>
                  </a:rPr>
                  <a:t>predicts and updates the target state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State vector: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1: State Prediction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Predict current state using previous estimated state</a:t>
                </a:r>
              </a:p>
              <a:p>
                <a:pPr lvl="2"/>
                <a:r>
                  <a:rPr lang="en-US" dirty="0"/>
                  <a:t>No current measurement is used yet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2: MSE Matrix Prediction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estimate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covariance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process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Motion uncertainty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prediction uncertainty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16C5A-E60C-8908-3E64-07E213014C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4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01C39-4583-B0B8-A939-6E8F1B10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671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7F3B-426C-CBF0-53FA-56AD36DE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F6BA13-99E6-72F9-9C46-284B4E928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EKF-Based Prediction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3: Kalman Gain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𝐐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Controls how much the EKF trust the new measurement</a:t>
                </a:r>
              </a:p>
              <a:p>
                <a:pPr lvl="3"/>
                <a:r>
                  <a:rPr lang="en-US" dirty="0"/>
                  <a:t>Smaller measurement 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larger measurement trust</a:t>
                </a:r>
              </a:p>
              <a:p>
                <a:pPr lvl="3"/>
                <a:r>
                  <a:rPr lang="en-US" dirty="0"/>
                  <a:t>Larger prediction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stronger correction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4: State Tracking Update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𝛏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Actual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measurement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measur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ment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EKF corrects prediction using this mismatch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Step 5: MSE Matrix Update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Update MSE matrix after using measurement </a:t>
                </a:r>
              </a:p>
              <a:p>
                <a:pPr lvl="2"/>
                <a:r>
                  <a:rPr lang="en-US" dirty="0"/>
                  <a:t>Tracking uncertainty is reduced after measurement update</a:t>
                </a:r>
              </a:p>
              <a:p>
                <a:pPr lvl="3"/>
                <a:r>
                  <a:rPr lang="en-US" dirty="0"/>
                  <a:t>Prediction covariance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Updated covariance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F6BA13-99E6-72F9-9C46-284B4E928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49C8D-EFFD-46E2-0B08-A2309B74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276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8B4C-BEE7-3DBB-CD6C-AC11A59C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9901D-A43E-EFAC-E278-DDDABABB7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Communication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Downlink UE Channel</a:t>
                </a:r>
              </a:p>
              <a:p>
                <a:pPr lvl="2"/>
                <a:r>
                  <a:rPr lang="en-US" dirty="0"/>
                  <a:t>BS communicates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single-antenna UEs. </a:t>
                </a:r>
              </a:p>
              <a:p>
                <a:pPr lvl="2"/>
                <a:r>
                  <a:rPr lang="en-US" dirty="0"/>
                  <a:t>The channel varies from frame to frame. </a:t>
                </a:r>
              </a:p>
              <a:p>
                <a:pPr lvl="2"/>
                <a:r>
                  <a:rPr lang="en-US" dirty="0"/>
                  <a:t>Temporal dynamicity is considered. </a:t>
                </a:r>
              </a:p>
              <a:p>
                <a:pPr lvl="2"/>
                <a:r>
                  <a:rPr lang="en-US" dirty="0"/>
                  <a:t>Frequency selectivity is ignored.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̌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Channel Dynamicity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̌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time correlation between adjacent frames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̌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complex Gaussian channel noise 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channel changes slowly </a:t>
                </a:r>
              </a:p>
              <a:p>
                <a:pPr lvl="2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channel changes rapidly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9901D-A43E-EFAC-E278-DDDABABB7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D822A-EEF0-A6AF-E252-A19B417B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731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1AB3-D896-6ACB-16BA-E9610E0C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635E4-18DC-2343-9E36-3C858EB4DE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Original objective: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hard because it contains:</a:t>
                </a:r>
              </a:p>
              <a:p>
                <a:pPr lvl="3"/>
                <a:r>
                  <a:rPr lang="en-US" dirty="0"/>
                  <a:t>matrix inverse, </a:t>
                </a:r>
              </a:p>
              <a:p>
                <a:pPr lvl="3"/>
                <a:r>
                  <a:rPr lang="en-US" dirty="0"/>
                  <a:t>trace operation, </a:t>
                </a:r>
              </a:p>
              <a:p>
                <a:pPr lvl="3"/>
                <a:r>
                  <a:rPr lang="en-US" dirty="0"/>
                  <a:t>nonlinear dependence on resource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>
                    <a:solidFill>
                      <a:srgbClr val="0000FF"/>
                    </a:solidFill>
                  </a:rPr>
                  <a:t>Goal: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matrix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PCRB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objective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scalar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optimization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friendly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form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635E4-18DC-2343-9E36-3C858EB4DE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85EEF-A5EB-8EF3-7E04-C13E6E5E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146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CB94-3711-01B9-138B-A6BFE2B6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226E9-4C6B-BE96-1578-D44BB68D41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Communication Model</a:t>
                </a:r>
              </a:p>
              <a:p>
                <a:pPr lvl="1"/>
                <a:r>
                  <a:rPr lang="en-US" dirty="0"/>
                  <a:t>Initial </a:t>
                </a:r>
                <a:r>
                  <a:rPr lang="en-US" dirty="0" err="1"/>
                  <a:t>mmWave</a:t>
                </a:r>
                <a:r>
                  <a:rPr lang="en-US" dirty="0"/>
                  <a:t> Channel</a:t>
                </a:r>
              </a:p>
              <a:p>
                <a:pPr lvl="2"/>
                <a:r>
                  <a:rPr lang="en-US" dirty="0"/>
                  <a:t>At the first frame: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den>
                        </m:f>
                      </m:e>
                    </m:rad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: number of paths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channel coefficient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AoD</a:t>
                </a:r>
                <a:r>
                  <a:rPr lang="en-US" dirty="0"/>
                  <a:t> of path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 Codebook Beamforming?</a:t>
                </a:r>
              </a:p>
              <a:p>
                <a:pPr lvl="2"/>
                <a:r>
                  <a:rPr lang="en-US" dirty="0" err="1"/>
                  <a:t>mmWave</a:t>
                </a:r>
                <a:r>
                  <a:rPr lang="en-US" dirty="0"/>
                  <a:t> suffers from severe path loss. </a:t>
                </a:r>
              </a:p>
              <a:p>
                <a:pPr lvl="2"/>
                <a:r>
                  <a:rPr lang="en-US" dirty="0"/>
                  <a:t>Beamforming focuses transmit energy toward UEs. </a:t>
                </a:r>
              </a:p>
              <a:p>
                <a:pPr lvl="2"/>
                <a:r>
                  <a:rPr lang="en-US" dirty="0"/>
                  <a:t>Codebook-based beamforming reduces complexity. </a:t>
                </a:r>
              </a:p>
              <a:p>
                <a:pPr lvl="2"/>
                <a:r>
                  <a:rPr lang="en-US" dirty="0"/>
                  <a:t>Beam vectors have normalized power.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𝒞ℬ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𝒞ℬ</m:t>
                    </m:r>
                  </m:oMath>
                </a14:m>
                <a:r>
                  <a:rPr lang="en-US" dirty="0"/>
                  <a:t> is the beam codebook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226E9-4C6B-BE96-1578-D44BB68D41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6EBD-3C20-4ED9-C7F9-91BE65B0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20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E2F1-CC08-542B-6F62-50DC5DBD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A9064-2448-3479-D0BD-ED47D365D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BCD Subproblem Focus</a:t>
                </a:r>
              </a:p>
              <a:p>
                <a:pPr lvl="1"/>
                <a:r>
                  <a:rPr lang="en-US" dirty="0"/>
                  <a:t>For this block, fix:</a:t>
                </a:r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Optimize: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: RBs for target sensing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RBs for UE communication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UE communication power</a:t>
                </a:r>
              </a:p>
              <a:p>
                <a:r>
                  <a:rPr lang="en-US" dirty="0"/>
                  <a:t>Posterior FIM Structure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Data FIM: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Only the measurement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depends on sensing resources.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A9064-2448-3479-D0BD-ED47D365D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B3910-CA88-1576-860F-7FBDE553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215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0D02-4868-D45E-9CE4-11B76D0D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8DD88-4ABE-EF98-181B-5A2212649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Communication Model</a:t>
                </a:r>
              </a:p>
              <a:p>
                <a:pPr lvl="1"/>
                <a:r>
                  <a:rPr lang="en-US" dirty="0"/>
                  <a:t>UE Received Signal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UE transmit power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UE beamformer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delay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Doppler shift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communication noise </a:t>
                </a:r>
              </a:p>
              <a:p>
                <a:pPr lvl="1"/>
                <a:r>
                  <a:rPr lang="en-US" dirty="0"/>
                  <a:t>Communication Noise Power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: RBs allocated to 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in mini-slot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bandwidth of one RB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noise power spectral density </a:t>
                </a:r>
              </a:p>
              <a:p>
                <a:pPr lvl="3"/>
                <a:r>
                  <a:rPr lang="en-US" dirty="0"/>
                  <a:t>More allocated bandwidth increases both: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data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bandwidth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noise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28DD88-4ABE-EF98-181B-5A2212649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2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5287-70DB-2ED4-B9DC-0AFA5C06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588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0AA2-33A4-0EAD-6492-0ED804398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2A69D-FAED-674F-3EC1-A772D4F94E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Communication Model</a:t>
                </a:r>
              </a:p>
              <a:p>
                <a:pPr lvl="1"/>
                <a:r>
                  <a:rPr lang="en-US" dirty="0"/>
                  <a:t>UE Throughput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is the communication QoS metric.</a:t>
                </a:r>
              </a:p>
              <a:p>
                <a:pPr lvl="1"/>
                <a:r>
                  <a:rPr lang="en-US" dirty="0"/>
                  <a:t>Throughput Interpretation</a:t>
                </a:r>
              </a:p>
              <a:p>
                <a:pPr lvl="2"/>
                <a:r>
                  <a:rPr lang="en-US" dirty="0"/>
                  <a:t>Throughput improves when: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m:rPr>
                        <m:nor/>
                      </m:rPr>
                      <a:rPr lang="en-US" i="1"/>
                      <m:t>more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bandwidth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for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data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transmission</m:t>
                    </m:r>
                  </m:oMath>
                </a14:m>
                <a:endParaRPr lang="en-US" b="0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2A69D-FAED-674F-3EC1-A772D4F94E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84598-0A4F-F22E-731C-3D87A7DA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70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99F-1F3B-090A-49A1-66AA6980E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605D81-781B-97C9-DE09-4872F319011D}"/>
                  </a:ext>
                </a:extLst>
              </p:cNvPr>
              <p:cNvSpPr txBox="1"/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Problem Formulation Goal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Joint ISAC Resource Allocation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Minimize target tracking uncertainty while guaranteeing UE communication QoS.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∑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func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tr</m:t>
                            </m:r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sz="2000" b="1" dirty="0"/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Optimization Variables</a:t>
                </a:r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𝑜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605D81-781B-97C9-DE09-4872F3190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  <a:blipFill>
                <a:blip r:embed="rId2"/>
                <a:stretch>
                  <a:fillRect l="-1075" t="-809" r="-1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4E634-50DA-9250-2C6C-F747505F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28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6EE69A9-193B-8729-3629-96088B0A776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615137229"/>
                  </p:ext>
                </p:extLst>
              </p:nvPr>
            </p:nvGraphicFramePr>
            <p:xfrm>
              <a:off x="6350008" y="1649691"/>
              <a:ext cx="4825984" cy="4527274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393295">
                      <a:extLst>
                        <a:ext uri="{9D8B030D-6E8A-4147-A177-3AD203B41FA5}">
                          <a16:colId xmlns:a16="http://schemas.microsoft.com/office/drawing/2014/main" val="2133050177"/>
                        </a:ext>
                      </a:extLst>
                    </a:gridCol>
                    <a:gridCol w="3432689">
                      <a:extLst>
                        <a:ext uri="{9D8B030D-6E8A-4147-A177-3AD203B41FA5}">
                          <a16:colId xmlns:a16="http://schemas.microsoft.com/office/drawing/2014/main" val="1222202414"/>
                        </a:ext>
                      </a:extLst>
                    </a:gridCol>
                  </a:tblGrid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tx1"/>
                              </a:solidFill>
                            </a:rPr>
                            <a:t>Variable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6270278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RBs for target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8546166"/>
                      </a:ext>
                    </a:extLst>
                  </a:tr>
                  <a:tr h="77678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RBs for UE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in mini-slot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54845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sensing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726224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communication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618781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200" b="1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b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sz="2200" b="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2200" b="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UE beamformer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34368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6EE69A9-193B-8729-3629-96088B0A776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615137229"/>
                  </p:ext>
                </p:extLst>
              </p:nvPr>
            </p:nvGraphicFramePr>
            <p:xfrm>
              <a:off x="6350008" y="1649691"/>
              <a:ext cx="4825984" cy="4527274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393295">
                      <a:extLst>
                        <a:ext uri="{9D8B030D-6E8A-4147-A177-3AD203B41FA5}">
                          <a16:colId xmlns:a16="http://schemas.microsoft.com/office/drawing/2014/main" val="2133050177"/>
                        </a:ext>
                      </a:extLst>
                    </a:gridCol>
                    <a:gridCol w="3432689">
                      <a:extLst>
                        <a:ext uri="{9D8B030D-6E8A-4147-A177-3AD203B41FA5}">
                          <a16:colId xmlns:a16="http://schemas.microsoft.com/office/drawing/2014/main" val="1222202414"/>
                        </a:ext>
                      </a:extLst>
                    </a:gridCol>
                  </a:tblGrid>
                  <a:tr h="7500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tx1"/>
                              </a:solidFill>
                            </a:rPr>
                            <a:t>Variable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6270278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00806" r="-247162" b="-400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40603" t="-100806" r="-355" b="-400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8546166"/>
                      </a:ext>
                    </a:extLst>
                  </a:tr>
                  <a:tr h="7767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196063" r="-247162" b="-291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40603" t="-196063" r="-355" b="-2913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54845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305691" r="-247162" b="-200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sensing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0726224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402419" r="-247162" b="-99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communication power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6187819"/>
                      </a:ext>
                    </a:extLst>
                  </a:tr>
                  <a:tr h="750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506504" r="-2471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UE beamformer</a:t>
                          </a:r>
                        </a:p>
                      </a:txBody>
                      <a:tcPr marL="0" marR="99570" marT="39828" marB="298711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834368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1570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1C8FED-51D0-1B08-45F3-7658F318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EEE166-AD2C-1A67-05F4-EF667AB160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Objective Function</a:t>
                </a:r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lim>
                    </m:limLow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tr</m:t>
                                </m:r>
                              </m:e>
                            </m:nary>
                          </m:e>
                        </m:nary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/>
                      <m:t>PCRB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total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Smaller value means better target tracking.</a:t>
                </a:r>
              </a:p>
              <a:p>
                <a:pPr lvl="1"/>
                <a:r>
                  <a:rPr lang="en-US" dirty="0"/>
                  <a:t>Communication Throughput Constraint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d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Each UE must satisfy minimum throughput. </a:t>
                </a:r>
              </a:p>
              <a:p>
                <a:pPr lvl="2"/>
                <a:r>
                  <a:rPr lang="en-US" dirty="0"/>
                  <a:t>Communication QoS must be guaranteed in every frame.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6EEE166-AD2C-1A67-05F4-EF667AB160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4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F50E6-4BED-7128-2032-B87CA018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300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AC49-1A04-405D-057B-BD7213BF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7ABFD-63F1-A6E4-176E-4332234BF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Power Constraint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power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/>
                      <m:t>communication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/>
                      <m:t>total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budget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creates sensing communication power competition.</a:t>
                </a:r>
              </a:p>
              <a:p>
                <a:pPr lvl="1"/>
                <a:r>
                  <a:rPr lang="en-US" dirty="0"/>
                  <a:t>Time-Frequency Resource Constraint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b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p>
                            </m:sSubSup>
                          </m:e>
                        </m:nary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Targets and UEs share limited RB-mini-slot resources. </a:t>
                </a:r>
              </a:p>
              <a:p>
                <a:pPr lvl="2"/>
                <a:r>
                  <a:rPr lang="en-US" dirty="0"/>
                  <a:t>Total allocated resources cannot exceed available </a:t>
                </a:r>
                <a:r>
                  <a:rPr lang="en-US" dirty="0" err="1"/>
                  <a:t>RUs.</a:t>
                </a:r>
                <a:r>
                  <a:rPr lang="en-US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available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RUs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7ABFD-63F1-A6E4-176E-4332234BF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4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5BB29-0AA6-EC57-5A5E-46BBCA21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08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91D8-0139-06EB-7C28-4E602F93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562F1-A894-75B1-0CFE-779EE1E0E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Integer RB Constraints</a:t>
                </a:r>
              </a:p>
              <a:p>
                <a:pPr lvl="1"/>
                <a:r>
                  <a:rPr lang="en-US" dirty="0"/>
                  <a:t>For each target: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req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req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+1, …….,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𝑅𝐵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UE: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1,…..,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𝑅𝐵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Meaning:</a:t>
                </a:r>
              </a:p>
              <a:p>
                <a:pPr lvl="2"/>
                <a:r>
                  <a:rPr lang="en-US" dirty="0"/>
                  <a:t>RB allocation is discrete. </a:t>
                </a:r>
              </a:p>
              <a:p>
                <a:pPr lvl="2"/>
                <a:r>
                  <a:rPr lang="en-US" dirty="0"/>
                  <a:t>Each target must receive at least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req</m:t>
                        </m:r>
                      </m:sub>
                    </m:sSub>
                  </m:oMath>
                </a14:m>
                <a:r>
                  <a:rPr lang="en-US" dirty="0"/>
                  <a:t>RBs.</a:t>
                </a:r>
              </a:p>
              <a:p>
                <a:r>
                  <a:rPr lang="en-US" dirty="0"/>
                  <a:t>Minimum Required RBs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req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res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: speed of light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bandwidth of one RB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res</m:t>
                        </m:r>
                      </m:sub>
                    </m:sSub>
                  </m:oMath>
                </a14:m>
                <a:r>
                  <a:rPr lang="en-US" dirty="0"/>
                  <a:t>: desired distance resolution </a:t>
                </a:r>
              </a:p>
              <a:p>
                <a:pPr lvl="2"/>
                <a:r>
                  <a:rPr lang="en-US" dirty="0"/>
                  <a:t>Better resolution requires more bandwidth: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res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↓⇒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req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562F1-A894-75B1-0CFE-779EE1E0E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6485D-A191-13BE-7486-3523459E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715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C019-34E4-C5DD-3B1F-A8E946F9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0505B-A195-C506-D6F5-922E2D3E4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P1 Is Difficult</a:t>
                </a:r>
              </a:p>
              <a:p>
                <a:pPr lvl="1"/>
                <a:r>
                  <a:rPr lang="en-US" dirty="0"/>
                  <a:t>P1 is a mixed-integer nonlinear programming problem because: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r>
                  <a:rPr lang="en-US" dirty="0"/>
                  <a:t>are integer variables. </a:t>
                </a:r>
              </a:p>
              <a:p>
                <a:pPr lvl="2"/>
                <a:r>
                  <a:rPr lang="en-US" dirty="0"/>
                  <a:t>PCRB objective contains: 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Throughput expression couples: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Target movement and channel variation create dynamicity.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90505B-A195-C506-D6F5-922E2D3E4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0BEFF-0987-0458-D1A5-E272EC2C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225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AE26A-5F45-6100-8AAD-C741FA4E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156C5-10EA-19E1-B387-CDEDD3EF3C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Measurement Covariance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Distance and </a:t>
                </a:r>
                <a:r>
                  <a:rPr lang="en-US" dirty="0" err="1"/>
                  <a:t>AoA</a:t>
                </a:r>
                <a:r>
                  <a:rPr lang="en-US" dirty="0"/>
                  <a:t> errors contribute separately to the data FIM.</a:t>
                </a:r>
              </a:p>
              <a:p>
                <a:r>
                  <a:rPr lang="en-US" dirty="0"/>
                  <a:t>Resource Dependence of Distance CRB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So, distance information increases with: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5156C5-10EA-19E1-B387-CDEDD3EF3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0477E-A601-166C-2D4E-60F25CFF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04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086B-AF1D-C699-8530-359D8BA7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0460E1-E7DE-F560-40B1-AF7BDA30A6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Resource Dependence of </a:t>
                </a:r>
                <a:r>
                  <a:rPr lang="en-US" dirty="0" err="1"/>
                  <a:t>AoA</a:t>
                </a:r>
                <a:r>
                  <a:rPr lang="en-US" dirty="0"/>
                  <a:t> CRB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e>
                                  <m: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den>
                    </m:f>
                  </m:oMath>
                </a14:m>
                <a:endParaRPr lang="en-US" b="0" dirty="0"/>
              </a:p>
              <a:p>
                <a:pPr lvl="1"/>
                <a:r>
                  <a:rPr lang="en-US" dirty="0" err="1"/>
                  <a:t>AoA</a:t>
                </a:r>
                <a:r>
                  <a:rPr lang="en-US" dirty="0"/>
                  <a:t> information depends on sensing power and channel strength, but not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Expanding the Data FIM</a:t>
                </a:r>
              </a:p>
              <a:p>
                <a:pPr lvl="1"/>
                <a:r>
                  <a:rPr lang="en-US" dirty="0"/>
                  <a:t>Let: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𝐪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𝐪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distance row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AoA</a:t>
                </a:r>
                <a:r>
                  <a:rPr lang="en-US" dirty="0"/>
                  <a:t> row </a:t>
                </a:r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0460E1-E7DE-F560-40B1-AF7BDA30A6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B065B-029F-466E-243E-83912B64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1179352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6352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F5CC-2C0D-A37B-77C0-20FEB8A4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8367-D614-3F68-CE0C-FEBFFA007A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Separating Fixed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Dependent Parts</a:t>
                </a:r>
              </a:p>
              <a:p>
                <a:pPr lvl="1"/>
                <a:r>
                  <a:rPr lang="en-US" dirty="0"/>
                  <a:t>Substitute the CRB relations: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Meaning: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fixed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prior</m:t>
                    </m:r>
                    <m:r>
                      <m:rPr>
                        <m:nor/>
                      </m:rPr>
                      <a:rPr lang="en-US" smtClean="0"/>
                      <m:t> + </m:t>
                    </m:r>
                    <m:r>
                      <m:rPr>
                        <m:nor/>
                      </m:rPr>
                      <a:rPr lang="en-US" smtClean="0"/>
                      <m:t>AoA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information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distance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bandwidth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8367-D614-3F68-CE0C-FEBFFA007A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EFF07-B3C3-0324-3AB0-42CB665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3639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E605-4B5F-1AD4-9281-425DB541D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2BF67B-830D-DA86-5878-360F8447BF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Eq. (27) Matters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exposes the role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↑⇒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↓⇒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 more sensing RBs improve tracking accuracy.</a:t>
                </a:r>
              </a:p>
              <a:p>
                <a:r>
                  <a:rPr lang="en-US" dirty="0"/>
                  <a:t>Remaining Difficulty</a:t>
                </a:r>
              </a:p>
              <a:p>
                <a:pPr lvl="1"/>
                <a:r>
                  <a:rPr lang="en-US" dirty="0"/>
                  <a:t>Even after Eq. (27), the objective is still: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𝐕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is still a matrix inverse expression.</a:t>
                </a:r>
              </a:p>
              <a:p>
                <a:pPr lvl="2"/>
                <a:r>
                  <a:rPr lang="en-US" dirty="0"/>
                  <a:t>Next goal: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matrix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inverse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scalar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summation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2BF67B-830D-DA86-5878-360F8447B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47E29-25A5-1911-0030-332E161B5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8819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87B1-B9A0-08BE-5816-5B84B6A0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741285-C8AC-87C1-44D0-F6D424340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4881138"/>
              </a:xfrm>
            </p:spPr>
            <p:txBody>
              <a:bodyPr/>
              <a:lstStyle/>
              <a:p>
                <a:r>
                  <a:rPr lang="en-US" dirty="0"/>
                  <a:t>Factorizing the Matrix</a:t>
                </a:r>
              </a:p>
              <a:p>
                <a:pPr lvl="1"/>
                <a:r>
                  <a:rPr lang="en-US" dirty="0"/>
                  <a:t>Write: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−1/2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𝐄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−1/2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𝐕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𝐕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−1/2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</m:oMath>
                </a14:m>
                <a:endParaRPr lang="en-US" b="0" dirty="0"/>
              </a:p>
              <a:p>
                <a:r>
                  <a:rPr lang="en-US" dirty="0"/>
                  <a:t>Eigenvalue Decomposition</a:t>
                </a:r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−1/2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Use eigen decomposition: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𝚲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where:</a:t>
                </a:r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44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𝐆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𝚲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741285-C8AC-87C1-44D0-F6D424340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4881138"/>
              </a:xfrm>
              <a:blipFill>
                <a:blip r:embed="rId2"/>
                <a:stretch>
                  <a:fillRect l="-522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6BDA4-B65F-0FE4-C4D2-EDEA4437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5989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71BD-377C-37B0-58E3-8A4B9A82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2E3F1-2F79-6561-74E7-C2F25B0CB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Applying Trace Cyclic Property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𝐕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becomes: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𝐆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𝚲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Because: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𝐀𝐁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𝐁𝐀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Scalar Summation Form</a:t>
                </a:r>
              </a:p>
              <a:p>
                <a:pPr lvl="1"/>
                <a:r>
                  <a:rPr lang="en-US" dirty="0"/>
                  <a:t>Since: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𝚲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diagonal,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𝑗𝑗</m:t>
                                </m:r>
                              </m:sub>
                            </m:sSub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02E3F1-2F79-6561-74E7-C2F25B0CB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628C8-C93D-EA2E-A46B-66435F8D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823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733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405D4-0553-F6ED-8CA4-DBA11C673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D9D56D-7112-7A16-C1AD-A2BE0A689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4709164"/>
              </a:xfrm>
            </p:spPr>
            <p:txBody>
              <a:bodyPr/>
              <a:lstStyle/>
              <a:p>
                <a:r>
                  <a:rPr lang="en-US" dirty="0"/>
                  <a:t>Scalar Summation Form</a:t>
                </a:r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𝐄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What Eq. (30) Achieves</a:t>
                </a:r>
              </a:p>
              <a:p>
                <a:pPr lvl="1"/>
                <a:r>
                  <a:rPr lang="en-US" dirty="0"/>
                  <a:t>Before: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𝐕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After: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Purpose: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matrix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inverse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objective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scalar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objective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Now the dependence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is explicit.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D9D56D-7112-7A16-C1AD-A2BE0A689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4709164"/>
              </a:xfrm>
              <a:blipFill>
                <a:blip r:embed="rId2"/>
                <a:stretch>
                  <a:fillRect l="-522" t="-1295" b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987B9-CC78-B656-DEC8-7B29860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5589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179D-331B-8298-C1AE-71BF5510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FAF95F-9158-23CD-01B5-65AF5FF8D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Subproblem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After Eq. (30):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𝑚𝑗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𝑚𝑗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𝑚𝑛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subject to:</a:t>
                </a:r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𝑅𝐵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integer RB constraints.</a:t>
                </a:r>
              </a:p>
              <a:p>
                <a:pPr lvl="1"/>
                <a:r>
                  <a:rPr lang="en-US" dirty="0"/>
                  <a:t>Why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r>
                  <a:rPr lang="en-US" dirty="0"/>
                  <a:t> Is Still Hard</a:t>
                </a:r>
              </a:p>
              <a:p>
                <a:pPr lvl="2"/>
                <a:r>
                  <a:rPr lang="en-US" dirty="0"/>
                  <a:t>The objective contains: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This is nonlinear.</a:t>
                </a:r>
              </a:p>
              <a:p>
                <a:pPr lvl="3"/>
                <a:r>
                  <a:rPr lang="en-US" dirty="0"/>
                  <a:t>Also: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integer variables.</a:t>
                </a:r>
              </a:p>
              <a:p>
                <a:pPr lvl="3"/>
                <a:r>
                  <a:rPr lang="en-US" dirty="0"/>
                  <a:t>The throughput constraint couples: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4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r>
                  <a:rPr lang="en-US" dirty="0"/>
                  <a:t> is still a mixed-integer nonlinear problem.</a:t>
                </a:r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FAF95F-9158-23CD-01B5-65AF5FF8D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9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ADB7D-D7D0-8F2C-CFD6-2A19895B2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730541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0523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E7A1-6088-4A76-4A78-7613A78A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36AEB-84BC-131B-CD5F-4FC87B9E6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Introducing Auxiliary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Introduce: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such that: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minimize: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𝑚𝑗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is an epigraph transformation.</a:t>
                </a:r>
              </a:p>
              <a:p>
                <a:pPr lvl="2"/>
                <a:r>
                  <a:rPr lang="en-US" dirty="0"/>
                  <a:t>Purpose: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nonlinear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inverse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objective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objective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constraint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36AEB-84BC-131B-CD5F-4FC87B9E6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C407B-7663-E252-34AD-9703BF8C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196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9BED-8A5B-E43E-AC80-3B9A69C8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C7CC2-CDA8-1FC2-9B4A-E86BAF555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Constraint Reformulation</a:t>
                </a:r>
              </a:p>
              <a:p>
                <a:pPr lvl="1"/>
                <a:r>
                  <a:rPr lang="en-US" dirty="0"/>
                  <a:t>From: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obtain: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lang="en-US" dirty="0"/>
                  <a:t> becomes: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 the remaining constraints.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C7CC2-CDA8-1FC2-9B4A-E86BAF555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4F979-6E7E-7B72-447F-AA441163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425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B603-54F0-B578-2531-32BDC535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40673-04E5-E61F-918F-961CAC51F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lang="en-US" dirty="0"/>
                  <a:t> Is Non-Convex</a:t>
                </a:r>
              </a:p>
              <a:p>
                <a:pPr lvl="1"/>
                <a:r>
                  <a:rPr lang="en-US" dirty="0"/>
                  <a:t>The constraint is: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Here: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convex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Also: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convex.</a:t>
                </a:r>
              </a:p>
              <a:p>
                <a:pPr lvl="1"/>
                <a:r>
                  <a:rPr lang="en-US" dirty="0"/>
                  <a:t>So, the left side is: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convex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/>
                      <m:t>convex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is a DC constraint, therefore non-convex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40673-04E5-E61F-918F-961CAC51F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921EC-4CFE-FE44-5208-1C218A61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21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4211-1E5A-CE94-BA8B-9A11D563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776D7-C6DE-C582-3A26-AA098290A9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SCA / Taylor Approximation</a:t>
                </a:r>
              </a:p>
              <a:p>
                <a:r>
                  <a:rPr lang="en-US" dirty="0"/>
                  <a:t>Linearize: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around previous iteration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+2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the SCA approximation used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1.3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776D7-C6DE-C582-3A26-AA098290A9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13C4-DBB4-6EA7-4D3E-1D967323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84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CE0A-6BE2-C282-7A7E-563DF8EF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0B01D-0900-B030-D8D5-A3E331FF6A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Taylor Expansion Helps</a:t>
                </a:r>
              </a:p>
              <a:p>
                <a:pPr lvl="1"/>
                <a:r>
                  <a:rPr lang="en-US" dirty="0"/>
                  <a:t>Original constraint: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DC and non-convex.</a:t>
                </a:r>
              </a:p>
              <a:p>
                <a:pPr lvl="1"/>
                <a:r>
                  <a:rPr lang="en-US" dirty="0"/>
                  <a:t>After Taylor approximation: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1"/>
                      <m:t>affine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convex.</a:t>
                </a:r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1.2→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converts a non-convex constraint into a convex SCA constraint.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0B01D-0900-B030-D8D5-A3E331FF6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0B9FF-B3D8-582F-1ADB-7407FD6F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611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F4CB-6240-986D-7733-E3051A55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2196C-46D3-91F2-59AB-5C4EC5F44F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4851777"/>
              </a:xfrm>
            </p:spPr>
            <p:txBody>
              <a:bodyPr/>
              <a:lstStyle/>
              <a:p>
                <a:r>
                  <a:rPr lang="en-US" dirty="0"/>
                  <a:t>Throughput Constraint</a:t>
                </a:r>
              </a:p>
              <a:p>
                <a:pPr lvl="1"/>
                <a:r>
                  <a:rPr lang="en-US" dirty="0"/>
                  <a:t>Communication constraint: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rewritten as: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Penalty Method</a:t>
                </a:r>
              </a:p>
              <a:p>
                <a:pPr lvl="1"/>
                <a:r>
                  <a:rPr lang="en-US" dirty="0"/>
                  <a:t>Move throughput violation into objective: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nary>
                          <m:naryPr>
                            <m:chr m:val="∑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</m:nary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constraint is satisfied: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≤0⇒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constraint is violated: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&gt;0⇒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enforces the throughput constraint more strongly.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B2196C-46D3-91F2-59AB-5C4EC5F44F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4851777"/>
              </a:xfrm>
              <a:blipFill>
                <a:blip r:embed="rId2"/>
                <a:stretch>
                  <a:fillRect l="-522" t="-1256" b="-2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8AB13-CDC5-B796-6806-A4EC188E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595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CC34-B91A-F381-CE77-B4D49551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7B88E-BBEE-EDF0-5132-3DDE32CB7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Final Convex Subproblem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objective becomes: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𝑜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,0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func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subject to:</a:t>
                </a:r>
              </a:p>
              <a:p>
                <a:pPr lvl="2"/>
                <a:r>
                  <a:rPr lang="en-US" dirty="0"/>
                  <a:t>SCA convexified PCRB constraint, </a:t>
                </a:r>
              </a:p>
              <a:p>
                <a:pPr lvl="2"/>
                <a:r>
                  <a:rPr lang="en-US" dirty="0"/>
                  <a:t>power constraint, </a:t>
                </a:r>
              </a:p>
              <a:p>
                <a:pPr lvl="2"/>
                <a:r>
                  <a:rPr lang="en-US" dirty="0"/>
                  <a:t>RB constraint, </a:t>
                </a:r>
              </a:p>
              <a:p>
                <a:pPr lvl="2"/>
                <a:r>
                  <a:rPr lang="en-US" dirty="0"/>
                  <a:t>RB lower/upper constraints. </a:t>
                </a:r>
              </a:p>
              <a:p>
                <a:pPr lvl="1"/>
                <a:r>
                  <a:rPr lang="en-US" dirty="0"/>
                  <a:t>At each SCA iteration, this problem is solved by CVX.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7B88E-BBEE-EDF0-5132-3DDE32CB7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73AF6-AC97-4980-231C-D9E91FF2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863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48AF-A481-959E-1200-9E5BB894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409F1-6AEE-D0C8-3B41-58592DD0A2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Second BCD Subproblem</a:t>
                </a:r>
              </a:p>
              <a:p>
                <a:pPr lvl="1"/>
                <a:r>
                  <a:rPr lang="en-US" dirty="0"/>
                  <a:t>Fixed Variables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Optimized Variables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: sensing power for target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communication beamformer for 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Beam Selection by Codebook Search</a:t>
                </a:r>
              </a:p>
              <a:p>
                <a:pPr lvl="1"/>
                <a:r>
                  <a:rPr lang="en-US" dirty="0"/>
                  <a:t>Codebook:</a:t>
                </a:r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𝒞ℬ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,……,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𝐶𝐵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each 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choose the beam that maximizes SNR: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𝒞ℬ</m:t>
                            </m:r>
                          </m:lim>
                        </m:limLow>
                      </m:e>
                    </m:func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Purpose: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select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best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beam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maximize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received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SNR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improve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throughput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409F1-6AEE-D0C8-3B41-58592DD0A2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59F3E-90E8-C5D9-808E-4623C0A4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98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EDF7-0C0A-CE38-EC18-B054B80F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FE5D73-75AC-B27A-EF5E-769B151022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Beam Search Is Simple Here</a:t>
                </a:r>
              </a:p>
              <a:p>
                <a:pPr lvl="1"/>
                <a:r>
                  <a:rPr lang="en-US" dirty="0"/>
                  <a:t>In this BCD step: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are fixed.</a:t>
                </a:r>
              </a:p>
              <a:p>
                <a:pPr lvl="1"/>
                <a:r>
                  <a:rPr lang="en-US" dirty="0"/>
                  <a:t>So, maximizing SNR becomes equivalent to: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𝒞ℬ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Thus, the BS only checks all codebook beams and selects the strongest one.</a:t>
                </a:r>
              </a:p>
              <a:p>
                <a:r>
                  <a:rPr lang="en-US" dirty="0"/>
                  <a:t>Posterior FIM with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Given fixed sensing RBs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, the posterior FIM becomes: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𝐐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now controls the sensing information linearly.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FE5D73-75AC-B27A-EF5E-769B15102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7DD6F-3285-673F-1CE9-F66BED41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164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61AF-F727-5882-75B1-41DD8F7A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6F6C-0906-2D03-B28E-4AEC754515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Why This Form Matters</a:t>
                </a:r>
              </a:p>
              <a:p>
                <a:pPr lvl="1"/>
                <a:r>
                  <a:rPr lang="en-US" dirty="0"/>
                  <a:t>The new form: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𝐕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is similar to the previous form: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𝐉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Previous block: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was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variable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Current block: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variable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6F6C-0906-2D03-B28E-4AEC754515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D3A23-F78D-8C33-7B83-069AA2A2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879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97C6-2036-852A-EA42-E607BDF1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40FB3-DDFD-90F3-FE3B-2D300841B6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Transforming PCRB Objective</a:t>
                </a:r>
              </a:p>
              <a:p>
                <a:pPr lvl="1"/>
                <a:r>
                  <a:rPr lang="en-US" dirty="0"/>
                  <a:t>Using the same matrix transformation as Eq. (30):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pitchFamily="18" charset="0"/>
                                          </a:rPr>
                                          <m:t>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1">
                                                <a:latin typeface="Cambria Math" panose="02040503050406030204" pitchFamily="18" charset="0"/>
                                              </a:rPr>
                                              <m:t>𝐕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can be written as: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</m:oMath>
                </a14:m>
                <a:r>
                  <a:rPr lang="en-US" dirty="0"/>
                  <a:t> are constants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B40FB3-DDFD-90F3-FE3B-2D300841B6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27781-4B25-35C1-20A8-02C80C35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574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CF0B-4374-B8BC-E175-D7EEAF50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929D7-1406-DFA5-1259-AB00FC3DD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Subproblem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After beam selection, solve: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lim>
                    </m:limLow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subject to: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selected by codebook search, CVX mainly solves for: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929D7-1406-DFA5-1259-AB00FC3DD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99FC3-492D-B658-198C-8F0FCB30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9870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069E-FBFF-C705-1EF6-9D11F840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C1168F-7403-6405-5537-1A5D92BCF8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r>
                  <a:rPr lang="en-US" b="1" dirty="0"/>
                  <a:t> Is Easier</a:t>
                </a:r>
              </a:p>
              <a:p>
                <a:pPr lvl="1"/>
                <a:r>
                  <a:rPr lang="en-US" dirty="0"/>
                  <a:t>After fixing: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selecting: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remaining variable is sensing power: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objective: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convex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when: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&gt;0,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r>
                  <a:rPr lang="en-US" dirty="0"/>
                  <a:t>can be solved by CVX.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C1168F-7403-6405-5537-1A5D92BCF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2874C-47F0-5434-2E3A-9DBCE9DC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86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C54E-4C82-7002-A5F8-5A0A40B9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FCCDA-7D83-59C0-F992-98DD53E1DB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BCD Algorithm Flow</a:t>
                </a:r>
              </a:p>
              <a:p>
                <a:pPr lvl="1"/>
                <a:r>
                  <a:rPr lang="en-US" dirty="0"/>
                  <a:t>Initialize feasible: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 repeat:</a:t>
                </a:r>
              </a:p>
              <a:p>
                <a:pPr lvl="2"/>
                <a:r>
                  <a:rPr lang="en-US" dirty="0"/>
                  <a:t>Fix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1.4</m:t>
                    </m:r>
                  </m:oMath>
                </a14:m>
                <a:r>
                  <a:rPr lang="en-US" dirty="0"/>
                  <a:t> by CVX to obtain: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by codebook search </a:t>
                </a:r>
              </a:p>
              <a:p>
                <a:pPr lvl="1"/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2.1</m:t>
                    </m:r>
                  </m:oMath>
                </a14:m>
                <a:r>
                  <a:rPr lang="en-US" dirty="0"/>
                  <a:t> by CVX to obtain: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 until objective reduction is small.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FCCDA-7D83-59C0-F992-98DD53E1DB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57AC-0F0E-3E8A-3E27-ECD1D101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10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3289</Words>
  <Application>Microsoft Office PowerPoint</Application>
  <PresentationFormat>Widescreen</PresentationFormat>
  <Paragraphs>765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맑은 고딕</vt:lpstr>
      <vt:lpstr>Arial</vt:lpstr>
      <vt:lpstr>Cambria Math</vt:lpstr>
      <vt:lpstr>Tahoma</vt:lpstr>
      <vt:lpstr>Office 테마</vt:lpstr>
      <vt:lpstr>Resource Allocation for ISAC Networks with Application to Target Tracking</vt:lpstr>
      <vt:lpstr>Table of Contents</vt:lpstr>
      <vt:lpstr>Abstract</vt:lpstr>
      <vt:lpstr>Abstract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Solution</vt:lpstr>
      <vt:lpstr>System Model</vt:lpstr>
      <vt:lpstr>Solution</vt:lpstr>
      <vt:lpstr>System Model</vt:lpstr>
      <vt:lpstr>System Model</vt:lpstr>
      <vt:lpstr>Problem Formulation</vt:lpstr>
      <vt:lpstr>Problem Formulation</vt:lpstr>
      <vt:lpstr>Problem Formulation</vt:lpstr>
      <vt:lpstr>Problem Formulation</vt:lpstr>
      <vt:lpstr>Problem Formulation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9</cp:revision>
  <dcterms:created xsi:type="dcterms:W3CDTF">2018-05-20T06:28:16Z</dcterms:created>
  <dcterms:modified xsi:type="dcterms:W3CDTF">2026-07-07T15:30:56Z</dcterms:modified>
</cp:coreProperties>
</file>