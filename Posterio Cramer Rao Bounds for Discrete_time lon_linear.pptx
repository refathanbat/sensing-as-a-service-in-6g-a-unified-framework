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1420" r:id="rId2"/>
    <p:sldId id="1535" r:id="rId3"/>
    <p:sldId id="1536" r:id="rId4"/>
    <p:sldId id="1537" r:id="rId5"/>
    <p:sldId id="1538" r:id="rId6"/>
    <p:sldId id="1540" r:id="rId7"/>
    <p:sldId id="1539" r:id="rId8"/>
    <p:sldId id="1541" r:id="rId9"/>
    <p:sldId id="1542" r:id="rId10"/>
    <p:sldId id="1543" r:id="rId11"/>
    <p:sldId id="1544" r:id="rId12"/>
    <p:sldId id="1545" r:id="rId13"/>
    <p:sldId id="1546" r:id="rId14"/>
    <p:sldId id="1547" r:id="rId15"/>
    <p:sldId id="1548" r:id="rId16"/>
    <p:sldId id="1549" r:id="rId17"/>
    <p:sldId id="1550" r:id="rId18"/>
    <p:sldId id="1551" r:id="rId19"/>
    <p:sldId id="1552" r:id="rId20"/>
    <p:sldId id="1553" r:id="rId21"/>
    <p:sldId id="1554" r:id="rId22"/>
    <p:sldId id="1555" r:id="rId23"/>
    <p:sldId id="1556" r:id="rId24"/>
    <p:sldId id="1557" r:id="rId25"/>
    <p:sldId id="1558" r:id="rId26"/>
    <p:sldId id="1559" r:id="rId27"/>
    <p:sldId id="1560" r:id="rId28"/>
    <p:sldId id="1561" r:id="rId29"/>
    <p:sldId id="1562" r:id="rId30"/>
    <p:sldId id="1563" r:id="rId31"/>
    <p:sldId id="1564" r:id="rId32"/>
    <p:sldId id="1565" r:id="rId33"/>
    <p:sldId id="1566" r:id="rId34"/>
    <p:sldId id="1567" r:id="rId35"/>
    <p:sldId id="1568" r:id="rId36"/>
    <p:sldId id="1569" r:id="rId37"/>
    <p:sldId id="1570" r:id="rId38"/>
  </p:sldIdLst>
  <p:sldSz cx="12192000" cy="6858000"/>
  <p:notesSz cx="6858000" cy="9144000"/>
  <p:defaultTextStyle>
    <a:defPPr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193C43-86CB-4E59-B1EB-ADE4B892B60F}" v="3" dt="2026-03-09T01:02:53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K MD GULAM" userId="3629686c-1963-4ad0-9d90-f64896f145bd" providerId="ADAL" clId="{C1066301-46E8-4A63-ABD9-64A0D5EA0B02}"/>
    <pc:docChg chg="custSel modSld">
      <pc:chgData name="ISHAK MD GULAM" userId="3629686c-1963-4ad0-9d90-f64896f145bd" providerId="ADAL" clId="{C1066301-46E8-4A63-ABD9-64A0D5EA0B02}" dt="2026-03-09T01:06:44.258" v="194" actId="20577"/>
      <pc:docMkLst>
        <pc:docMk/>
      </pc:docMkLst>
      <pc:sldChg chg="modSp mod">
        <pc:chgData name="ISHAK MD GULAM" userId="3629686c-1963-4ad0-9d90-f64896f145bd" providerId="ADAL" clId="{C1066301-46E8-4A63-ABD9-64A0D5EA0B02}" dt="2026-03-09T01:06:44.258" v="194" actId="20577"/>
        <pc:sldMkLst>
          <pc:docMk/>
          <pc:sldMk cId="1157537709" sldId="1420"/>
        </pc:sldMkLst>
        <pc:spChg chg="mod">
          <ac:chgData name="ISHAK MD GULAM" userId="3629686c-1963-4ad0-9d90-f64896f145bd" providerId="ADAL" clId="{C1066301-46E8-4A63-ABD9-64A0D5EA0B02}" dt="2026-03-09T01:03:37.255" v="185" actId="27636"/>
          <ac:spMkLst>
            <pc:docMk/>
            <pc:sldMk cId="1157537709" sldId="1420"/>
            <ac:spMk id="2" creationId="{773E81F8-418E-46B0-BF79-A9E5C85CC220}"/>
          </ac:spMkLst>
        </pc:spChg>
        <pc:spChg chg="mod">
          <ac:chgData name="ISHAK MD GULAM" userId="3629686c-1963-4ad0-9d90-f64896f145bd" providerId="ADAL" clId="{C1066301-46E8-4A63-ABD9-64A0D5EA0B02}" dt="2026-03-09T01:06:44.258" v="194" actId="20577"/>
          <ac:spMkLst>
            <pc:docMk/>
            <pc:sldMk cId="1157537709" sldId="1420"/>
            <ac:spMk id="3" creationId="{9B30F031-E57C-4418-8811-D07BEE7C11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A80AD-75C0-4139-8349-D7A56AAE3422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06930-2FBF-4BDF-BB7A-ED0F3C0B8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361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BAEBA-F25F-4473-80C2-25CDA93B21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5EA62A-FC14-43A6-9DFC-64DD0EA5E6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73821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FBF63-6BE2-44A2-9B92-27824B37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F48-9CCD-4EE9-BB40-4739D0DAE972}" type="datetime1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98BBDE-AC92-4490-AADC-B4FE998E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7C4298-2A89-4F0A-B1C0-77A88295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8C916F-6552-480F-893B-32796E62A980}"/>
              </a:ext>
            </a:extLst>
          </p:cNvPr>
          <p:cNvSpPr/>
          <p:nvPr userDrawn="1"/>
        </p:nvSpPr>
        <p:spPr>
          <a:xfrm>
            <a:off x="838200" y="3599357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1520A-C81E-4CF1-AECD-A61D6660DB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8E0C27-FA2C-4144-B7E7-505744E575A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FB215-C15F-4E74-86DC-78FAD0147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ADD3-F434-478C-876A-1D3933DF4707}" type="datetime1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EAFA9-F342-4D37-B503-8DFA950A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22012F-5023-43D1-B1CF-BFE3A893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5CEF90-2A69-4F23-93AB-B8D6AADF74CD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89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8F93D-390F-465E-B0D5-72A75C273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70026"/>
            <a:ext cx="10515600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01743D-6833-4A7C-B35A-0BDDB635A98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2845C-3C54-4151-820C-12503D6F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F26BB-6A75-410D-A6B0-8FD34915C10D}" type="datetime1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5650C-CE10-43E1-AA00-22EE20BA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FE2F95-697E-490C-9C4D-A59E0F91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1879A5-E33B-484A-B193-FE66531AACAC}"/>
              </a:ext>
            </a:extLst>
          </p:cNvPr>
          <p:cNvSpPr/>
          <p:nvPr userDrawn="1"/>
        </p:nvSpPr>
        <p:spPr>
          <a:xfrm>
            <a:off x="838200" y="4413578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86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7D261-400F-43CD-95C8-FE0DF8044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346026-ED45-448B-8D67-475453B7B9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649691"/>
            <a:ext cx="5104598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86C6A5-08D8-440E-B258-B881C64EC21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649691"/>
            <a:ext cx="5181600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9FDB51-62F3-4D1B-B8F7-D40284A7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CDF8-1723-475A-8393-34F016E9B184}" type="datetime1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744B04-D686-4DE2-BDDC-A3B4F371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FBE183-4474-4131-AEA4-9ADE4020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208725-7285-4D04-9690-A0DD84547197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4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BF73A-35E0-4388-AE26-587E2089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9F70A1-A021-4782-95A0-99F4C3203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0FFB53-257A-4315-A28C-9FE12D4C9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A17D5D-46C0-4878-B7E2-BD08FCD07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C2F3F9-8CCB-4F5B-85A6-D7470170D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47C80F-A4FC-4C78-89AB-B072C5C0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CD4A-1F8C-4D3E-BDD6-84C4090AF0D6}" type="datetime1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D4C5CE-D7DE-4C43-8F9E-7EA5847E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1C2CFA-CB2F-4476-8491-FBDAB29C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16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B9CC5-A2AF-47C1-8376-B695DF82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A6AA3E-6C10-4BA8-AF8D-ECF436F9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73545-46C1-49FB-A041-5415163523D0}" type="datetime1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DE3192-439D-4BEF-8848-4DF7C36D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05EAAA-CE1A-4578-A8FD-BDB3D530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670823-6C59-4996-843F-A4B8E1292D69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35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FA01BA-2C19-4BC8-9D08-60CC0DEE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BC6A4-6274-4803-89FF-1DA18D4FE7AA}" type="datetime1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921DE2-A0F7-482E-898F-C86B8C83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6F57A-5DCA-4541-B19A-1752D1A3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11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04372-0C6C-4F44-86AB-8DDAF142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88709-254A-4ED6-9188-74666615F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5872FF-AC9A-49BF-AC6E-F9EA1A406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7015C5-8E89-4986-AA3C-42A3F8FB6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353D-6971-4305-AB04-6AEE4DD0E048}" type="datetime1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82C019-EAA8-4CD6-BD5A-68BA9842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776716-556D-4628-94B1-7BC9A345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15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E144E-AA68-4DFD-9736-416AF8EE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C731A3-5F0D-4649-AF33-2F2F12D18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0070ED-93CE-4C5B-9A13-47766D18C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3E617-2B4B-4C49-B34C-F13496F5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5523-461B-44DB-AD97-7C06B206BE7B}" type="datetime1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88F62D-BB02-4585-B0DB-6C572478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DA3767-C6FA-46EE-B82E-E441B336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994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A2004-1E3B-4055-8772-F325E519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9AC7F-90CD-432E-AFBA-09A312E26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CBBB0-BA78-4216-B318-AF5F69D9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620A-9A66-47B0-9218-43F171A33458}" type="datetime1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E3B40-907A-49D6-9FA8-D643E4B4A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417526-857D-45AD-9891-D1359E79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E34BDA-8046-4B35-A748-33A5A9C8C415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78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286F9E-ABB1-47D9-BCD5-5FE077BEA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4F122D-472C-4176-9045-BF5B3ED41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40FC9-5A0B-483C-BEC0-6349DDDF1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86D9-B5F3-454A-8918-B4C99ED5AEDE}" type="datetime1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F7ACB-A377-4E38-BF13-4CE4A72C6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2AD96-62E9-4856-8C7D-4FC6FA78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34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0155A6-5E23-4681-A0F6-D6378107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357F3-390C-49AE-BB15-6F8F57DC0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49691"/>
            <a:ext cx="10515600" cy="4527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9027F-305A-4270-8200-1B8B6B4B7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38399" y="6356350"/>
            <a:ext cx="13331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9D1D2423-15C0-4D7C-B759-40ACCC100800}" type="datetime1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1B4A95-7775-4330-B809-DA1B22478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F4CA50-4832-40EE-82BE-A431AAD80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13331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A439D109-9F59-4B0B-8E20-D6D3A384B1F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EB3B3E-F3B6-4A77-8CE1-CA270A7A296F}"/>
              </a:ext>
            </a:extLst>
          </p:cNvPr>
          <p:cNvSpPr/>
          <p:nvPr userDrawn="1"/>
        </p:nvSpPr>
        <p:spPr>
          <a:xfrm>
            <a:off x="0" y="0"/>
            <a:ext cx="12192000" cy="235670"/>
          </a:xfrm>
          <a:prstGeom prst="rect">
            <a:avLst/>
          </a:prstGeom>
          <a:gradFill>
            <a:gsLst>
              <a:gs pos="63000">
                <a:schemeClr val="tx1"/>
              </a:gs>
              <a:gs pos="0">
                <a:schemeClr val="tx1"/>
              </a:gs>
              <a:gs pos="8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4D56D-F798-41D4-B204-99B8E8DEAB5A}"/>
              </a:ext>
            </a:extLst>
          </p:cNvPr>
          <p:cNvSpPr txBox="1"/>
          <p:nvPr userDrawn="1"/>
        </p:nvSpPr>
        <p:spPr>
          <a:xfrm>
            <a:off x="8501826" y="6550223"/>
            <a:ext cx="3690174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ognitive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ommunications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ystems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aboratory</a:t>
            </a:r>
            <a:endParaRPr lang="en-US" altLang="ko-KR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01637D-BAF8-43B2-A298-C5B3DAB22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077" b="34980"/>
          <a:stretch/>
        </p:blipFill>
        <p:spPr>
          <a:xfrm>
            <a:off x="9886511" y="17253"/>
            <a:ext cx="527404" cy="5262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0D9003C-FC42-4D68-ADBA-ADDEC8861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t="68955" b="6534"/>
          <a:stretch/>
        </p:blipFill>
        <p:spPr>
          <a:xfrm>
            <a:off x="10413915" y="17253"/>
            <a:ext cx="1760832" cy="52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uthor/37265776600" TargetMode="External"/><Relationship Id="rId2" Type="http://schemas.openxmlformats.org/officeDocument/2006/relationships/hyperlink" Target="https://ieeexplore.ieee.org/author/37373311400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eeexplore.ieee.org/author/37265777100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E81F8-418E-46B0-BF79-A9E5C85CC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169878"/>
            <a:ext cx="10501993" cy="1418326"/>
          </a:xfrm>
        </p:spPr>
        <p:txBody>
          <a:bodyPr>
            <a:normAutofit/>
          </a:bodyPr>
          <a:lstStyle/>
          <a:p>
            <a:r>
              <a:rPr lang="en-US" altLang="ko-KR" sz="3600" b="0" dirty="0">
                <a:solidFill>
                  <a:srgbClr val="0000FF"/>
                </a:solidFill>
                <a:latin typeface="Arial Black" panose="020B0A04020102020204" pitchFamily="34" charset="0"/>
              </a:rPr>
              <a:t>Posterior Cramer-Rao Bounds for Discrete-Time Nonlinear Filtering</a:t>
            </a:r>
            <a:endParaRPr lang="ko-KR" altLang="en-US" sz="3600" b="0" dirty="0">
              <a:solidFill>
                <a:srgbClr val="0000FF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30F031-E57C-4418-8811-D07BEE7C1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704436"/>
            <a:ext cx="10501993" cy="141832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u="sng" dirty="0">
                <a:hlinkClick r:id="rId2"/>
              </a:rPr>
              <a:t>P. </a:t>
            </a:r>
            <a:r>
              <a:rPr lang="en-US" u="sng" dirty="0" err="1">
                <a:hlinkClick r:id="rId2"/>
              </a:rPr>
              <a:t>Tichavsky</a:t>
            </a:r>
            <a:r>
              <a:rPr lang="en-US" dirty="0"/>
              <a:t>; </a:t>
            </a:r>
            <a:r>
              <a:rPr lang="en-US" u="sng" dirty="0">
                <a:hlinkClick r:id="rId3"/>
              </a:rPr>
              <a:t>C.H. Muravchik</a:t>
            </a:r>
            <a:r>
              <a:rPr lang="en-US" dirty="0"/>
              <a:t>; </a:t>
            </a:r>
            <a:r>
              <a:rPr lang="en-US" u="sng" dirty="0">
                <a:hlinkClick r:id="rId4"/>
              </a:rPr>
              <a:t>A. Nehorai</a:t>
            </a:r>
            <a:br>
              <a:rPr lang="en-US" dirty="0"/>
            </a:br>
            <a:endParaRPr lang="en-US" altLang="ko-KR" dirty="0">
              <a:latin typeface="Arial"/>
              <a:ea typeface="맑은 고딕"/>
              <a:cs typeface="Arial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3469BC-9EBF-44CC-97A2-356DEFF5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537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0944A7-DAFA-4EF6-9E4D-ED1A85B69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906" y="1065439"/>
            <a:ext cx="10463894" cy="425048"/>
          </a:xfrm>
        </p:spPr>
        <p:txBody>
          <a:bodyPr/>
          <a:lstStyle/>
          <a:p>
            <a:br>
              <a:rPr lang="en-US" sz="1500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Table of 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A9A21-3EFF-47FE-AF17-1A22D8129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7130"/>
            <a:ext cx="10515600" cy="4779219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endParaRPr lang="en-US" altLang="ko-K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7C2913-090F-4E65-B123-A622E093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46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A27A-A7AB-2D1C-635C-28F0E4679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</p:spPr>
        <p:txBody>
          <a:bodyPr anchor="ctr">
            <a:normAutofit/>
          </a:bodyPr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FCF644-CF7A-7099-3A25-96B15B43131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649690"/>
                <a:ext cx="5185095" cy="5170559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>
                    <a:solidFill>
                      <a:srgbClr val="0000FF"/>
                    </a:solidFill>
                  </a:rPr>
                  <a:t>Main idea</a:t>
                </a:r>
              </a:p>
              <a:p>
                <a:pPr lvl="1"/>
                <a:r>
                  <a:rPr lang="en-US" sz="1600" dirty="0"/>
                  <a:t>If a hidden dynamic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dirty="0"/>
                  <a:t> is being estimated from noisy measurements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,…..,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dirty="0"/>
                  <a:t>, what is the theoretical minimum possible MSE?</a:t>
                </a:r>
              </a:p>
              <a:p>
                <a:pPr lvl="1"/>
                <a:r>
                  <a:rPr lang="en-US" sz="1600" dirty="0"/>
                  <a:t>Estimator MSE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1600" dirty="0"/>
                  <a:t> PCRB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≥ 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sz="1600" dirty="0"/>
              </a:p>
              <a:p>
                <a:pPr lvl="1"/>
                <a:r>
                  <a:rPr lang="en-US" sz="1600" dirty="0"/>
                  <a:t>Where: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True hidden state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dirty="0"/>
                  <a:t> Estimate from Kalman / EKF/UKF/ particle filter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dirty="0"/>
                  <a:t>  Posterior Fisher information matrix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dirty="0"/>
                  <a:t> PCRB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dirty="0"/>
                  <a:t> means </a:t>
                </a:r>
                <a:r>
                  <a:rPr lang="en-US" sz="1600" dirty="0">
                    <a:solidFill>
                      <a:srgbClr val="7030A0"/>
                    </a:solidFill>
                  </a:rPr>
                  <a:t>how much information </a:t>
                </a:r>
                <a:r>
                  <a:rPr lang="en-US" sz="1600" dirty="0"/>
                  <a:t>we have about the state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en-US" sz="1600" dirty="0"/>
                  <a:t> means the </a:t>
                </a:r>
                <a:r>
                  <a:rPr lang="en-US" sz="1600" dirty="0">
                    <a:solidFill>
                      <a:srgbClr val="7030A0"/>
                    </a:solidFill>
                  </a:rPr>
                  <a:t>minimum possible error covariance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FCF644-CF7A-7099-3A25-96B15B4313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649690"/>
                <a:ext cx="5185095" cy="5170559"/>
              </a:xfrm>
              <a:blipFill>
                <a:blip r:embed="rId2"/>
                <a:stretch>
                  <a:fillRect l="-353" t="-825" r="-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1FF01F8-E6F6-9096-3EE0-9A0488ACE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94864"/>
            <a:ext cx="5181600" cy="283692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EF5C6-A50B-182B-B0F6-DB999E99E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39D109-9F59-4B0B-8E20-D6D3A384B1F1}" type="slidenum">
              <a:rPr lang="ko-KR" altLang="en-US" smtClean="0"/>
              <a:pPr>
                <a:spcAft>
                  <a:spcPts val="600"/>
                </a:spcAft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117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F2E8C-F21C-1BB6-B7DA-BA6647AA8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367" y="801637"/>
            <a:ext cx="10515600" cy="681250"/>
          </a:xfrm>
        </p:spPr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A8664F-5B99-8355-D052-1149E6311D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CRB vs PCRB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Classical CRB: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unknown but deterministic parameter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fixed but unknown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PCRB 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= random</a:t>
                </a:r>
              </a:p>
              <a:p>
                <a:pPr lvl="2"/>
                <a:r>
                  <a:rPr lang="en-US" dirty="0"/>
                  <a:t>In filtering/tracking, the state evolves randomly: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is not a fixed deterministic  parameter.</a:t>
                </a:r>
              </a:p>
              <a:p>
                <a:pPr lvl="3"/>
                <a:r>
                  <a:rPr lang="en-US" dirty="0"/>
                  <a:t>It is a random state generated by a dynamic model.</a:t>
                </a:r>
              </a:p>
              <a:p>
                <a:pPr lvl="3"/>
                <a:r>
                  <a:rPr lang="en-US" dirty="0"/>
                  <a:t>That is why we </a:t>
                </a:r>
                <a:r>
                  <a:rPr lang="en-US" dirty="0">
                    <a:solidFill>
                      <a:srgbClr val="002060"/>
                    </a:solidFill>
                  </a:rPr>
                  <a:t>need Posterior/Bayesian CRB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7030A0"/>
                    </a:solidFill>
                  </a:rPr>
                  <a:t>not ordinary CRB</a:t>
                </a:r>
              </a:p>
              <a:p>
                <a:pPr lvl="3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A8664F-5B99-8355-D052-1149E6311D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A5EF8-D978-C46F-8163-292EE8CC0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498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CE3D8-9875-0927-485C-9D2FD734D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179C3-1413-A493-D231-810152C8A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Probability Recap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C9A63-C2EB-4CF5-B787-CE120BD42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</a:t>
            </a:fld>
            <a:endParaRPr lang="ko-KR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93838F-8366-158C-926F-FAF298545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186626"/>
              </p:ext>
            </p:extLst>
          </p:nvPr>
        </p:nvGraphicFramePr>
        <p:xfrm>
          <a:off x="1258350" y="2025941"/>
          <a:ext cx="7608814" cy="39187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040">
                  <a:extLst>
                    <a:ext uri="{9D8B030D-6E8A-4147-A177-3AD203B41FA5}">
                      <a16:colId xmlns:a16="http://schemas.microsoft.com/office/drawing/2014/main" val="2119636369"/>
                    </a:ext>
                  </a:extLst>
                </a:gridCol>
                <a:gridCol w="4154774">
                  <a:extLst>
                    <a:ext uri="{9D8B030D-6E8A-4147-A177-3AD203B41FA5}">
                      <a16:colId xmlns:a16="http://schemas.microsoft.com/office/drawing/2014/main" val="1024711189"/>
                    </a:ext>
                  </a:extLst>
                </a:gridCol>
              </a:tblGrid>
              <a:tr h="3421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Concepts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231243"/>
                  </a:ext>
                </a:extLst>
              </a:tr>
              <a:tr h="5354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we know before measurement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859475"/>
                  </a:ext>
                </a:extLst>
              </a:tr>
              <a:tr h="5354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Likelihood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Probability of measurement given 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706345"/>
                  </a:ext>
                </a:extLst>
              </a:tr>
              <a:tr h="3421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 belief after measurement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680130"/>
                  </a:ext>
                </a:extLst>
              </a:tr>
              <a:tr h="5354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Fisher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Curvature/ sharpness of log 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719701"/>
                  </a:ext>
                </a:extLst>
              </a:tr>
              <a:tr h="3421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Covariance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Estimation uncertainty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427994"/>
                  </a:ext>
                </a:extLst>
              </a:tr>
              <a:tr h="3421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Matrix of second derivative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726548"/>
                  </a:ext>
                </a:extLst>
              </a:tr>
              <a:tr h="5987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PSD inequality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Matrix version of “greater than or equal”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984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8711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46ADB-DE01-5E2C-E623-92A400C70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CA7F42-A1DA-8847-682F-60EEC200A7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Probability Recap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Bayesian chain: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prior information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data information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posterior information</a:t>
                </a:r>
              </a:p>
              <a:p>
                <a:pPr lvl="1"/>
                <a:r>
                  <a:rPr lang="en-US" dirty="0"/>
                  <a:t>PCRB is </a:t>
                </a:r>
                <a:r>
                  <a:rPr lang="en-US" dirty="0">
                    <a:solidFill>
                      <a:srgbClr val="7030A0"/>
                    </a:solidFill>
                  </a:rPr>
                  <a:t>based on the posterior information</a:t>
                </a:r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CA7F42-A1DA-8847-682F-60EEC200A7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8B00C-F0C4-259B-2789-4DB8305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6148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C827E-DCFE-8FFD-209F-FCFF0C032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B2222-D3EB-E7BE-6A16-79610A925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Properties of PCRB</a:t>
                </a:r>
              </a:p>
              <a:p>
                <a:pPr lvl="1"/>
                <a:r>
                  <a:rPr lang="en-US" dirty="0"/>
                  <a:t>The paper starts with </a:t>
                </a:r>
                <a:r>
                  <a:rPr lang="en-US" dirty="0">
                    <a:solidFill>
                      <a:srgbClr val="7030A0"/>
                    </a:solidFill>
                  </a:rPr>
                  <a:t>random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>
                    <a:solidFill>
                      <a:srgbClr val="7030A0"/>
                    </a:solidFill>
                  </a:rPr>
                  <a:t>measurement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, and </a:t>
                </a:r>
                <a:r>
                  <a:rPr lang="en-US" dirty="0">
                    <a:solidFill>
                      <a:srgbClr val="7030A0"/>
                    </a:solidFill>
                  </a:rPr>
                  <a:t>estimator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.</a:t>
                </a:r>
              </a:p>
              <a:p>
                <a:pPr lvl="1"/>
                <a:r>
                  <a:rPr lang="en-US" dirty="0"/>
                  <a:t>The MSE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≜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PCRB says: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dirty="0"/>
                  <a:t> is Fisher information: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func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PCRB uses </a:t>
                </a:r>
                <a:r>
                  <a:rPr lang="en-US" dirty="0">
                    <a:solidFill>
                      <a:srgbClr val="7030A0"/>
                    </a:solidFill>
                  </a:rPr>
                  <a:t>the joint density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lang="en-US" dirty="0"/>
                  <a:t> not only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That is why prior information is included.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B2222-D3EB-E7BE-6A16-79610A925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9D5F5-DB67-9C64-F80E-E50963BFE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810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59370-AF95-A077-7A10-5017F4EFC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1BC793-8582-4C9A-C8AA-70643428FC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0"/>
                <a:ext cx="10515600" cy="4973417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Properties of PCRB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Fisher information derivation</a:t>
                </a:r>
              </a:p>
              <a:p>
                <a:pPr lvl="2"/>
                <a:r>
                  <a:rPr lang="en-US" dirty="0"/>
                  <a:t>Define the score with respect to random parameter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Fisher information originally defined as: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</m:d>
                              </m:e>
                            </m:func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</m:d>
                              </m:e>
                            </m:func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Score outer product form.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Negative Hessian</a:t>
                </a:r>
              </a:p>
              <a:p>
                <a:pPr lvl="3"/>
                <a:r>
                  <a:rPr lang="en-US" dirty="0"/>
                  <a:t>Second derivative of the log-density:</a:t>
                </a:r>
              </a:p>
              <a:p>
                <a:pPr lvl="4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4"/>
                <a:r>
                  <a:rPr lang="en-US" dirty="0"/>
                  <a:t>First derivative:</a:t>
                </a:r>
              </a:p>
              <a:p>
                <a:pPr lvl="5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1BC793-8582-4C9A-C8AA-70643428FC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0"/>
                <a:ext cx="10515600" cy="4973417"/>
              </a:xfrm>
              <a:blipFill>
                <a:blip r:embed="rId2"/>
                <a:stretch>
                  <a:fillRect l="-522" t="-1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BF8BF-5923-0FB1-A562-A06F7241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176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28943-EFA9-D734-AE00-2EA3DE4EB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6AC3B-1D16-078F-0719-EA3223684D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Properties of PCRB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Negative Hessian</a:t>
                </a:r>
              </a:p>
              <a:p>
                <a:pPr lvl="2"/>
                <a:r>
                  <a:rPr lang="en-US" dirty="0"/>
                  <a:t>Second derivative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∬"/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nary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∬"/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𝑑𝑋𝑑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nary>
                          <m:naryPr>
                            <m:chr m:val="∬"/>
                            <m:limLoc m:val="undOvr"/>
                            <m:subHide m:val="on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nary>
                      </m:e>
                    </m:nary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𝑑𝑋𝑑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The first term becomes zero under regularity / boundary conditions:</a:t>
                </a:r>
              </a:p>
              <a:p>
                <a:pPr lvl="4"/>
                <a14:m>
                  <m:oMath xmlns:m="http://schemas.openxmlformats.org/officeDocument/2006/math">
                    <m:nary>
                      <m:naryPr>
                        <m:chr m:val="∬"/>
                        <m:limLoc m:val="undOvr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𝑑𝑋𝑑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∬"/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𝑑𝑋𝑑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nary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∬"/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𝑑𝑋𝑑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Finally,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sub>
                                </m:sSub>
                              </m:e>
                            </m:func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</m:d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6AC3B-1D16-078F-0719-EA3223684D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99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5AAD7-780A-101C-821E-43B2A705A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352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DC1CB-9AB2-1EAB-5610-6232BAF9B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2E5B34-81A4-A4D0-DF2B-BEC68476C3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Information Decomposition</a:t>
                </a:r>
              </a:p>
              <a:p>
                <a:pPr lvl="1"/>
                <a:r>
                  <a:rPr lang="en-US" dirty="0"/>
                  <a:t>The paper shows: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 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bSup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)]</m:t>
                        </m:r>
                      </m:e>
                    </m:func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b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information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from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measurements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information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from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prior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total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posterior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information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Better measurements increases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Stronger prior knowledge increases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Larger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dirty="0"/>
                  <a:t> means smaller PCRB.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𝑃𝐶𝑅𝐵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2E5B34-81A4-A4D0-DF2B-BEC68476C3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A94E8-FF44-3641-6FC9-41BB7848E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444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FF8CD-9806-FE06-5FDE-09803904C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CE612B-5DE1-7A55-0F70-C4D5E61D15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0"/>
                <a:ext cx="10515600" cy="4767887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Information Decomposition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 Probability Model</a:t>
                </a:r>
              </a:p>
              <a:p>
                <a:pPr lvl="2"/>
                <a:r>
                  <a:rPr lang="en-US" dirty="0"/>
                  <a:t>Suppose measurement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and unknown parameter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If true parameter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, what is the probability of observing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b="0" dirty="0"/>
              </a:p>
              <a:p>
                <a:pPr lvl="3"/>
                <a:r>
                  <a:rPr lang="en-US" dirty="0"/>
                  <a:t>The estimation problem is: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dirty="0"/>
              </a:p>
              <a:p>
                <a:pPr lvl="4"/>
                <a:r>
                  <a:rPr lang="en-US" dirty="0"/>
                  <a:t>We want to know how much information the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gives about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A derivative Appears</a:t>
                </a:r>
              </a:p>
              <a:p>
                <a:pPr lvl="3"/>
                <a:r>
                  <a:rPr lang="en-US" dirty="0"/>
                  <a:t>If we slightly change the parameter,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Then the likelihood changes: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So naturally, we look at:</a:t>
                </a:r>
              </a:p>
              <a:p>
                <a:pPr lvl="4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𝜕𝜃</m:t>
                        </m:r>
                      </m:den>
                    </m:f>
                  </m:oMath>
                </a14:m>
                <a:endParaRPr lang="en-US" dirty="0"/>
              </a:p>
              <a:p>
                <a:pPr lvl="4"/>
                <a:r>
                  <a:rPr lang="en-US" dirty="0"/>
                  <a:t>This tells us how sensitive the probability model is to the parameter.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CE612B-5DE1-7A55-0F70-C4D5E61D15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0"/>
                <a:ext cx="10515600" cy="4767887"/>
              </a:xfrm>
              <a:blipFill>
                <a:blip r:embed="rId2"/>
                <a:stretch>
                  <a:fillRect l="-522" t="-1279" b="-1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BF5C8-FBC8-028A-F2C6-C73748791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63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50C52-65B7-A960-AAEF-0978165C0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2E4FDA-0FF3-956C-443A-2B9A7BE227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Information Decomposition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 Probability Model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A derivative Appears</a:t>
                </a:r>
              </a:p>
              <a:p>
                <a:pPr lvl="3"/>
                <a:r>
                  <a:rPr lang="en-US" dirty="0"/>
                  <a:t>But instead of raw change, we use the relative change:</a:t>
                </a:r>
              </a:p>
              <a:p>
                <a:pPr lvl="4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den>
                    </m:f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𝜕𝜃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⇒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𝜕𝜃</m:t>
                        </m:r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pPr lvl="4"/>
                <a:r>
                  <a:rPr lang="en-US" dirty="0"/>
                  <a:t>So, the score function is defined as:</a:t>
                </a:r>
              </a:p>
              <a:p>
                <a:pPr lvl="5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𝜕𝜃</m:t>
                        </m:r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The score function is the relative  slope of the likelihood with respect to the parameter.</a:t>
                </a:r>
              </a:p>
              <a:p>
                <a:pPr lvl="2"/>
                <a:r>
                  <a:rPr lang="en-US" dirty="0"/>
                  <a:t>Why this is important?</a:t>
                </a:r>
              </a:p>
              <a:p>
                <a:pPr lvl="3"/>
                <a:r>
                  <a:rPr lang="en-US" dirty="0"/>
                  <a:t>If the score is large, then a small change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causes a large change in likelihood.</a:t>
                </a:r>
              </a:p>
              <a:p>
                <a:pPr lvl="3"/>
                <a:r>
                  <a:rPr lang="en-US" dirty="0"/>
                  <a:t>So, the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can distinguish the parameter well.</a:t>
                </a:r>
              </a:p>
              <a:p>
                <a:pPr lvl="3"/>
                <a:r>
                  <a:rPr lang="en-US" dirty="0"/>
                  <a:t>If the score is small, then the changing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does not change the likelihood much.</a:t>
                </a:r>
              </a:p>
              <a:p>
                <a:pPr lvl="3"/>
                <a:r>
                  <a:rPr lang="en-US" dirty="0"/>
                  <a:t>So, the data gives weak information about the parameter.</a:t>
                </a:r>
              </a:p>
              <a:p>
                <a:pPr lvl="3"/>
                <a:endParaRPr lang="en-US" dirty="0"/>
              </a:p>
              <a:p>
                <a:pPr lvl="3"/>
                <a:endParaRPr lang="en-US" dirty="0"/>
              </a:p>
              <a:p>
                <a:pPr lvl="1"/>
                <a:endParaRPr lang="en-US" dirty="0"/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2E4FDA-0FF3-956C-443A-2B9A7BE227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B0CFB-29A4-AB75-1AB2-0FD49980D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817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FCEB0-99A1-AB14-DDBF-B2FC2BB89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4A7E03-4578-3E50-1FBA-72BFC18196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Information Decomposition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 Probability Model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Where the fisher information comes from</a:t>
                </a:r>
              </a:p>
              <a:p>
                <a:pPr lvl="3"/>
                <a:r>
                  <a:rPr lang="en-US" dirty="0"/>
                  <a:t>The score is random because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random.</a:t>
                </a:r>
              </a:p>
              <a:p>
                <a:pPr lvl="3"/>
                <a:r>
                  <a:rPr lang="en-US" dirty="0"/>
                  <a:t>One measurement gives you one score value.</a:t>
                </a:r>
              </a:p>
              <a:p>
                <a:pPr lvl="3"/>
                <a:r>
                  <a:rPr lang="en-US" dirty="0"/>
                  <a:t>To measure the average information, we take the expected squared score: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𝜕𝜃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𝑙𝑜𝑔𝑝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Fisher information is the average squared sensitivity of the log-likelihood.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Why Square?</a:t>
                </a:r>
              </a:p>
              <a:p>
                <a:pPr lvl="3"/>
                <a:r>
                  <a:rPr lang="en-US" dirty="0"/>
                  <a:t>Because the score can be positive or negative.</a:t>
                </a:r>
              </a:p>
              <a:p>
                <a:pPr lvl="3"/>
                <a:r>
                  <a:rPr lang="en-US" dirty="0"/>
                  <a:t>If we only take the expectation,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becomes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zero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under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regularity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conditions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Since:</a:t>
                </a:r>
              </a:p>
              <a:p>
                <a:pPr lvl="3"/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Differentiate both sides:</a:t>
                </a:r>
              </a:p>
              <a:p>
                <a:pPr lvl="4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𝜕𝜃</m:t>
                        </m:r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=0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4A7E03-4578-3E50-1FBA-72BFC18196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32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86700-96A8-A2E5-4AAA-1CE153B20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9581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AB1E8-35A3-C5CD-5343-FB74F86C1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06A5A8-41B6-A2AF-6EEE-C8F9932B38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Information Decomposition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 Probability Model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Why Square?</a:t>
                </a:r>
              </a:p>
              <a:p>
                <a:pPr lvl="3"/>
                <a:r>
                  <a:rPr lang="en-US" dirty="0"/>
                  <a:t>Differentiate both sides:</a:t>
                </a:r>
              </a:p>
              <a:p>
                <a:pPr lvl="4"/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𝜕𝜃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=0</m:t>
                        </m:r>
                      </m:e>
                    </m:nary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Now,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𝜕𝜃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b="0" dirty="0"/>
              </a:p>
              <a:p>
                <a:pPr lvl="3"/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𝜕𝜃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So, the average score is zero.</a:t>
                </a:r>
              </a:p>
              <a:p>
                <a:pPr lvl="3"/>
                <a:r>
                  <a:rPr lang="en-US" dirty="0"/>
                  <a:t>That is why we use: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instead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06A5A8-41B6-A2AF-6EEE-C8F9932B38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61E1D-839F-09A6-1475-153007FB0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633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D13C0-2235-3FDF-3FE1-17BF614E3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6C68CB-CCF9-D190-5BC8-5CAF6DFA82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Information Decomposition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Why it also becomes negative second derivative</a:t>
                </a:r>
              </a:p>
              <a:p>
                <a:pPr lvl="2"/>
                <a:r>
                  <a:rPr lang="en-US" dirty="0"/>
                  <a:t>Another equivalent definition is 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)]</m:t>
                        </m:r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This comes from calculus identity: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So, Fisher information can be seen in two ways: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average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slope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average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curvature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sharpness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A sharp likelihood means the parameter is easy to estimate.</a:t>
                </a:r>
              </a:p>
              <a:p>
                <a:pPr lvl="2"/>
                <a:r>
                  <a:rPr lang="en-US" dirty="0"/>
                  <a:t>A flat likelihood means the parameter is difficult to estimate.</a:t>
                </a:r>
              </a:p>
              <a:p>
                <a:pPr lvl="2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6C68CB-CCF9-D190-5BC8-5CAF6DFA82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DE715-BBFF-F1A3-4B07-5A1B62AD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354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7B7D2-C2A6-0AF9-676D-A0B117318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6316F3-06D2-1610-4D47-7144EDBECE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Gaussian Posterior Case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If posterior is gaussian: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Maximizing probability is equivalent to minimize negative log probability: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⇒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𝑙𝑜𝑔𝑝</m:t>
                        </m:r>
                        <m:d>
                          <m:dPr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Negative log posterior behave like an estimation cost function.</a:t>
                </a:r>
              </a:p>
              <a:p>
                <a:pPr lvl="1"/>
                <a:r>
                  <a:rPr lang="en-US" dirty="0"/>
                  <a:t>Suppose: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 the gaussian pdf is 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rad>
                              </m:den>
                            </m:f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[since first term does not depend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]</a:t>
                </a:r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6316F3-06D2-1610-4D47-7144EDBECE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00B6B-E530-F992-E4B7-9179A5D24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704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1CE32-EB55-2709-8796-D5677F98E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5BD7D9-E011-0500-FCBF-DF6AE95A44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Gaussian Posterior Case</a:t>
                </a:r>
              </a:p>
              <a:p>
                <a:pPr lvl="1"/>
                <a:r>
                  <a:rPr lang="en-US" dirty="0"/>
                  <a:t>Then the gaussian pdf is 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This is quadratic , because it contains: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that is parabola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Vector gaussian case:</a:t>
                </a:r>
              </a:p>
              <a:p>
                <a:pPr lvl="2"/>
                <a:r>
                  <a:rPr lang="en-US" dirty="0"/>
                  <a:t>For vector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multivariate Gaussian pdf is: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</m:e>
                    </m:func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 [ First two terms do not depend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] 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  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+ </m:t>
                        </m:r>
                      </m:e>
                    </m:func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 [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]</a:t>
                </a:r>
              </a:p>
              <a:p>
                <a:pPr lvl="2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5BD7D9-E011-0500-FCBF-DF6AE95A44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0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8B43A-E9EA-5307-75E2-D94C8D45E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78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50A40-AE4A-E29E-5DB8-EF4ADE5AA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71A6B-32EC-151B-819F-83C9954BB2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Gaussian Posterior Case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How does this give Fisher Information</a:t>
                </a:r>
              </a:p>
              <a:p>
                <a:pPr lvl="2"/>
                <a:r>
                  <a:rPr lang="en-US" dirty="0"/>
                  <a:t>The paper’s defines posterior fisher information as: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b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second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derivative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negative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posterior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First derivative: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𝑙𝑜𝑔𝑝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Second derivative:</a:t>
                </a:r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Finally,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3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71A6B-32EC-151B-819F-83C9954BB2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25735-C9F3-92E5-FE1C-5B676019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803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AC8B8-62AA-B083-F4F4-5C3CDD4B8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749B68-FDA0-48C4-697B-F152479B7E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Gaussian Posterior Case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Core intuition</a:t>
                </a:r>
              </a:p>
              <a:p>
                <a:pPr lvl="2"/>
                <a:r>
                  <a:rPr lang="en-US" dirty="0"/>
                  <a:t>Gaussian posterior looks like a bell shape</a:t>
                </a:r>
              </a:p>
              <a:p>
                <a:pPr lvl="2"/>
                <a:r>
                  <a:rPr lang="en-US" dirty="0"/>
                  <a:t>Negative log of Gaussian looks like a bowl/parabola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Narrow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bell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sharp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bowl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high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curvature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high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Fisher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information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Wide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bell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flat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bowl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low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curvature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low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Fisher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information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Fisher information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b="0" dirty="0"/>
                  <a:t> curvature of negative log posterior</a:t>
                </a:r>
              </a:p>
              <a:p>
                <a:pPr lvl="1"/>
                <a:r>
                  <a:rPr lang="en-US" dirty="0"/>
                  <a:t>For the linear Gaussian Kalman Filter, the posterior is Gaussian, and the Kalman covariance reaches the bound.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Kalman filter is optimal for linear Gaussian systems and achieves PCRB</a:t>
                </a:r>
              </a:p>
              <a:p>
                <a:pPr lvl="1"/>
                <a:r>
                  <a:rPr lang="en-US" dirty="0"/>
                  <a:t>EKF/UKF usually does not achieve PCRB exactly. We compare their MSE with PCRB.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749B68-FDA0-48C4-697B-F152479B7E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F47DB-E95C-500A-F8C4-C36F4AC1B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83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618D8-E83C-0345-86F2-100ED0632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669BC1-D1AC-2FF3-FDF6-7A73A957FC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Nuisance Parameter / Block Matrix Property</a:t>
                </a:r>
              </a:p>
              <a:p>
                <a:pPr lvl="1"/>
                <a:r>
                  <a:rPr lang="en-US" dirty="0"/>
                  <a:t>Suppose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information matrix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𝛼𝛽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𝛽𝛼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𝛽𝛽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we only care about the estimation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dirty="0"/>
                  <a:t>, then the useful information is: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𝛽𝛽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𝛽𝛼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𝛼𝛼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𝛼𝛽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is called the </a:t>
                </a:r>
                <a:r>
                  <a:rPr lang="en-US" dirty="0">
                    <a:solidFill>
                      <a:srgbClr val="7030A0"/>
                    </a:solidFill>
                  </a:rPr>
                  <a:t>information submatrix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other unknown variable exist, they reduce the effective information about the parameter we care about.</a:t>
                </a:r>
              </a:p>
              <a:p>
                <a:pPr lvl="1"/>
                <a:r>
                  <a:rPr lang="en-US" dirty="0"/>
                  <a:t>In filtering, this </a:t>
                </a:r>
                <a:r>
                  <a:rPr lang="en-US" dirty="0">
                    <a:solidFill>
                      <a:srgbClr val="7030A0"/>
                    </a:solidFill>
                  </a:rPr>
                  <a:t>becomes very important </a:t>
                </a:r>
                <a:r>
                  <a:rPr lang="en-US" dirty="0"/>
                  <a:t>because we may have the </a:t>
                </a:r>
                <a:r>
                  <a:rPr lang="en-US" dirty="0">
                    <a:solidFill>
                      <a:srgbClr val="7030A0"/>
                    </a:solidFill>
                  </a:rPr>
                  <a:t>whole trajectory</a:t>
                </a:r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,…..,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But we only want the current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So the previous states behave like nuisance variables.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669BC1-D1AC-2FF3-FDF6-7A73A957FC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4FFC9-F9D3-7478-2387-24A2AC60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864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867A7-69A9-1ECB-9272-0B7E5595E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6C57AE-D786-894A-194F-B941D23C2A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Filtering model in this Paper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The nonlinear filtering model is: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hidden state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dirty="0"/>
                  <a:t> measurement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dirty="0"/>
                  <a:t> Process noise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: measurement noise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motion/ dynamic model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dirty="0"/>
                  <a:t> measurement model</a:t>
                </a:r>
              </a:p>
              <a:p>
                <a:pPr lvl="1"/>
                <a:r>
                  <a:rPr lang="en-US" dirty="0"/>
                  <a:t>For radar / ISAC, an example state could be: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𝜈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𝜈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 and measurement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𝑎𝑛𝑔𝑒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𝐷𝑜𝑝𝑝𝑙𝑒𝑟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𝑎𝑛𝑔𝑙𝑒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𝑛𝑜𝑖𝑠𝑒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This is exactly why PCRB is useful in ISAC tracking.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6C57AE-D786-894A-194F-B941D23C2A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5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8124D-F6F9-ED99-DB3B-BF849EBAC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038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905DF-C4EB-5FFC-0DFE-B36E0C0FC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1F5DDC-2802-D1A2-626F-30EBF325D4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Filtering model in this Paper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Recursive PCRB</a:t>
                </a:r>
              </a:p>
              <a:p>
                <a:pPr lvl="2"/>
                <a:r>
                  <a:rPr lang="en-US" dirty="0"/>
                  <a:t>Computing the posterior information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time-step by time-step, instead of building one huge information matrix for the whole trajectory.</a:t>
                </a:r>
              </a:p>
              <a:p>
                <a:pPr lvl="2"/>
                <a:r>
                  <a:rPr lang="en-US" dirty="0"/>
                  <a:t>The papers key recursion is: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+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This gives the posterior Fisher information for the next state.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Filtering Model</a:t>
                </a:r>
              </a:p>
              <a:p>
                <a:pPr lvl="3"/>
                <a:r>
                  <a:rPr lang="en-US" dirty="0"/>
                  <a:t>Paper considers: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The state trajectory is: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,….,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Measurements are: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,….,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We want the information about the current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not the whole trajectory.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1F5DDC-2802-D1A2-626F-30EBF325D4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4647F-B2D8-1194-E4C8-C60B93AEF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0980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970E8-112E-CC21-008E-8ECB618F6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09C336-26F8-2D4A-D8B9-8120F20CCD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Filtering model in this Paper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Recursive PCRB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Joint density factorization</a:t>
                </a:r>
              </a:p>
              <a:p>
                <a:pPr lvl="3"/>
                <a:r>
                  <a:rPr lang="en-US" dirty="0"/>
                  <a:t>The system is Markov: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old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information</m:t>
                    </m:r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dynamic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transition</m:t>
                    </m:r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new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measurement</m:t>
                    </m:r>
                  </m:oMath>
                </a14:m>
                <a:endParaRPr lang="en-US" dirty="0"/>
              </a:p>
              <a:p>
                <a:pPr lvl="4"/>
                <a:r>
                  <a:rPr lang="en-US" dirty="0"/>
                  <a:t>We can write</a:t>
                </a:r>
              </a:p>
              <a:p>
                <a:pPr lvl="4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=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 </m:t>
                            </m:r>
                          </m:e>
                        </m:func>
                      </m:e>
                    </m:func>
                  </m:oMath>
                </a14:m>
                <a:endParaRPr lang="en-US" b="0" dirty="0"/>
              </a:p>
              <a:p>
                <a:pPr lvl="4"/>
                <a:r>
                  <a:rPr lang="en-US" dirty="0"/>
                  <a:t>This is source of recursion.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Information matrix for previous state</a:t>
                </a:r>
              </a:p>
              <a:p>
                <a:pPr lvl="3"/>
                <a:r>
                  <a:rPr lang="en-US" dirty="0">
                    <a:solidFill>
                      <a:srgbClr val="002060"/>
                    </a:solidFill>
                  </a:rPr>
                  <a:t>Partition the information matrix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as: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Information about the old states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,….,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dirty="0"/>
                  <a:t> direct information about the current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dirty="0"/>
                  <a:t> coupling between old states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09C336-26F8-2D4A-D8B9-8120F20CCD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6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3F8C5-190C-A65A-B11F-02D12202B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825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80589-43E2-1D24-0097-5E20D09D0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BF0790-9C4A-3174-55FA-8CB544B2DA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0"/>
                <a:ext cx="10515600" cy="5040529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Filtering model in this Paper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Recursive PCRB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Information matrix for previous state</a:t>
                </a:r>
              </a:p>
              <a:p>
                <a:pPr lvl="3"/>
                <a:r>
                  <a:rPr lang="en-US" dirty="0"/>
                  <a:t>The effective information about only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is the Schur complement: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This removes the nuisance effect of previous states.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Add the new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3"/>
                <a:r>
                  <a:rPr lang="en-US" dirty="0"/>
                  <a:t>Now include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. The information matrix of 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4"/>
                <a:r>
                  <a:rPr lang="en-US" dirty="0"/>
                  <a:t>Becomes:</a:t>
                </a:r>
              </a:p>
              <a:p>
                <a:pPr lvl="5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5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gives the old blocks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5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couples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giving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5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gives new measurement information inside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5"/>
                <a:r>
                  <a:rPr lang="en-US" dirty="0"/>
                  <a:t>Old states do not directly connect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, so the corner block is 0.</a:t>
                </a:r>
              </a:p>
              <a:p>
                <a:pPr lvl="3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BF0790-9C4A-3174-55FA-8CB544B2DA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0"/>
                <a:ext cx="10515600" cy="5040529"/>
              </a:xfrm>
              <a:blipFill>
                <a:blip r:embed="rId2"/>
                <a:stretch>
                  <a:fillRect l="-522" t="-1211" b="-1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0FB14-07B6-C183-6FD9-C3556428E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5032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D40CD-76FF-B9FE-428A-A8B91E43A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79367E-81CE-69E8-8DCB-46AC78FEEA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63367" y="1624524"/>
                <a:ext cx="10515600" cy="4527272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Filtering model in this Paper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Recursive PCRB</a:t>
                </a:r>
              </a:p>
              <a:p>
                <a:pPr lvl="2"/>
                <a:r>
                  <a:rPr lang="en-US" dirty="0"/>
                  <a:t>Definition of D Terms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 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 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So,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Curvature with respect to old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</m:oMath>
                </a14:m>
                <a:r>
                  <a:rPr lang="en-US" dirty="0"/>
                  <a:t> : coupling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Information directly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79367E-81CE-69E8-8DCB-46AC78FEEA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3367" y="1624524"/>
                <a:ext cx="10515600" cy="4527272"/>
              </a:xfrm>
              <a:blipFill>
                <a:blip r:embed="rId2"/>
                <a:stretch>
                  <a:fillRect l="-522" t="-1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237DF-EC67-B237-7B92-E8605CF7F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680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CFBB2-1A72-390A-803D-97FAE5DE7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56383B-EB91-0AE2-ACE9-A14DF99C44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2395" y="1603552"/>
                <a:ext cx="10515600" cy="4527272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Filtering model in this Paper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Recursive PCRB</a:t>
                </a:r>
              </a:p>
              <a:p>
                <a:pPr lvl="2"/>
                <a:r>
                  <a:rPr lang="en-US" dirty="0"/>
                  <a:t>Extract information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We only care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. So previous variables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) are nuisance variables.</a:t>
                </a:r>
              </a:p>
              <a:p>
                <a:pPr lvl="3"/>
                <a:r>
                  <a:rPr lang="en-US" dirty="0"/>
                  <a:t>Using the Schur complement: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0 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p>
                                  </m:sSubSup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Now the key identity is:</a:t>
                </a:r>
              </a:p>
              <a:p>
                <a:pPr lvl="4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0 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p>
                                  </m:sSubSup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4"/>
                <a:r>
                  <a:rPr lang="en-US" dirty="0"/>
                  <a:t>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4"/>
                <a:r>
                  <a:rPr lang="en-US" dirty="0"/>
                  <a:t>Therefore,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4"/>
                <a:r>
                  <a:rPr lang="en-US" dirty="0"/>
                  <a:t>This is the recursive PCRB equation.</a:t>
                </a:r>
              </a:p>
              <a:p>
                <a:pPr lvl="4"/>
                <a:endParaRPr lang="en-US" dirty="0"/>
              </a:p>
              <a:p>
                <a:pPr lvl="4"/>
                <a:endParaRPr lang="en-US" dirty="0"/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56383B-EB91-0AE2-ACE9-A14DF99C44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2395" y="1603552"/>
                <a:ext cx="10515600" cy="4527272"/>
              </a:xfrm>
              <a:blipFill>
                <a:blip r:embed="rId2"/>
                <a:stretch>
                  <a:fillRect l="-522" t="-1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7D797-3C56-EE25-BCBA-D70A6096F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7073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9E28C-1F62-6A28-F5C0-A129C8D5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78B220-0656-10B3-A475-70EE66E2AC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Filtering model in this Paper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Recursive PCRB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Intuition</a:t>
                </a:r>
              </a:p>
              <a:p>
                <a:pPr lvl="3"/>
                <a:r>
                  <a:rPr lang="en-US" dirty="0"/>
                  <a:t>Think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as the current information about the target.</a:t>
                </a:r>
              </a:p>
              <a:p>
                <a:pPr lvl="3"/>
                <a:r>
                  <a:rPr lang="en-US" dirty="0"/>
                  <a:t>At the next time: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US" dirty="0"/>
                  <a:t>direct information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uncertainty penalty from connection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So:</a:t>
                </a:r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</m:oMath>
                </a14:m>
                <a:r>
                  <a:rPr lang="en-US" dirty="0"/>
                  <a:t> adds information from transition and new measurement</a:t>
                </a:r>
              </a:p>
              <a:p>
                <a:pPr lvl="3"/>
                <a:r>
                  <a:rPr lang="en-US" dirty="0"/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depends on uncertain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. That uncertainty reduces usable information. This reduction is 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So, the recursion says:</a:t>
                </a:r>
              </a:p>
              <a:p>
                <a:pPr lvl="4"/>
                <a:r>
                  <a:rPr lang="en-US" dirty="0"/>
                  <a:t>New PCRB information = new direct information – loss due to previous-state uncertainty.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78B220-0656-10B3-A475-70EE66E2AC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E9594-1702-B67E-CCF8-F84DB7CD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1081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3CE16-C2C4-346A-05A3-87BF3C452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773904-5DE4-98BB-30AE-9142AE6241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Filtering model in this Paper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Recursive PCRB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This the heart of the paper</a:t>
                </a:r>
                <a:r>
                  <a:rPr lang="en-US" dirty="0"/>
                  <a:t>.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+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information at the current time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dirty="0"/>
                  <a:t> information at the next time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</m:oMath>
                </a14:m>
                <a:r>
                  <a:rPr lang="en-US" dirty="0"/>
                  <a:t>: information terms from the transition model and measurement model</a:t>
                </a:r>
              </a:p>
              <a:p>
                <a:pPr lvl="3"/>
                <a:r>
                  <a:rPr lang="en-US" dirty="0"/>
                  <a:t>Simple intuition:</a:t>
                </a:r>
              </a:p>
              <a:p>
                <a:pPr lvl="3"/>
                <a:r>
                  <a:rPr lang="en-US" dirty="0"/>
                  <a:t>New information = measurement information + dynamic information – uncertainty propagated from previous state.</a:t>
                </a:r>
              </a:p>
              <a:p>
                <a:pPr lvl="3"/>
                <a:r>
                  <a:rPr lang="en-US" dirty="0"/>
                  <a:t>This recursion is like information-form version of Kalman filtering, but more general.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773904-5DE4-98BB-30AE-9142AE6241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D0A99-A3EF-76A0-E0FD-E6BE73D7E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7304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06678-AE33-3A21-9764-1F4C09338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</p:spPr>
        <p:txBody>
          <a:bodyPr anchor="ctr">
            <a:normAutofit/>
          </a:bodyPr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36A17D-68A7-D62A-A176-5D56EDB1D61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060508" y="1708414"/>
                <a:ext cx="5104598" cy="4527272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Filtering model in this Paper</a:t>
                </a:r>
              </a:p>
              <a:p>
                <a:pPr lvl="1"/>
                <a:r>
                  <a:rPr lang="en-US" sz="2000" dirty="0">
                    <a:solidFill>
                      <a:srgbClr val="7030A0"/>
                    </a:solidFill>
                  </a:rPr>
                  <a:t>For additive Gaussian Noise</a:t>
                </a:r>
              </a:p>
              <a:p>
                <a:pPr lvl="2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2"/>
                <a:r>
                  <a:rPr lang="en-US" sz="2000" dirty="0"/>
                  <a:t>With: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2000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lvl="2"/>
                <a:r>
                  <a:rPr lang="en-US" sz="2000" dirty="0"/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control PCRB.</a:t>
                </a:r>
              </a:p>
              <a:p>
                <a:pPr marL="457200" lvl="1" indent="0">
                  <a:buNone/>
                </a:pPr>
                <a:endParaRPr lang="en-US" sz="2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36A17D-68A7-D62A-A176-5D56EDB1D6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60508" y="1708414"/>
                <a:ext cx="5104598" cy="4527272"/>
              </a:xfrm>
              <a:blipFill>
                <a:blip r:embed="rId2"/>
                <a:stretch>
                  <a:fillRect l="-1075" t="-1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186E7-6B5B-5863-7E16-A76D4EFA4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39D109-9F59-4B0B-8E20-D6D3A384B1F1}" type="slidenum">
              <a:rPr lang="ko-KR" altLang="en-US" smtClean="0"/>
              <a:pPr>
                <a:spcAft>
                  <a:spcPts val="600"/>
                </a:spcAft>
              </a:pPr>
              <a:t>29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B1A8897-BD05-92FF-275C-747B3AB4E8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0982053"/>
                  </p:ext>
                </p:extLst>
              </p:nvPr>
            </p:nvGraphicFramePr>
            <p:xfrm>
              <a:off x="6172200" y="2226962"/>
              <a:ext cx="5181601" cy="3372733"/>
            </p:xfrm>
            <a:graphic>
              <a:graphicData uri="http://schemas.openxmlformats.org/drawingml/2006/table">
                <a:tbl>
                  <a:tblPr>
                    <a:solidFill>
                      <a:schemeClr val="tx1">
                        <a:lumMod val="65000"/>
                        <a:lumOff val="35000"/>
                      </a:schemeClr>
                    </a:solidFill>
                  </a:tblPr>
                  <a:tblGrid>
                    <a:gridCol w="1568695">
                      <a:extLst>
                        <a:ext uri="{9D8B030D-6E8A-4147-A177-3AD203B41FA5}">
                          <a16:colId xmlns:a16="http://schemas.microsoft.com/office/drawing/2014/main" val="2628903400"/>
                        </a:ext>
                      </a:extLst>
                    </a:gridCol>
                    <a:gridCol w="3612906">
                      <a:extLst>
                        <a:ext uri="{9D8B030D-6E8A-4147-A177-3AD203B41FA5}">
                          <a16:colId xmlns:a16="http://schemas.microsoft.com/office/drawing/2014/main" val="623314692"/>
                        </a:ext>
                      </a:extLst>
                    </a:gridCol>
                  </a:tblGrid>
                  <a:tr h="48181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Matrix</a:t>
                          </a:r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Meaning</a:t>
                          </a:r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7172352"/>
                      </a:ext>
                    </a:extLst>
                  </a:tr>
                  <a:tr h="48181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0" i="1" cap="none" spc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cap="none" spc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1800" b="0" i="1" cap="none" spc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process noise covariance</a:t>
                          </a:r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9033093"/>
                      </a:ext>
                    </a:extLst>
                  </a:tr>
                  <a:tr h="48181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0" i="1" cap="none" spc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cap="none" spc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800" b="0" i="1" cap="none" spc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measurement noise covariance</a:t>
                          </a:r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6069548"/>
                      </a:ext>
                    </a:extLst>
                  </a:tr>
                  <a:tr h="48181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small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0" i="1" cap="none" spc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cap="none" spc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1800" b="0" i="1" cap="none" spc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motion is predictable</a:t>
                          </a:r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9316359"/>
                      </a:ext>
                    </a:extLst>
                  </a:tr>
                  <a:tr h="48181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large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0" i="1" cap="none" spc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cap="none" spc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1800" b="0" i="1" cap="none" spc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motion is uncertain</a:t>
                          </a:r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453975"/>
                      </a:ext>
                    </a:extLst>
                  </a:tr>
                  <a:tr h="48181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small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0" i="1" cap="none" spc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cap="none" spc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800" b="0" i="1" cap="none" spc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accurate sensing</a:t>
                          </a:r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2697221"/>
                      </a:ext>
                    </a:extLst>
                  </a:tr>
                  <a:tr h="48181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large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0" i="1" cap="none" spc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cap="none" spc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800" b="0" i="1" cap="none" spc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noisy sensing</a:t>
                          </a:r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2702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B1A8897-BD05-92FF-275C-747B3AB4E8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0982053"/>
                  </p:ext>
                </p:extLst>
              </p:nvPr>
            </p:nvGraphicFramePr>
            <p:xfrm>
              <a:off x="6172200" y="2226962"/>
              <a:ext cx="5181601" cy="3372733"/>
            </p:xfrm>
            <a:graphic>
              <a:graphicData uri="http://schemas.openxmlformats.org/drawingml/2006/table">
                <a:tbl>
                  <a:tblPr>
                    <a:solidFill>
                      <a:schemeClr val="tx1">
                        <a:lumMod val="65000"/>
                        <a:lumOff val="35000"/>
                      </a:schemeClr>
                    </a:solidFill>
                  </a:tblPr>
                  <a:tblGrid>
                    <a:gridCol w="1568695">
                      <a:extLst>
                        <a:ext uri="{9D8B030D-6E8A-4147-A177-3AD203B41FA5}">
                          <a16:colId xmlns:a16="http://schemas.microsoft.com/office/drawing/2014/main" val="2628903400"/>
                        </a:ext>
                      </a:extLst>
                    </a:gridCol>
                    <a:gridCol w="3612906">
                      <a:extLst>
                        <a:ext uri="{9D8B030D-6E8A-4147-A177-3AD203B41FA5}">
                          <a16:colId xmlns:a16="http://schemas.microsoft.com/office/drawing/2014/main" val="623314692"/>
                        </a:ext>
                      </a:extLst>
                    </a:gridCol>
                  </a:tblGrid>
                  <a:tr h="48181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Matrix</a:t>
                          </a:r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Meaning</a:t>
                          </a:r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7172352"/>
                      </a:ext>
                    </a:extLst>
                  </a:tr>
                  <a:tr h="4818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100000" r="-229845" b="-5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process noise covariance</a:t>
                          </a:r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9033093"/>
                      </a:ext>
                    </a:extLst>
                  </a:tr>
                  <a:tr h="4818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200000" r="-229845" b="-4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measurement noise covariance</a:t>
                          </a:r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6069548"/>
                      </a:ext>
                    </a:extLst>
                  </a:tr>
                  <a:tr h="4818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296250" r="-229845" b="-29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motion is predictable</a:t>
                          </a:r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9316359"/>
                      </a:ext>
                    </a:extLst>
                  </a:tr>
                  <a:tr h="4818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401266" r="-229845" b="-20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motion is uncertain</a:t>
                          </a:r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453975"/>
                      </a:ext>
                    </a:extLst>
                  </a:tr>
                  <a:tr h="4818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501266" r="-229845" b="-10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accurate sensing</a:t>
                          </a:r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2697221"/>
                      </a:ext>
                    </a:extLst>
                  </a:tr>
                  <a:tr h="4818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601266" r="-229845" b="-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noisy sensing</a:t>
                          </a:r>
                        </a:p>
                      </a:txBody>
                      <a:tcPr marL="105508" marR="105508" marT="52754" marB="105508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270276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494134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E2932F-5EA6-60F9-37A6-A2AB20B7B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F2EBEC8-3067-9039-3383-FF4949CDB9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Filtering model in this Paper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In ISAC papers,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may come from sensing CRB</a:t>
                </a:r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𝑑𝑖𝑎𝑔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CRB of range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𝜈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 CRB of velocity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CRB of angle</a:t>
                </a:r>
              </a:p>
              <a:p>
                <a:pPr lvl="2"/>
                <a:r>
                  <a:rPr lang="en-US" dirty="0"/>
                  <a:t>Then this measurement noise affects PCRB tracking performance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Connection with Kalman / EKF</a:t>
                </a:r>
              </a:p>
              <a:p>
                <a:pPr lvl="2"/>
                <a:r>
                  <a:rPr lang="en-US" dirty="0"/>
                  <a:t>For linear Gaussian model: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Kalman covariance satisfies: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So PCRB is achieved.</a:t>
                </a:r>
              </a:p>
              <a:p>
                <a:pPr lvl="3"/>
                <a:r>
                  <a:rPr lang="en-US" dirty="0"/>
                  <a:t>From nonlinear model: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F2EBEC8-3067-9039-3383-FF4949CDB9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8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A81EF-0E01-B601-3312-8549E8B3B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1184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1AE16-6E67-89B9-2B60-4FD1EDE07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161706-4B64-6957-A57F-6B077904DD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Filtering model in this Paper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Connection with Kalman / EKF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EKF approximates using Jacobians: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Then we compare: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𝐸𝐾𝐹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If EKF MSE is close to PCRB, tracking is good.</a:t>
                </a:r>
              </a:p>
              <a:p>
                <a:pPr lvl="2"/>
                <a:r>
                  <a:rPr lang="en-US" dirty="0"/>
                  <a:t>If EKF MSE is far above PCRB, estimator is inefficient or model is difficult.</a:t>
                </a:r>
              </a:p>
              <a:p>
                <a:pPr lvl="1"/>
                <a:r>
                  <a:rPr lang="en-US" dirty="0"/>
                  <a:t>Why PCRB matters for ISAC Research</a:t>
                </a:r>
              </a:p>
              <a:p>
                <a:pPr lvl="2"/>
                <a:r>
                  <a:rPr lang="en-US" dirty="0"/>
                  <a:t>How beamforming improves sensing information</a:t>
                </a:r>
              </a:p>
              <a:p>
                <a:pPr lvl="2"/>
                <a:r>
                  <a:rPr lang="en-US" dirty="0"/>
                  <a:t>How bandwidth/power allocation improves tracking.</a:t>
                </a:r>
              </a:p>
              <a:p>
                <a:pPr lvl="2"/>
                <a:r>
                  <a:rPr lang="en-US" dirty="0"/>
                  <a:t>How CRB of range/angle/Doppler affects tracking error.</a:t>
                </a:r>
              </a:p>
              <a:p>
                <a:pPr lvl="2"/>
                <a:r>
                  <a:rPr lang="en-US" dirty="0"/>
                  <a:t>Whether EKF tracking is close to theoretical limit</a:t>
                </a:r>
              </a:p>
              <a:p>
                <a:pPr lvl="2"/>
                <a:r>
                  <a:rPr lang="en-US" dirty="0"/>
                  <a:t>How communication constraints degrade sensing/tracking.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161706-4B64-6957-A57F-6B077904DD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4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DF9BB-F334-D1CF-BB54-023094C13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98720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1ED5A-0CBF-23DF-0CC3-9DB166155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Regularity boundary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BFDA35-16B4-3340-1A1E-2FDB360C94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Goal</a:t>
                </a:r>
              </a:p>
              <a:p>
                <a:pPr lvl="1"/>
                <a:r>
                  <a:rPr lang="en-US" dirty="0"/>
                  <a:t>Why Does the First Term Become Zero?</a:t>
                </a:r>
              </a:p>
              <a:p>
                <a:pPr lvl="1"/>
                <a:r>
                  <a:rPr lang="en-US" dirty="0"/>
                  <a:t>We want to show: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∬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sepChr m:val=",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m:rPr>
                        <m:nor/>
                      </m:rPr>
                      <a:rPr lang="en-US" i="1"/>
                      <m:t>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𝑑𝑥</m:t>
                    </m:r>
                    <m:r>
                      <m:rPr>
                        <m:nor/>
                      </m:rPr>
                      <a:rPr lang="en-US" i="1"/>
                      <m:t>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sepChr m:val=",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sepChr m:val=",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term appears when deriving the equivalence between: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and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BFDA35-16B4-3340-1A1E-2FDB360C94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E368D-4080-4089-B26D-09F38F6F7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2615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7352-8E93-5C67-20DB-9D48251D8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Regularity boundary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E27BC-FEE7-A681-2B5E-E6EDFF0A13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Start From The Second Derivative</a:t>
                </a:r>
                <a:endParaRPr lang="en-US" dirty="0"/>
              </a:p>
              <a:p>
                <a:pPr lvl="1"/>
                <a:r>
                  <a:rPr lang="en-US" dirty="0"/>
                  <a:t>Using the derivative identity: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sSup>
                          <m:sSupPr>
                            <m:ctrlPr>
                              <a:rPr lang="en-US"/>
                            </m:ctrlPr>
                          </m:sSupPr>
                          <m:e>
                            <m:r>
                              <a:rPr lang="en-US"/>
                              <m:t>∂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/>
                              <m:t>log</m:t>
                            </m:r>
                          </m:fName>
                          <m:e>
                            <m:r>
                              <a:rPr lang="en-US" i="1"/>
                              <m:t>𝑝</m:t>
                            </m:r>
                          </m:e>
                        </m:func>
                      </m:num>
                      <m:den>
                        <m:r>
                          <a:rPr lang="en-US"/>
                          <m:t>∂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</m:sSub>
                        <m:r>
                          <a:rPr lang="en-US"/>
                          <m:t>∂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𝑗</m:t>
                            </m:r>
                          </m:sub>
                        </m:sSub>
                      </m:den>
                    </m:f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1</m:t>
                        </m:r>
                      </m:num>
                      <m:den>
                        <m:r>
                          <a:rPr lang="en-US" i="1"/>
                          <m:t>𝑝</m:t>
                        </m:r>
                      </m:den>
                    </m:f>
                    <m:f>
                      <m:fPr>
                        <m:ctrlPr>
                          <a:rPr lang="en-US" i="1"/>
                        </m:ctrlPr>
                      </m:fPr>
                      <m:num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/>
                              <m:t>∂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 i="1"/>
                          <m:t>𝑝</m:t>
                        </m:r>
                      </m:num>
                      <m:den>
                        <m:r>
                          <a:rPr lang="en-US"/>
                          <m:t>∂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</m:sSub>
                        <m:r>
                          <a:rPr lang="en-US"/>
                          <m:t>∂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𝑗</m:t>
                            </m:r>
                          </m:sub>
                        </m:sSub>
                      </m:den>
                    </m:f>
                    <m:r>
                      <a:rPr lang="en-US"/>
                      <m:t>−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𝑝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∂</m:t>
                        </m:r>
                        <m:r>
                          <a:rPr lang="en-US" i="1"/>
                          <m:t>𝑝</m:t>
                        </m:r>
                      </m:num>
                      <m:den>
                        <m:r>
                          <a:rPr lang="en-US"/>
                          <m:t>∂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∂</m:t>
                        </m:r>
                        <m:r>
                          <a:rPr lang="en-US" i="1"/>
                          <m:t>𝑝</m:t>
                        </m:r>
                      </m:num>
                      <m:den>
                        <m:r>
                          <a:rPr lang="en-US"/>
                          <m:t>∂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Taking expectation: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/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/>
                                  <m:t>∂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i="1"/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/>
                                  <m:t>log</m:t>
                                </m:r>
                              </m:fName>
                              <m:e>
                                <m:r>
                                  <a:rPr lang="en-US" i="1"/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/>
                              <m:t>∂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𝜃</m:t>
                                </m:r>
                              </m:e>
                              <m:sub>
                                <m:r>
                                  <a:rPr lang="en-US" i="1"/>
                                  <m:t>𝑖</m:t>
                                </m:r>
                              </m:sub>
                            </m:sSub>
                            <m:r>
                              <a:rPr lang="en-US"/>
                              <m:t>∂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𝜃</m:t>
                                </m:r>
                              </m:e>
                              <m:sub>
                                <m:r>
                                  <a:rPr lang="en-US" i="1"/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/>
                      <m:t>=</m:t>
                    </m:r>
                    <m:nary>
                      <m:naryPr>
                        <m:chr m:val="∬"/>
                        <m:subHide m:val="on"/>
                        <m:supHide m:val="on"/>
                        <m:ctrlPr>
                          <a:rPr lang="en-US" i="1"/>
                        </m:ctrlPr>
                      </m:naryPr>
                      <m:sub/>
                      <m:sup/>
                      <m:e>
                        <m:r>
                          <a:rPr lang="en-US" i="1"/>
                          <m:t>𝑝</m:t>
                        </m:r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/>
                              <m:t>1</m:t>
                            </m:r>
                          </m:num>
                          <m:den>
                            <m:r>
                              <a:rPr lang="en-US" i="1"/>
                              <m:t>𝑝</m:t>
                            </m:r>
                          </m:den>
                        </m:f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/>
                                  <m:t>∂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  <m:r>
                              <a:rPr lang="en-US" i="1"/>
                              <m:t>𝑝</m:t>
                            </m:r>
                          </m:num>
                          <m:den>
                            <m:r>
                              <a:rPr lang="en-US"/>
                              <m:t>∂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𝜃</m:t>
                                </m:r>
                              </m:e>
                              <m:sub>
                                <m:r>
                                  <a:rPr lang="en-US" i="1"/>
                                  <m:t>𝑖</m:t>
                                </m:r>
                              </m:sub>
                            </m:sSub>
                            <m:r>
                              <a:rPr lang="en-US"/>
                              <m:t>∂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𝜃</m:t>
                                </m:r>
                              </m:e>
                              <m:sub>
                                <m:r>
                                  <a:rPr lang="en-US" i="1"/>
                                  <m:t>𝑗</m:t>
                                </m:r>
                              </m:sub>
                            </m:sSub>
                          </m:den>
                        </m:f>
                        <m:r>
                          <a:rPr lang="en-US"/>
                          <m:t>−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/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𝑝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den>
                        </m:f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/>
                              <m:t>∂</m:t>
                            </m:r>
                            <m:r>
                              <a:rPr lang="en-US" i="1"/>
                              <m:t>𝑝</m:t>
                            </m:r>
                          </m:num>
                          <m:den>
                            <m:r>
                              <a:rPr lang="en-US"/>
                              <m:t>∂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𝜃</m:t>
                                </m:r>
                              </m:e>
                              <m:sub>
                                <m:r>
                                  <a:rPr lang="en-US" i="1"/>
                                  <m:t>𝑖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/>
                              <m:t>∂</m:t>
                            </m:r>
                            <m:r>
                              <a:rPr lang="en-US" i="1"/>
                              <m:t>𝑝</m:t>
                            </m:r>
                          </m:num>
                          <m:den>
                            <m:r>
                              <a:rPr lang="en-US"/>
                              <m:t>∂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𝜃</m:t>
                                </m:r>
                              </m:e>
                              <m:sub>
                                <m:r>
                                  <a:rPr lang="en-US" i="1"/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i="1"/>
                      <m:t>𝑑𝑥</m:t>
                    </m:r>
                    <m:r>
                      <m:rPr>
                        <m:nor/>
                      </m:rPr>
                      <a:rPr lang="en-US" i="1"/>
                      <m:t> </m:t>
                    </m:r>
                    <m:r>
                      <a:rPr lang="en-US" i="1"/>
                      <m:t>𝑑</m:t>
                    </m:r>
                    <m:r>
                      <a:rPr lang="en-US" i="1"/>
                      <m:t>𝜃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/>
                      <m:t>=</m:t>
                    </m:r>
                    <m:nary>
                      <m:naryPr>
                        <m:chr m:val="∬"/>
                        <m:subHide m:val="on"/>
                        <m:supHide m:val="on"/>
                        <m:ctrlPr>
                          <a:rPr lang="en-US" i="1"/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/>
                                  <m:t>∂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  <m:r>
                              <a:rPr lang="en-US" i="1"/>
                              <m:t>𝑝</m:t>
                            </m:r>
                          </m:num>
                          <m:den>
                            <m:r>
                              <a:rPr lang="en-US"/>
                              <m:t>∂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𝜃</m:t>
                                </m:r>
                              </m:e>
                              <m:sub>
                                <m:r>
                                  <a:rPr lang="en-US" i="1"/>
                                  <m:t>𝑖</m:t>
                                </m:r>
                              </m:sub>
                            </m:sSub>
                            <m:r>
                              <a:rPr lang="en-US"/>
                              <m:t>∂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𝜃</m:t>
                                </m:r>
                              </m:e>
                              <m:sub>
                                <m:r>
                                  <a:rPr lang="en-US" i="1"/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en-US" i="1"/>
                      <m:t>𝑑𝑥</m:t>
                    </m:r>
                    <m:r>
                      <m:rPr>
                        <m:nor/>
                      </m:rPr>
                      <a:rPr lang="en-US" i="1"/>
                      <m:t> </m:t>
                    </m:r>
                    <m:r>
                      <a:rPr lang="en-US" i="1"/>
                      <m:t>𝑑</m:t>
                    </m:r>
                    <m:r>
                      <a:rPr lang="en-US" i="1"/>
                      <m:t>𝜃</m:t>
                    </m:r>
                    <m:r>
                      <a:rPr lang="en-US"/>
                      <m:t>−</m:t>
                    </m:r>
                    <m:nary>
                      <m:naryPr>
                        <m:chr m:val="∬"/>
                        <m:subHide m:val="on"/>
                        <m:supHide m:val="on"/>
                        <m:ctrlPr>
                          <a:rPr lang="en-US" i="1"/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/>
                              <m:t>1</m:t>
                            </m:r>
                          </m:num>
                          <m:den>
                            <m:r>
                              <a:rPr lang="en-US" i="1"/>
                              <m:t>𝑝</m:t>
                            </m:r>
                          </m:den>
                        </m:f>
                      </m:e>
                    </m:nary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∂</m:t>
                        </m:r>
                        <m:r>
                          <a:rPr lang="en-US" i="1"/>
                          <m:t>𝑝</m:t>
                        </m:r>
                      </m:num>
                      <m:den>
                        <m:r>
                          <a:rPr lang="en-US"/>
                          <m:t>∂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∂</m:t>
                        </m:r>
                        <m:r>
                          <a:rPr lang="en-US" i="1"/>
                          <m:t>𝑝</m:t>
                        </m:r>
                      </m:num>
                      <m:den>
                        <m:r>
                          <a:rPr lang="en-US"/>
                          <m:t>∂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𝑗</m:t>
                            </m:r>
                          </m:sub>
                        </m:sSub>
                      </m:den>
                    </m:f>
                    <m:r>
                      <a:rPr lang="en-US" i="1"/>
                      <m:t>𝑑𝑥</m:t>
                    </m:r>
                    <m:r>
                      <m:rPr>
                        <m:nor/>
                      </m:rPr>
                      <a:rPr lang="en-US" i="1"/>
                      <m:t> </m:t>
                    </m:r>
                    <m:r>
                      <a:rPr lang="en-US" i="1"/>
                      <m:t>𝑑</m:t>
                    </m:r>
                    <m:r>
                      <a:rPr lang="en-US" i="1"/>
                      <m:t>𝜃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E27BC-FEE7-A681-2B5E-E6EDFF0A13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4E25B-03D5-4B27-2406-553B3901C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1216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CCD50-3D30-258C-D2F3-D4ED13615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8081"/>
            <a:ext cx="10515600" cy="681250"/>
          </a:xfrm>
        </p:spPr>
        <p:txBody>
          <a:bodyPr/>
          <a:lstStyle/>
          <a:p>
            <a:r>
              <a:rPr lang="en-US" dirty="0"/>
              <a:t>Regularity Condition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34C033-409B-6700-0FEB-CDFBB341CC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Focus On The First Term</a:t>
                </a:r>
                <a:endParaRPr lang="en-US" dirty="0"/>
              </a:p>
              <a:p>
                <a:pPr lvl="1"/>
                <a:r>
                  <a:rPr lang="en-US" dirty="0"/>
                  <a:t>The first term is: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  <m:r>
                      <a:rPr lang="en-US"/>
                      <m:t>=</m:t>
                    </m:r>
                    <m:nary>
                      <m:naryPr>
                        <m:chr m:val="∬"/>
                        <m:subHide m:val="on"/>
                        <m:supHide m:val="on"/>
                        <m:ctrlPr>
                          <a:rPr lang="en-US" i="1"/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/>
                                  <m:t>∂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  <m:r>
                              <a:rPr lang="en-US" i="1"/>
                              <m:t>𝑝</m:t>
                            </m:r>
                            <m:d>
                              <m:dPr>
                                <m:sepChr m:val=",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𝑥</m:t>
                                </m:r>
                              </m:e>
                              <m:e>
                                <m:r>
                                  <a:rPr lang="en-US" i="1"/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/>
                              <m:t>∂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𝜃</m:t>
                                </m:r>
                              </m:e>
                              <m:sub>
                                <m:r>
                                  <a:rPr lang="en-US" i="1"/>
                                  <m:t>𝑖</m:t>
                                </m:r>
                              </m:sub>
                            </m:sSub>
                            <m:r>
                              <a:rPr lang="en-US"/>
                              <m:t>∂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𝜃</m:t>
                                </m:r>
                              </m:e>
                              <m:sub>
                                <m:r>
                                  <a:rPr lang="en-US" i="1"/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en-US" i="1"/>
                      <m:t>𝑑𝑥</m:t>
                    </m:r>
                    <m:r>
                      <m:rPr>
                        <m:nor/>
                      </m:rPr>
                      <a:rPr lang="en-US" i="1"/>
                      <m:t> </m:t>
                    </m:r>
                    <m:r>
                      <a:rPr lang="en-US" i="1"/>
                      <m:t>𝑑</m:t>
                    </m:r>
                    <m:r>
                      <a:rPr lang="en-US" i="1"/>
                      <m:t>𝜃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Write: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sSup>
                          <m:sSupPr>
                            <m:ctrlPr>
                              <a:rPr lang="en-US"/>
                            </m:ctrlPr>
                          </m:sSupPr>
                          <m:e>
                            <m:r>
                              <a:rPr lang="en-US"/>
                              <m:t>∂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 i="1"/>
                          <m:t>𝑝</m:t>
                        </m:r>
                      </m:num>
                      <m:den>
                        <m:r>
                          <a:rPr lang="en-US"/>
                          <m:t>∂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</m:sSub>
                        <m:r>
                          <a:rPr lang="en-US"/>
                          <m:t>∂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𝑗</m:t>
                            </m:r>
                          </m:sub>
                        </m:sSub>
                      </m:den>
                    </m:f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∂</m:t>
                        </m:r>
                      </m:num>
                      <m:den>
                        <m:r>
                          <a:rPr lang="en-US"/>
                          <m:t>∂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𝑗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/>
                        </m:ctrlPr>
                      </m:dPr>
                      <m:e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/>
                              <m:t>∂</m:t>
                            </m:r>
                            <m:r>
                              <a:rPr lang="en-US" i="1"/>
                              <m:t>𝑝</m:t>
                            </m:r>
                          </m:num>
                          <m:den>
                            <m:r>
                              <a:rPr lang="en-US"/>
                              <m:t>∂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𝜃</m:t>
                                </m:r>
                              </m:e>
                              <m:sub>
                                <m:r>
                                  <a:rPr lang="en-US" i="1"/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  <m:r>
                      <a:rPr lang="en-US"/>
                      <m:t>=</m:t>
                    </m:r>
                    <m:nary>
                      <m:naryPr>
                        <m:chr m:val="∬"/>
                        <m:subHide m:val="on"/>
                        <m:supHide m:val="on"/>
                        <m:ctrlPr>
                          <a:rPr lang="en-US" i="1"/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/>
                              <m:t>∂</m:t>
                            </m:r>
                          </m:num>
                          <m:den>
                            <m:r>
                              <a:rPr lang="en-US"/>
                              <m:t>∂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𝜃</m:t>
                                </m:r>
                              </m:e>
                              <m:sub>
                                <m:r>
                                  <a:rPr lang="en-US" i="1"/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  <m:d>
                      <m:dPr>
                        <m:ctrlPr>
                          <a:rPr lang="en-US" i="1"/>
                        </m:ctrlPr>
                      </m:dPr>
                      <m:e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/>
                              <m:t>∂</m:t>
                            </m:r>
                            <m:r>
                              <a:rPr lang="en-US" i="1"/>
                              <m:t>𝑝</m:t>
                            </m:r>
                            <m:d>
                              <m:dPr>
                                <m:sepChr m:val=",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𝑥</m:t>
                                </m:r>
                              </m:e>
                              <m:e>
                                <m:r>
                                  <a:rPr lang="en-US" i="1"/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/>
                              <m:t>∂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𝜃</m:t>
                                </m:r>
                              </m:e>
                              <m:sub>
                                <m:r>
                                  <a:rPr lang="en-US" i="1"/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i="1"/>
                      <m:t>𝑑𝑥</m:t>
                    </m:r>
                    <m:r>
                      <m:rPr>
                        <m:nor/>
                      </m:rPr>
                      <a:rPr lang="en-US" i="1"/>
                      <m:t> </m:t>
                    </m:r>
                    <m:r>
                      <a:rPr lang="en-US" i="1"/>
                      <m:t>𝑑</m:t>
                    </m:r>
                    <m:r>
                      <a:rPr lang="en-US" i="1"/>
                      <m:t>𝜃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Now integrate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𝜃</m:t>
                        </m:r>
                      </m:e>
                      <m:sub>
                        <m:r>
                          <a:rPr lang="en-US" i="1"/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34C033-409B-6700-0FEB-CDFBB341CC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E1D9D-FCB1-6CD3-7E8F-E9DCE76EC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775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FE101-4161-0AAB-FEDF-2635E977E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Regularity Condition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982058-4CCC-F469-B035-CF91BB3521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Boundary Calculation</a:t>
                </a:r>
                <a:endParaRPr lang="en-US" dirty="0"/>
              </a:p>
              <a:p>
                <a:pPr lvl="1"/>
                <a:r>
                  <a:rPr lang="en-US" dirty="0"/>
                  <a:t>Assume: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𝜃</m:t>
                        </m:r>
                      </m:e>
                      <m:sub>
                        <m:r>
                          <a:rPr lang="en-US" i="1"/>
                          <m:t>𝑗</m:t>
                        </m:r>
                      </m:sub>
                    </m:sSub>
                    <m:r>
                      <a:rPr lang="en-US"/>
                      <m:t>∈</m:t>
                    </m:r>
                    <m:d>
                      <m:dPr>
                        <m:sepChr m:val=","/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−</m:t>
                        </m:r>
                      </m:e>
                      <m:e>
                        <m:r>
                          <a:rPr lang="en-US"/>
                          <m:t>∞∞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Then: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grow m:val="on"/>
                        <m:ctrlPr>
                          <a:rPr lang="en-US"/>
                        </m:ctrlPr>
                      </m:naryPr>
                      <m:sub>
                        <m:r>
                          <a:rPr lang="en-US"/>
                          <m:t>−∞</m:t>
                        </m:r>
                      </m:sub>
                      <m:sup>
                        <m:r>
                          <a:rPr lang="en-US"/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/>
                              <m:t>∂</m:t>
                            </m:r>
                          </m:num>
                          <m:den>
                            <m:r>
                              <a:rPr lang="en-US"/>
                              <m:t>∂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𝜃</m:t>
                                </m:r>
                              </m:e>
                              <m:sub>
                                <m:r>
                                  <a:rPr lang="en-US" i="1"/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  <m:d>
                      <m:dPr>
                        <m:ctrlPr>
                          <a:rPr lang="en-US" i="1"/>
                        </m:ctrlPr>
                      </m:dPr>
                      <m:e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/>
                              <m:t>∂</m:t>
                            </m:r>
                            <m:r>
                              <a:rPr lang="en-US" i="1"/>
                              <m:t>𝑝</m:t>
                            </m:r>
                            <m:d>
                              <m:dPr>
                                <m:sepChr m:val=",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𝑥</m:t>
                                </m:r>
                              </m:e>
                              <m:e>
                                <m:r>
                                  <a:rPr lang="en-US" i="1"/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/>
                              <m:t>∂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𝜃</m:t>
                                </m:r>
                              </m:e>
                              <m:sub>
                                <m:r>
                                  <a:rPr lang="en-US" i="1"/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i="1"/>
                      <m:t>𝑑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𝜃</m:t>
                        </m:r>
                      </m:e>
                      <m:sub>
                        <m:r>
                          <a:rPr lang="en-US" i="1"/>
                          <m:t>𝑗</m:t>
                        </m:r>
                      </m:sub>
                    </m:sSub>
                    <m:r>
                      <a:rPr lang="en-US"/>
                      <m:t>=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/>
                                </m:ctrlPr>
                              </m:fPr>
                              <m:num>
                                <m:r>
                                  <a:rPr lang="en-US"/>
                                  <m:t>∂</m:t>
                                </m:r>
                                <m:r>
                                  <a:rPr lang="en-US" i="1"/>
                                  <m:t>𝑝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𝑥</m:t>
                                    </m:r>
                                  </m:e>
                                  <m:e>
                                    <m:r>
                                      <a:rPr lang="en-US" i="1"/>
                                      <m:t>𝜃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/>
                                  <m:t>∂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i="1"/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/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𝑗</m:t>
                            </m:r>
                          </m:sub>
                        </m:sSub>
                        <m:r>
                          <a:rPr lang="en-US"/>
                          <m:t>=−∞</m:t>
                        </m:r>
                      </m:sub>
                      <m:sup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𝑗</m:t>
                            </m:r>
                          </m:sub>
                        </m:sSub>
                        <m:r>
                          <a:rPr lang="en-US"/>
                          <m:t>=∞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=</m:t>
                    </m:r>
                    <m:limLow>
                      <m:limLowPr>
                        <m:ctrlPr>
                          <a:rPr lang="en-US" i="1"/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𝑗</m:t>
                            </m:r>
                          </m:sub>
                        </m:sSub>
                        <m:r>
                          <a:rPr lang="en-US"/>
                          <m:t>→∞</m:t>
                        </m:r>
                      </m:lim>
                    </m:limLow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∂</m:t>
                        </m:r>
                        <m:r>
                          <a:rPr lang="en-US" i="1"/>
                          <m:t>𝑝</m:t>
                        </m:r>
                        <m:d>
                          <m:dPr>
                            <m:sepChr m:val=",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𝑥</m:t>
                            </m:r>
                          </m:e>
                          <m:e>
                            <m:r>
                              <a:rPr lang="en-US" i="1"/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/>
                          <m:t>∂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</m:sSub>
                      </m:den>
                    </m:f>
                    <m:r>
                      <a:rPr lang="en-US"/>
                      <m:t>−</m:t>
                    </m:r>
                    <m:limLow>
                      <m:limLowPr>
                        <m:ctrlPr>
                          <a:rPr lang="en-US" i="1"/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𝑗</m:t>
                            </m:r>
                          </m:sub>
                        </m:sSub>
                        <m:r>
                          <a:rPr lang="en-US"/>
                          <m:t>→−∞</m:t>
                        </m:r>
                      </m:lim>
                    </m:limLow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∂</m:t>
                        </m:r>
                        <m:r>
                          <a:rPr lang="en-US" i="1"/>
                          <m:t>𝑝</m:t>
                        </m:r>
                        <m:d>
                          <m:dPr>
                            <m:sepChr m:val=",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𝑥</m:t>
                            </m:r>
                          </m:e>
                          <m:e>
                            <m:r>
                              <a:rPr lang="en-US" i="1"/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/>
                          <m:t>∂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Under regularity/boundary conditions: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/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𝑗</m:t>
                            </m:r>
                          </m:sub>
                        </m:sSub>
                        <m:r>
                          <a:rPr lang="en-US"/>
                          <m:t>→∞</m:t>
                        </m:r>
                      </m:lim>
                    </m:limLow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∂</m:t>
                        </m:r>
                        <m:r>
                          <a:rPr lang="en-US" i="1"/>
                          <m:t>𝑝</m:t>
                        </m:r>
                        <m:d>
                          <m:dPr>
                            <m:sepChr m:val=",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𝑥</m:t>
                            </m:r>
                          </m:e>
                          <m:e>
                            <m:r>
                              <a:rPr lang="en-US" i="1"/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/>
                          <m:t>∂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</m:sSub>
                      </m:den>
                    </m:f>
                    <m:r>
                      <a:rPr lang="en-US"/>
                      <m:t>=0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/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𝑗</m:t>
                            </m:r>
                          </m:sub>
                        </m:sSub>
                        <m:r>
                          <a:rPr lang="en-US"/>
                          <m:t>→−∞</m:t>
                        </m:r>
                      </m:lim>
                    </m:limLow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∂</m:t>
                        </m:r>
                        <m:r>
                          <a:rPr lang="en-US" i="1"/>
                          <m:t>𝑝</m:t>
                        </m:r>
                        <m:d>
                          <m:dPr>
                            <m:sepChr m:val=",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𝑥</m:t>
                            </m:r>
                          </m:e>
                          <m:e>
                            <m:r>
                              <a:rPr lang="en-US" i="1"/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/>
                          <m:t>∂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</m:sSub>
                      </m:den>
                    </m:f>
                    <m:r>
                      <a:rPr lang="en-US"/>
                      <m:t>=0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  <m:r>
                      <a:rPr lang="en-US"/>
                      <m:t>=0−0=0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982058-4CCC-F469-B035-CF91BB3521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C99FB-D363-BD02-980F-A84FDB6AF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1626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08727-318E-52A8-2A6F-2AB98620A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Regularity Condition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22A588-2619-04C4-E7E8-F3C12CFD00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Regularity Condition Meaning</a:t>
                </a:r>
                <a:endParaRPr lang="en-US" dirty="0"/>
              </a:p>
              <a:p>
                <a:pPr lvl="1"/>
                <a:r>
                  <a:rPr lang="en-US" dirty="0"/>
                  <a:t>The regularity condition means the pdf and its derivatives vanish at the boundary.</a:t>
                </a:r>
              </a:p>
              <a:p>
                <a:pPr lvl="1"/>
                <a:r>
                  <a:rPr lang="en-US" dirty="0"/>
                  <a:t>That is: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/>
                      <m:t>𝑝</m:t>
                    </m:r>
                    <m:d>
                      <m:dPr>
                        <m:sepChr m:val=",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𝑥</m:t>
                        </m:r>
                      </m:e>
                      <m:e>
                        <m:r>
                          <a:rPr lang="en-US" i="1"/>
                          <m:t>𝜃</m:t>
                        </m:r>
                      </m:e>
                    </m:d>
                    <m:r>
                      <a:rPr lang="en-US"/>
                      <m:t>→0 </m:t>
                    </m:r>
                    <m:r>
                      <m:rPr>
                        <m:nor/>
                      </m:rPr>
                      <a:rPr lang="en-US" i="1"/>
                      <m:t>as</m:t>
                    </m:r>
                    <m:r>
                      <a:rPr lang="en-US"/>
                      <m:t> 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𝜃</m:t>
                        </m:r>
                      </m:e>
                      <m:sub>
                        <m:r>
                          <a:rPr lang="en-US" i="1"/>
                          <m:t>𝑗</m:t>
                        </m:r>
                      </m:sub>
                    </m:sSub>
                    <m:r>
                      <a:rPr lang="en-US"/>
                      <m:t>→±∞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and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/>
                          <m:t>∂</m:t>
                        </m:r>
                        <m:r>
                          <a:rPr lang="en-US" i="1"/>
                          <m:t>𝑝</m:t>
                        </m:r>
                        <m:d>
                          <m:dPr>
                            <m:sepChr m:val=",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𝑥</m:t>
                            </m:r>
                          </m:e>
                          <m:e>
                            <m:r>
                              <a:rPr lang="en-US" i="1"/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/>
                          <m:t>∂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</m:sSub>
                      </m:den>
                    </m:f>
                    <m:r>
                      <a:rPr lang="en-US"/>
                      <m:t>→0 </m:t>
                    </m:r>
                    <m:r>
                      <m:rPr>
                        <m:nor/>
                      </m:rPr>
                      <a:rPr lang="en-US" i="1"/>
                      <m:t>as</m:t>
                    </m:r>
                    <m:r>
                      <a:rPr lang="en-US"/>
                      <m:t> 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𝜃</m:t>
                        </m:r>
                      </m:e>
                      <m:sub>
                        <m:r>
                          <a:rPr lang="en-US" i="1"/>
                          <m:t>𝑗</m:t>
                        </m:r>
                      </m:sub>
                    </m:sSub>
                    <m:r>
                      <a:rPr lang="en-US"/>
                      <m:t>→±∞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So, no boundary term remains after integration.</a:t>
                </a:r>
              </a:p>
              <a:p>
                <a:pPr lvl="1"/>
                <a:r>
                  <a:rPr lang="en-US" dirty="0"/>
                  <a:t>Hence:</a:t>
                </a:r>
              </a:p>
              <a:p>
                <a:pPr lvl="1"/>
                <a14:m>
                  <m:oMath xmlns:m="http://schemas.openxmlformats.org/officeDocument/2006/math">
                    <m:borderBox>
                      <m:borderBoxPr>
                        <m:ctrlPr>
                          <a:rPr lang="en-US"/>
                        </m:ctrlPr>
                      </m:borderBoxPr>
                      <m:e>
                        <m:nary>
                          <m:naryPr>
                            <m:chr m:val="∬"/>
                            <m:subHide m:val="on"/>
                            <m:supHide m:val="on"/>
                            <m:ctrlPr>
                              <a:rPr lang="en-US"/>
                            </m:ctrlPr>
                          </m:naryPr>
                          <m:sub/>
                          <m:sup/>
                          <m:e>
                            <m:f>
                              <m:fPr>
                                <m:ctrlPr>
                                  <a:rPr lang="en-US" i="1"/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/>
                                    </m:ctrlPr>
                                  </m:sSupPr>
                                  <m:e>
                                    <m:r>
                                      <a:rPr lang="en-US"/>
                                      <m:t>∂</m:t>
                                    </m:r>
                                  </m:e>
                                  <m:sup>
                                    <m:r>
                                      <a:rPr lang="en-US"/>
                                      <m:t>2</m:t>
                                    </m:r>
                                  </m:sup>
                                </m:sSup>
                                <m:r>
                                  <a:rPr lang="en-US" i="1"/>
                                  <m:t>𝑝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𝑥</m:t>
                                    </m:r>
                                  </m:e>
                                  <m:e>
                                    <m:r>
                                      <a:rPr lang="en-US" i="1"/>
                                      <m:t>𝜃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/>
                                  <m:t>∂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i="1"/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/>
                                      <m:t>𝑖</m:t>
                                    </m:r>
                                  </m:sub>
                                </m:sSub>
                                <m:r>
                                  <a:rPr lang="en-US"/>
                                  <m:t>∂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i="1"/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/>
                                      <m:t>𝑗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  <m:r>
                          <a:rPr lang="en-US" i="1"/>
                          <m:t>𝑑𝑥</m:t>
                        </m:r>
                        <m:r>
                          <m:rPr>
                            <m:nor/>
                          </m:rPr>
                          <a:rPr lang="en-US" i="1"/>
                          <m:t> </m:t>
                        </m:r>
                        <m:r>
                          <a:rPr lang="en-US" i="1"/>
                          <m:t>𝑑</m:t>
                        </m:r>
                        <m:r>
                          <a:rPr lang="en-US" i="1"/>
                          <m:t>𝜃</m:t>
                        </m:r>
                        <m:r>
                          <a:rPr lang="en-US"/>
                          <m:t>=0</m:t>
                        </m:r>
                      </m:e>
                    </m:borderBox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22A588-2619-04C4-E7E8-F3C12CFD00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654D5-EB1B-B04D-4279-1A5EBC936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2767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1A3DA-EBD5-60F4-4629-A60C455C1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Regularity Condition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72861B-2D03-9689-DC23-77D2EE3CF2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Final Result</a:t>
                </a:r>
                <a:endParaRPr lang="en-US" dirty="0"/>
              </a:p>
              <a:p>
                <a:pPr lvl="1"/>
                <a:r>
                  <a:rPr lang="en-US" dirty="0"/>
                  <a:t>Since the first term becomes zero: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/>
                                  <m:t>∂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i="1"/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/>
                                  <m:t>log</m:t>
                                </m:r>
                              </m:fName>
                              <m:e>
                                <m:r>
                                  <a:rPr lang="en-US" i="1"/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/>
                              <m:t>∂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𝜃</m:t>
                                </m:r>
                              </m:e>
                              <m:sub>
                                <m:r>
                                  <a:rPr lang="en-US" i="1"/>
                                  <m:t>𝑖</m:t>
                                </m:r>
                              </m:sub>
                            </m:sSub>
                            <m:r>
                              <a:rPr lang="en-US"/>
                              <m:t>∂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𝜃</m:t>
                                </m:r>
                              </m:e>
                              <m:sub>
                                <m:r>
                                  <a:rPr lang="en-US" i="1"/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/>
                      <m:t>=−</m:t>
                    </m:r>
                    <m:nary>
                      <m:naryPr>
                        <m:chr m:val="∬"/>
                        <m:subHide m:val="on"/>
                        <m:supHide m:val="on"/>
                        <m:ctrlPr>
                          <a:rPr lang="en-US" i="1"/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/>
                              <m:t>1</m:t>
                            </m:r>
                          </m:num>
                          <m:den>
                            <m:r>
                              <a:rPr lang="en-US" i="1"/>
                              <m:t>𝑝</m:t>
                            </m:r>
                          </m:den>
                        </m:f>
                      </m:e>
                    </m:nary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∂</m:t>
                        </m:r>
                        <m:r>
                          <a:rPr lang="en-US" i="1"/>
                          <m:t>𝑝</m:t>
                        </m:r>
                      </m:num>
                      <m:den>
                        <m:r>
                          <a:rPr lang="en-US"/>
                          <m:t>∂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∂</m:t>
                        </m:r>
                        <m:r>
                          <a:rPr lang="en-US" i="1"/>
                          <m:t>𝑝</m:t>
                        </m:r>
                      </m:num>
                      <m:den>
                        <m:r>
                          <a:rPr lang="en-US"/>
                          <m:t>∂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𝑗</m:t>
                            </m:r>
                          </m:sub>
                        </m:sSub>
                      </m:den>
                    </m:f>
                    <m:r>
                      <a:rPr lang="en-US" i="1"/>
                      <m:t>𝑑𝑥</m:t>
                    </m:r>
                    <m:r>
                      <m:rPr>
                        <m:nor/>
                      </m:rPr>
                      <a:rPr lang="en-US" i="1"/>
                      <m:t> </m:t>
                    </m:r>
                    <m:r>
                      <a:rPr lang="en-US" i="1"/>
                      <m:t>𝑑</m:t>
                    </m:r>
                    <m:r>
                      <a:rPr lang="en-US" i="1"/>
                      <m:t>𝜃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But: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/>
                          <m:t>∂</m:t>
                        </m:r>
                        <m:func>
                          <m:funcPr>
                            <m:ctrlPr>
                              <a:rPr lang="en-US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/>
                              <m:t>log</m:t>
                            </m:r>
                          </m:fName>
                          <m:e>
                            <m:r>
                              <a:rPr lang="en-US" i="1"/>
                              <m:t>𝑝</m:t>
                            </m:r>
                          </m:e>
                        </m:func>
                      </m:num>
                      <m:den>
                        <m:r>
                          <a:rPr lang="en-US"/>
                          <m:t>∂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</m:sSub>
                      </m:den>
                    </m:f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1</m:t>
                        </m:r>
                      </m:num>
                      <m:den>
                        <m:r>
                          <a:rPr lang="en-US" i="1"/>
                          <m:t>𝑝</m:t>
                        </m:r>
                      </m:den>
                    </m:f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∂</m:t>
                        </m:r>
                        <m:r>
                          <a:rPr lang="en-US" i="1"/>
                          <m:t>𝑝</m:t>
                        </m:r>
                      </m:num>
                      <m:den>
                        <m:r>
                          <a:rPr lang="en-US"/>
                          <m:t>∂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∬"/>
                        <m:subHide m:val="on"/>
                        <m:supHide m:val="on"/>
                        <m:ctrlPr>
                          <a:rPr lang="en-US"/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/>
                              <m:t>1</m:t>
                            </m:r>
                          </m:num>
                          <m:den>
                            <m:r>
                              <a:rPr lang="en-US" i="1"/>
                              <m:t>𝑝</m:t>
                            </m:r>
                          </m:den>
                        </m:f>
                      </m:e>
                    </m:nary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∂</m:t>
                        </m:r>
                        <m:r>
                          <a:rPr lang="en-US" i="1"/>
                          <m:t>𝑝</m:t>
                        </m:r>
                      </m:num>
                      <m:den>
                        <m:r>
                          <a:rPr lang="en-US"/>
                          <m:t>∂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∂</m:t>
                        </m:r>
                        <m:r>
                          <a:rPr lang="en-US" i="1"/>
                          <m:t>𝑝</m:t>
                        </m:r>
                      </m:num>
                      <m:den>
                        <m:r>
                          <a:rPr lang="en-US"/>
                          <m:t>∂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𝜃</m:t>
                            </m:r>
                          </m:e>
                          <m:sub>
                            <m:r>
                              <a:rPr lang="en-US" i="1"/>
                              <m:t>𝑗</m:t>
                            </m:r>
                          </m:sub>
                        </m:sSub>
                      </m:den>
                    </m:f>
                    <m:r>
                      <a:rPr lang="en-US" i="1"/>
                      <m:t>𝑑𝑥</m:t>
                    </m:r>
                    <m:r>
                      <m:rPr>
                        <m:nor/>
                      </m:rPr>
                      <a:rPr lang="en-US" i="1"/>
                      <m:t> </m:t>
                    </m:r>
                    <m:r>
                      <a:rPr lang="en-US" i="1"/>
                      <m:t>𝑑</m:t>
                    </m:r>
                    <m:r>
                      <a:rPr lang="en-US" i="1"/>
                      <m:t>𝜃</m:t>
                    </m:r>
                    <m:r>
                      <a:rPr lang="en-US"/>
                      <m:t>=</m:t>
                    </m:r>
                    <m:r>
                      <a:rPr lang="en-US"/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/>
                              <m:t>∂</m:t>
                            </m:r>
                            <m:func>
                              <m:funcPr>
                                <m:ctrlPr>
                                  <a:rPr lang="en-US" i="1"/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/>
                                  <m:t>log</m:t>
                                </m:r>
                              </m:fName>
                              <m:e>
                                <m:r>
                                  <a:rPr lang="en-US" i="1"/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/>
                              <m:t>∂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𝜃</m:t>
                                </m:r>
                              </m:e>
                              <m:sub>
                                <m:r>
                                  <a:rPr lang="en-US" i="1"/>
                                  <m:t>𝑖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/>
                              <m:t>∂</m:t>
                            </m:r>
                            <m:func>
                              <m:funcPr>
                                <m:ctrlPr>
                                  <a:rPr lang="en-US" i="1"/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/>
                                  <m:t>log</m:t>
                                </m:r>
                              </m:fName>
                              <m:e>
                                <m:r>
                                  <a:rPr lang="en-US" i="1"/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/>
                              <m:t>∂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𝜃</m:t>
                                </m:r>
                              </m:e>
                              <m:sub>
                                <m:r>
                                  <a:rPr lang="en-US" i="1"/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borderBox>
                      <m:borderBoxPr>
                        <m:ctrlPr>
                          <a:rPr lang="en-US"/>
                        </m:ctrlPr>
                      </m:borderBoxPr>
                      <m:e>
                        <m:r>
                          <a:rPr lang="en-US"/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/>
                              <m:t>−</m:t>
                            </m:r>
                            <m:f>
                              <m:fPr>
                                <m:ctrlPr>
                                  <a:rPr lang="en-US" i="1"/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/>
                                    </m:ctrlPr>
                                  </m:sSupPr>
                                  <m:e>
                                    <m:r>
                                      <a:rPr lang="en-US"/>
                                      <m:t>∂</m:t>
                                    </m:r>
                                  </m:e>
                                  <m:sup>
                                    <m:r>
                                      <a:rPr lang="en-US"/>
                                      <m:t>2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i="1"/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/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i="1"/>
                                      <m:t>𝑝</m:t>
                                    </m:r>
                                  </m:e>
                                </m:func>
                              </m:num>
                              <m:den>
                                <m:r>
                                  <a:rPr lang="en-US"/>
                                  <m:t>∂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i="1"/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/>
                                      <m:t>𝑖</m:t>
                                    </m:r>
                                  </m:sub>
                                </m:sSub>
                                <m:r>
                                  <a:rPr lang="en-US"/>
                                  <m:t>∂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i="1"/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/>
                                      <m:t>𝑗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/>
                          <m:t>=</m:t>
                        </m:r>
                        <m:r>
                          <a:rPr lang="en-US"/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/>
                                </m:ctrlPr>
                              </m:fPr>
                              <m:num>
                                <m:r>
                                  <a:rPr lang="en-US"/>
                                  <m:t>∂</m:t>
                                </m:r>
                                <m:func>
                                  <m:funcPr>
                                    <m:ctrlPr>
                                      <a:rPr lang="en-US" i="1"/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/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i="1"/>
                                      <m:t>𝑝</m:t>
                                    </m:r>
                                  </m:e>
                                </m:func>
                              </m:num>
                              <m:den>
                                <m:r>
                                  <a:rPr lang="en-US"/>
                                  <m:t>∂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i="1"/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/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f>
                              <m:fPr>
                                <m:ctrlPr>
                                  <a:rPr lang="en-US" i="1"/>
                                </m:ctrlPr>
                              </m:fPr>
                              <m:num>
                                <m:r>
                                  <a:rPr lang="en-US"/>
                                  <m:t>∂</m:t>
                                </m:r>
                                <m:func>
                                  <m:funcPr>
                                    <m:ctrlPr>
                                      <a:rPr lang="en-US" i="1"/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/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i="1"/>
                                      <m:t>𝑝</m:t>
                                    </m:r>
                                  </m:e>
                                </m:func>
                              </m:num>
                              <m:den>
                                <m:r>
                                  <a:rPr lang="en-US"/>
                                  <m:t>∂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i="1"/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/>
                                      <m:t>𝑗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borderBox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proves that the </a:t>
                </a:r>
                <a:r>
                  <a:rPr lang="en-US" b="1" dirty="0"/>
                  <a:t>negative Hessian form</a:t>
                </a:r>
                <a:r>
                  <a:rPr lang="en-US" dirty="0"/>
                  <a:t> and the </a:t>
                </a:r>
                <a:r>
                  <a:rPr lang="en-US" b="1" dirty="0"/>
                  <a:t>score outer-product form</a:t>
                </a:r>
                <a:r>
                  <a:rPr lang="en-US" dirty="0"/>
                  <a:t> of Fisher information are equivalent.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72861B-2D03-9689-DC23-77D2EE3CF2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E0A39-90FF-83ED-D54A-EECE57D8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653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2822</Words>
  <Application>Microsoft Office PowerPoint</Application>
  <PresentationFormat>Widescreen</PresentationFormat>
  <Paragraphs>527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맑은 고딕</vt:lpstr>
      <vt:lpstr>Arial</vt:lpstr>
      <vt:lpstr>Arial Black</vt:lpstr>
      <vt:lpstr>Calibri</vt:lpstr>
      <vt:lpstr>Cambria Math</vt:lpstr>
      <vt:lpstr>Tahoma</vt:lpstr>
      <vt:lpstr>Wingdings</vt:lpstr>
      <vt:lpstr>Office 테마</vt:lpstr>
      <vt:lpstr>Posterior Cramer-Rao Bounds for Discrete-Time Nonlinear Filtering</vt:lpstr>
      <vt:lpstr> Table of Contents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Regularity boundary</vt:lpstr>
      <vt:lpstr>Regularity boundary</vt:lpstr>
      <vt:lpstr>Regularity Condition</vt:lpstr>
      <vt:lpstr>Regularity Condition</vt:lpstr>
      <vt:lpstr>Regularity Condition</vt:lpstr>
      <vt:lpstr>Regularity Condition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Jihwan Moon</dc:creator>
  <cp:lastModifiedBy>Refat Khan</cp:lastModifiedBy>
  <cp:revision>6</cp:revision>
  <dcterms:created xsi:type="dcterms:W3CDTF">2018-05-20T06:28:16Z</dcterms:created>
  <dcterms:modified xsi:type="dcterms:W3CDTF">2026-06-25T11:25:29Z</dcterms:modified>
</cp:coreProperties>
</file>