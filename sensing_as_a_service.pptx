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1"/>
  </p:notesMasterIdLst>
  <p:sldIdLst>
    <p:sldId id="1420" r:id="rId2"/>
    <p:sldId id="1557" r:id="rId3"/>
    <p:sldId id="1536" r:id="rId4"/>
    <p:sldId id="1537" r:id="rId5"/>
    <p:sldId id="1538" r:id="rId6"/>
    <p:sldId id="1539" r:id="rId7"/>
    <p:sldId id="1540" r:id="rId8"/>
    <p:sldId id="1541" r:id="rId9"/>
    <p:sldId id="1543" r:id="rId10"/>
    <p:sldId id="1544" r:id="rId11"/>
    <p:sldId id="1545" r:id="rId12"/>
    <p:sldId id="1546" r:id="rId13"/>
    <p:sldId id="1547" r:id="rId14"/>
    <p:sldId id="1548" r:id="rId15"/>
    <p:sldId id="1549" r:id="rId16"/>
    <p:sldId id="1550" r:id="rId17"/>
    <p:sldId id="1551" r:id="rId18"/>
    <p:sldId id="1553" r:id="rId19"/>
    <p:sldId id="1554" r:id="rId20"/>
    <p:sldId id="1555" r:id="rId21"/>
    <p:sldId id="1556" r:id="rId22"/>
    <p:sldId id="1558" r:id="rId23"/>
    <p:sldId id="1559" r:id="rId24"/>
    <p:sldId id="1560" r:id="rId25"/>
    <p:sldId id="1561" r:id="rId26"/>
    <p:sldId id="1562" r:id="rId27"/>
    <p:sldId id="1563" r:id="rId28"/>
    <p:sldId id="1567" r:id="rId29"/>
    <p:sldId id="1568" r:id="rId30"/>
    <p:sldId id="1569" r:id="rId31"/>
    <p:sldId id="1570" r:id="rId32"/>
    <p:sldId id="1571" r:id="rId33"/>
    <p:sldId id="1572" r:id="rId34"/>
    <p:sldId id="1573" r:id="rId35"/>
    <p:sldId id="1574" r:id="rId36"/>
    <p:sldId id="1575" r:id="rId37"/>
    <p:sldId id="1576" r:id="rId38"/>
    <p:sldId id="1577" r:id="rId39"/>
    <p:sldId id="1578" r:id="rId40"/>
    <p:sldId id="1579" r:id="rId41"/>
    <p:sldId id="1580" r:id="rId42"/>
    <p:sldId id="1581" r:id="rId43"/>
    <p:sldId id="1582" r:id="rId44"/>
    <p:sldId id="1583" r:id="rId45"/>
    <p:sldId id="1586" r:id="rId46"/>
    <p:sldId id="1587" r:id="rId47"/>
    <p:sldId id="1588" r:id="rId48"/>
    <p:sldId id="1589" r:id="rId49"/>
    <p:sldId id="1590" r:id="rId50"/>
    <p:sldId id="1591" r:id="rId51"/>
    <p:sldId id="1592" r:id="rId52"/>
    <p:sldId id="1593" r:id="rId53"/>
    <p:sldId id="1594" r:id="rId54"/>
    <p:sldId id="1595" r:id="rId55"/>
    <p:sldId id="1596" r:id="rId56"/>
    <p:sldId id="1597" r:id="rId57"/>
    <p:sldId id="1598" r:id="rId58"/>
    <p:sldId id="1599" r:id="rId59"/>
    <p:sldId id="1600" r:id="rId60"/>
    <p:sldId id="1601" r:id="rId61"/>
    <p:sldId id="1602" r:id="rId62"/>
    <p:sldId id="1603" r:id="rId63"/>
    <p:sldId id="1604" r:id="rId64"/>
    <p:sldId id="1605" r:id="rId65"/>
    <p:sldId id="1606" r:id="rId66"/>
    <p:sldId id="1607" r:id="rId67"/>
    <p:sldId id="1608" r:id="rId68"/>
    <p:sldId id="1609" r:id="rId69"/>
    <p:sldId id="1610" r:id="rId70"/>
    <p:sldId id="1611" r:id="rId71"/>
    <p:sldId id="1612" r:id="rId72"/>
    <p:sldId id="1613" r:id="rId73"/>
    <p:sldId id="1614" r:id="rId74"/>
    <p:sldId id="1615" r:id="rId75"/>
    <p:sldId id="1616" r:id="rId76"/>
    <p:sldId id="1617" r:id="rId77"/>
    <p:sldId id="1618" r:id="rId78"/>
    <p:sldId id="1619" r:id="rId79"/>
    <p:sldId id="1620" r:id="rId80"/>
    <p:sldId id="1621" r:id="rId81"/>
    <p:sldId id="1622" r:id="rId82"/>
    <p:sldId id="1623" r:id="rId83"/>
    <p:sldId id="1624" r:id="rId84"/>
    <p:sldId id="1625" r:id="rId85"/>
    <p:sldId id="1628" r:id="rId86"/>
    <p:sldId id="1629" r:id="rId87"/>
    <p:sldId id="1630" r:id="rId88"/>
    <p:sldId id="1631" r:id="rId89"/>
    <p:sldId id="1632" r:id="rId90"/>
    <p:sldId id="1633" r:id="rId91"/>
    <p:sldId id="1634" r:id="rId92"/>
    <p:sldId id="1635" r:id="rId93"/>
    <p:sldId id="1636" r:id="rId94"/>
    <p:sldId id="1637" r:id="rId95"/>
    <p:sldId id="1638" r:id="rId96"/>
    <p:sldId id="1639" r:id="rId97"/>
    <p:sldId id="1640" r:id="rId98"/>
    <p:sldId id="1641" r:id="rId99"/>
    <p:sldId id="1642" r:id="rId100"/>
    <p:sldId id="1643" r:id="rId101"/>
    <p:sldId id="1644" r:id="rId102"/>
    <p:sldId id="1645" r:id="rId103"/>
    <p:sldId id="1646" r:id="rId104"/>
    <p:sldId id="1647" r:id="rId105"/>
    <p:sldId id="1648" r:id="rId106"/>
    <p:sldId id="1649" r:id="rId107"/>
    <p:sldId id="1650" r:id="rId108"/>
    <p:sldId id="1651" r:id="rId109"/>
    <p:sldId id="1652" r:id="rId110"/>
    <p:sldId id="1653" r:id="rId111"/>
    <p:sldId id="1654" r:id="rId112"/>
    <p:sldId id="1655" r:id="rId113"/>
    <p:sldId id="1656" r:id="rId114"/>
    <p:sldId id="1657" r:id="rId115"/>
    <p:sldId id="1658" r:id="rId116"/>
    <p:sldId id="1659" r:id="rId117"/>
    <p:sldId id="1660" r:id="rId118"/>
    <p:sldId id="1626" r:id="rId119"/>
    <p:sldId id="1627" r:id="rId120"/>
  </p:sldIdLst>
  <p:sldSz cx="12192000" cy="6858000"/>
  <p:notesSz cx="6858000" cy="9144000"/>
  <p:defaultTextStyle>
    <a:defPPr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06930-2FBF-4BDF-BB7A-ED0F3C0B851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16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rgbClr val="003366"/>
                </a:solidFill>
                <a:latin typeface="Arial Black"/>
              </a:rPr>
              <a:t>Sensing as a Service in 6G Perceptive Networks: A Unified Framework for ISAC Resource Allocation</a:t>
            </a: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404040"/>
                </a:solidFill>
                <a:latin typeface="Arial"/>
              </a:rPr>
              <a:t>Authors: Fuwang Dong, Fan Liu, Yuanhao Cui, Wei Wang, Kaifeng Han, and Zhiqin Wang</a:t>
            </a:r>
            <a:endParaRPr lang="en-US" altLang="ko-KR" dirty="0">
              <a:latin typeface="Arial"/>
              <a:ea typeface="맑은 고딕"/>
              <a:cs typeface="Arial"/>
            </a:endParaRPr>
          </a:p>
          <a:p>
            <a:pPr algn="ctr"/>
            <a:r>
              <a:rPr sz="1600" i="1">
                <a:solidFill>
                  <a:srgbClr val="595959"/>
                </a:solidFill>
                <a:latin typeface="Arial"/>
              </a:rPr>
              <a:t>Published in: IEEE Transactions on Wireless Communications</a:t>
            </a:r>
          </a:p>
          <a:p>
            <a:pPr algn="ctr"/>
            <a:r>
              <a:rPr sz="1600">
                <a:solidFill>
                  <a:srgbClr val="595959"/>
                </a:solidFill>
                <a:latin typeface="Arial"/>
              </a:rPr>
              <a:t>Date of Publication: 10 November 2022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6E06E-21EE-5FE5-38B2-5FD558FD9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F71F7-D60A-AD4F-0FAB-D5BD30D75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Abstract</a:t>
            </a:r>
          </a:p>
          <a:p>
            <a:r>
              <a:rPr dirty="0"/>
              <a:t>Background and motivation</a:t>
            </a:r>
          </a:p>
          <a:p>
            <a:r>
              <a:rPr dirty="0"/>
              <a:t>Sensing QoS metrics</a:t>
            </a:r>
          </a:p>
          <a:p>
            <a:r>
              <a:rPr dirty="0"/>
              <a:t>ISAC resource allocation framework</a:t>
            </a:r>
          </a:p>
          <a:p>
            <a:r>
              <a:rPr dirty="0"/>
              <a:t>Optimization and numerical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21570-056B-3187-35C1-02A9FFC9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936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5F11-E21C-2860-D101-1893C406E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E45C-BBFE-4CD5-C0A0-0578454A4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Background: Sensing as a Service in 6G</a:t>
            </a:r>
          </a:p>
          <a:p>
            <a:pPr lvl="1"/>
            <a:r>
              <a:rPr dirty="0"/>
              <a:t>5G-Advanced / 6G: communication + sensing</a:t>
            </a:r>
          </a:p>
          <a:p>
            <a:pPr lvl="1"/>
            <a:r>
              <a:rPr dirty="0"/>
              <a:t>Network functions: detect, localize, track</a:t>
            </a:r>
          </a:p>
          <a:p>
            <a:pPr lvl="1"/>
            <a:r>
              <a:rPr dirty="0"/>
              <a:t>Perceptive network: sensing + communication</a:t>
            </a:r>
          </a:p>
          <a:p>
            <a:pPr lvl="1"/>
            <a:r>
              <a:rPr dirty="0"/>
              <a:t>Enabling technology: ISAC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A285D-A9C2-B06E-A9E9-A8558ECF6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56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2EDF-D567-20A5-992A-7FC14E4B7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Abstract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4CD65-487F-9244-A2F4-80380565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t>4</a:t>
            </a:r>
            <a:endParaRPr lang="ko-KR" alt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35CE942-7EA3-E344-4A83-01F2D98006E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28488622"/>
              </p:ext>
            </p:extLst>
          </p:nvPr>
        </p:nvGraphicFramePr>
        <p:xfrm>
          <a:off x="6379828" y="1732328"/>
          <a:ext cx="5754847" cy="50585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36755">
                  <a:extLst>
                    <a:ext uri="{9D8B030D-6E8A-4147-A177-3AD203B41FA5}">
                      <a16:colId xmlns:a16="http://schemas.microsoft.com/office/drawing/2014/main" val="100706769"/>
                    </a:ext>
                  </a:extLst>
                </a:gridCol>
                <a:gridCol w="2918092">
                  <a:extLst>
                    <a:ext uri="{9D8B030D-6E8A-4147-A177-3AD203B41FA5}">
                      <a16:colId xmlns:a16="http://schemas.microsoft.com/office/drawing/2014/main" val="556734914"/>
                    </a:ext>
                  </a:extLst>
                </a:gridCol>
              </a:tblGrid>
              <a:tr h="7721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Sensing Task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QoS Metric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91539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Detection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Probability of Detection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333095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Localization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Cramer-Rao Bound (CRB)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693169"/>
                  </a:ext>
                </a:extLst>
              </a:tr>
              <a:tr h="1757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Tracking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Posterior Cramer-Rao Bound (PCRB)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2319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7235392-C7AE-28E5-BAAD-ECC4C5481182}"/>
              </a:ext>
            </a:extLst>
          </p:cNvPr>
          <p:cNvSpPr txBox="1"/>
          <p:nvPr/>
        </p:nvSpPr>
        <p:spPr>
          <a:xfrm>
            <a:off x="830510" y="1665215"/>
            <a:ext cx="5545123" cy="5117284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FF"/>
                </a:solidFill>
              </a:rPr>
              <a:t>Sensing QoS Metrics for Different Applications</a:t>
            </a:r>
            <a:endParaRPr lang="en-US" dirty="0">
              <a:solidFill>
                <a:srgbClr val="0000FF"/>
              </a:solidFill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Detection: </a:t>
            </a:r>
            <a:r>
              <a:rPr dirty="0"/>
              <a:t>probability of detection / false alarm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>
              <a:solidFill>
                <a:srgbClr val="7030A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Localization: </a:t>
            </a:r>
            <a:r>
              <a:rPr dirty="0"/>
              <a:t>CRB-based accuracy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Tracking: </a:t>
            </a:r>
            <a:r>
              <a:rPr dirty="0"/>
              <a:t>PCRB-based state estimation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>
              <a:solidFill>
                <a:srgbClr val="7030A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Key idea: </a:t>
            </a:r>
            <a:r>
              <a:rPr dirty="0"/>
              <a:t>task-specific sensing QoS</a:t>
            </a:r>
          </a:p>
        </p:txBody>
      </p:sp>
    </p:spTree>
    <p:extLst>
      <p:ext uri="{BB962C8B-B14F-4D97-AF65-F5344CB8AC3E}">
        <p14:creationId xmlns:p14="http://schemas.microsoft.com/office/powerpoint/2010/main" val="384374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241C783-EE53-4F43-4EBB-31966E2A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D21FEA-D626-174E-8029-E7EA99DDA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Unified ISAC Resource Allocation Framework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Resources</a:t>
            </a:r>
          </a:p>
          <a:p>
            <a:pPr lvl="2"/>
            <a:r>
              <a:rPr dirty="0"/>
              <a:t>Power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Optimization criteria</a:t>
            </a:r>
          </a:p>
          <a:p>
            <a:pPr lvl="2"/>
            <a:r>
              <a:rPr dirty="0"/>
              <a:t>Fairness</a:t>
            </a:r>
          </a:p>
          <a:p>
            <a:pPr lvl="2"/>
            <a:r>
              <a:rPr dirty="0"/>
              <a:t>Comprehensiveness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Output: </a:t>
            </a:r>
            <a:r>
              <a:rPr dirty="0"/>
              <a:t>sensing-communication trade-off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F920FE-2C53-5CC5-B57A-564D0F8D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167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982DB-7C01-9C7E-91E5-5E67BF459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87DE4-83C3-5F45-79B8-CCFB99999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Traditional focus: </a:t>
            </a:r>
            <a:r>
              <a:rPr dirty="0"/>
              <a:t>communication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6G requirement: </a:t>
            </a:r>
            <a:r>
              <a:rPr dirty="0"/>
              <a:t>environment-aware services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Example applications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Connected vehicles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Drone monitoring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Smart manufacturing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Current limitation: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device-based, low-resolution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A106-92B2-692C-968B-9B84F8DA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8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5DDA-428A-50DB-5046-E23EA68B8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8E5DE-222D-0AD5-3283-10982A94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Perceptive Network and ISAC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Perceptive network services</a:t>
            </a:r>
          </a:p>
          <a:p>
            <a:pPr lvl="2"/>
            <a:r>
              <a:rPr dirty="0"/>
              <a:t>Wireless communication</a:t>
            </a:r>
          </a:p>
          <a:p>
            <a:pPr lvl="2"/>
            <a:r>
              <a:rPr dirty="0"/>
              <a:t>Networked sensing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ISAC role: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S</a:t>
            </a:r>
            <a:r>
              <a:rPr dirty="0"/>
              <a:t>hared cellular infrastructure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Sensing functions: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D</a:t>
            </a:r>
            <a:r>
              <a:rPr dirty="0"/>
              <a:t>etect, </a:t>
            </a:r>
            <a:r>
              <a:rPr lang="en-US" dirty="0"/>
              <a:t>L</a:t>
            </a:r>
            <a:r>
              <a:rPr dirty="0"/>
              <a:t>ocalize, </a:t>
            </a:r>
            <a:r>
              <a:rPr lang="en-US" dirty="0"/>
              <a:t>T</a:t>
            </a:r>
            <a:r>
              <a:rPr dirty="0"/>
              <a:t>rack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5072-B149-45C9-09BF-81F0E3F5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308521" y="1690382"/>
            <a:ext cx="4106412" cy="3103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ISAC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17872" y="2863163"/>
            <a:ext cx="914400" cy="530352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1100" b="1" dirty="0">
                <a:solidFill>
                  <a:srgbClr val="1F4E79"/>
                </a:solidFill>
              </a:rPr>
              <a:t>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9133" y="2020908"/>
            <a:ext cx="960120" cy="384048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88384" y="2016714"/>
            <a:ext cx="960120" cy="384048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4671" y="4051463"/>
            <a:ext cx="960120" cy="384048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1569" y="4013713"/>
            <a:ext cx="960120" cy="384048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 dirty="0">
                <a:solidFill>
                  <a:srgbClr val="1F4E79"/>
                </a:solidFill>
              </a:rPr>
              <a:t>Target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7549252" y="2284238"/>
            <a:ext cx="365760" cy="566928"/>
          </a:xfrm>
          <a:prstGeom prst="line">
            <a:avLst/>
          </a:prstGeom>
          <a:ln w="127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493853" y="2301017"/>
            <a:ext cx="502920" cy="566928"/>
          </a:xfrm>
          <a:prstGeom prst="line">
            <a:avLst/>
          </a:prstGeom>
          <a:ln w="127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78969" y="3311554"/>
            <a:ext cx="768096" cy="731520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42758" y="3298970"/>
            <a:ext cx="941832" cy="731520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17393" y="4617720"/>
            <a:ext cx="3098733" cy="270843"/>
          </a:xfrm>
          <a:prstGeom prst="rect">
            <a:avLst/>
          </a:prstGeom>
          <a:noFill/>
        </p:spPr>
        <p:txBody>
          <a:bodyPr wrap="none" lIns="36576" tIns="27432" rIns="36576" bIns="27432">
            <a:spAutoFit/>
          </a:bodyPr>
          <a:lstStyle/>
          <a:p>
            <a:pPr algn="ctr"/>
            <a:r>
              <a:rPr lang="en-US" sz="1400" dirty="0">
                <a:solidFill>
                  <a:srgbClr val="666666"/>
                </a:solidFill>
              </a:rPr>
              <a:t>C</a:t>
            </a:r>
            <a:r>
              <a:rPr sz="1400" b="0" dirty="0">
                <a:solidFill>
                  <a:srgbClr val="666666"/>
                </a:solidFill>
              </a:rPr>
              <a:t>ommunication links + </a:t>
            </a:r>
            <a:r>
              <a:rPr lang="en-US" sz="1400" b="0" dirty="0">
                <a:solidFill>
                  <a:srgbClr val="666666"/>
                </a:solidFill>
              </a:rPr>
              <a:t>S</a:t>
            </a:r>
            <a:r>
              <a:rPr sz="1400" b="0" dirty="0">
                <a:solidFill>
                  <a:srgbClr val="666666"/>
                </a:solidFill>
              </a:rPr>
              <a:t>ensing links</a:t>
            </a:r>
          </a:p>
        </p:txBody>
      </p:sp>
    </p:spTree>
    <p:extLst>
      <p:ext uri="{BB962C8B-B14F-4D97-AF65-F5344CB8AC3E}">
        <p14:creationId xmlns:p14="http://schemas.microsoft.com/office/powerpoint/2010/main" val="3874187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0B41F-71D3-5D28-33B4-2F12C6E5D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BD19-CCDC-0912-F26F-7A8E6DA30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Main Gains of ISAC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Integration gain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spectrum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energy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hardware platforms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Coordination gain</a:t>
            </a:r>
          </a:p>
          <a:p>
            <a:pPr lvl="2"/>
            <a:r>
              <a:rPr dirty="0">
                <a:solidFill>
                  <a:srgbClr val="0070C0"/>
                </a:solidFill>
              </a:rPr>
              <a:t>Mutual assistance </a:t>
            </a:r>
            <a:r>
              <a:rPr dirty="0"/>
              <a:t>between sensing and communication</a:t>
            </a:r>
          </a:p>
          <a:p>
            <a:pPr lvl="1"/>
            <a:r>
              <a:rPr dirty="0"/>
              <a:t>Open issue: </a:t>
            </a:r>
            <a:endParaRPr lang="en-US" dirty="0"/>
          </a:p>
          <a:p>
            <a:pPr lvl="2"/>
            <a:r>
              <a:rPr lang="en-US" dirty="0"/>
              <a:t>S</a:t>
            </a:r>
            <a:r>
              <a:rPr dirty="0"/>
              <a:t>ensing QoS is less mature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1E116-C153-0E23-20B9-9D4CB499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524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B36D-E49E-2FE3-D992-9C39B3D55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8041D-EA68-986C-5D46-22336702C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Localization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Target parameters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Time delay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Angle of arrival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Range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Metric: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CRB</a:t>
            </a:r>
          </a:p>
          <a:p>
            <a:r>
              <a:rPr dirty="0">
                <a:solidFill>
                  <a:srgbClr val="7030A0"/>
                </a:solidFill>
              </a:rPr>
              <a:t>Tracking QoS</a:t>
            </a:r>
          </a:p>
          <a:p>
            <a:pPr lvl="1"/>
            <a:r>
              <a:rPr dirty="0">
                <a:solidFill>
                  <a:srgbClr val="002060"/>
                </a:solidFill>
              </a:rPr>
              <a:t>Metric: </a:t>
            </a:r>
            <a:endParaRPr lang="en-US" dirty="0">
              <a:solidFill>
                <a:srgbClr val="002060"/>
              </a:solidFill>
            </a:endParaRPr>
          </a:p>
          <a:p>
            <a:pPr lvl="2"/>
            <a:r>
              <a:rPr dirty="0">
                <a:solidFill>
                  <a:srgbClr val="0070C0"/>
                </a:solidFill>
              </a:rPr>
              <a:t>PCRB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8897-D39B-D9BC-B078-83BD6D24F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014906" y="1824605"/>
            <a:ext cx="4274191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Localization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Oval 5"/>
          <p:cNvSpPr/>
          <p:nvPr/>
        </p:nvSpPr>
        <p:spPr>
          <a:xfrm>
            <a:off x="6933921" y="2201690"/>
            <a:ext cx="2743200" cy="27432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70147" y="2658890"/>
            <a:ext cx="1828800" cy="1828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818958" y="3149646"/>
            <a:ext cx="914400" cy="9144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91183" y="3435123"/>
            <a:ext cx="594360" cy="310896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BS</a:t>
            </a:r>
          </a:p>
        </p:txBody>
      </p:sp>
      <p:sp>
        <p:nvSpPr>
          <p:cNvPr id="10" name="Oval 9"/>
          <p:cNvSpPr/>
          <p:nvPr/>
        </p:nvSpPr>
        <p:spPr>
          <a:xfrm>
            <a:off x="9520834" y="2603439"/>
            <a:ext cx="256032" cy="256032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31416" y="2327945"/>
            <a:ext cx="700481" cy="16927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740" b="1" dirty="0">
                <a:solidFill>
                  <a:srgbClr val="70AD47"/>
                </a:solidFill>
              </a:rPr>
              <a:t>Target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552994" y="2806956"/>
            <a:ext cx="978409" cy="448056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5720" y="5100506"/>
            <a:ext cx="3800213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dirty="0">
                <a:solidFill>
                  <a:srgbClr val="666666"/>
                </a:solidFill>
              </a:rPr>
              <a:t>P</a:t>
            </a:r>
            <a:r>
              <a:rPr b="0" dirty="0">
                <a:solidFill>
                  <a:srgbClr val="666666"/>
                </a:solidFill>
              </a:rPr>
              <a:t>osition from range / angle</a:t>
            </a:r>
          </a:p>
        </p:txBody>
      </p:sp>
    </p:spTree>
    <p:extLst>
      <p:ext uri="{BB962C8B-B14F-4D97-AF65-F5344CB8AC3E}">
        <p14:creationId xmlns:p14="http://schemas.microsoft.com/office/powerpoint/2010/main" val="26098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DE7FE-22BF-FE9A-23A9-348C3069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A7230-DCC3-8305-2C8C-54CAF44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Different Sensing QoS Requirements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High sensing QoS</a:t>
            </a:r>
          </a:p>
          <a:p>
            <a:pPr lvl="2"/>
            <a:r>
              <a:rPr dirty="0"/>
              <a:t>Pedestrians</a:t>
            </a:r>
          </a:p>
          <a:p>
            <a:pPr lvl="2"/>
            <a:r>
              <a:rPr dirty="0"/>
              <a:t>Fast-moving vehicles</a:t>
            </a:r>
          </a:p>
          <a:p>
            <a:pPr lvl="2"/>
            <a:r>
              <a:rPr dirty="0"/>
              <a:t>Safety-critical targets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Lower sensing QoS</a:t>
            </a:r>
          </a:p>
          <a:p>
            <a:pPr lvl="2"/>
            <a:r>
              <a:rPr dirty="0"/>
              <a:t>Static objects</a:t>
            </a:r>
          </a:p>
          <a:p>
            <a:pPr lvl="2"/>
            <a:r>
              <a:rPr dirty="0"/>
              <a:t>Low-risk objects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Allocation principle: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U</a:t>
            </a:r>
            <a:r>
              <a:rPr dirty="0"/>
              <a:t>ser-specific S&amp;C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E6F24-EDEE-8C37-AAB2-8F1BC8F5A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322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BA00D-CCA5-98D5-2A56-5405DE5C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55A48-A527-09E2-4B7A-403312442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Need for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More resources: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B</a:t>
            </a:r>
            <a:r>
              <a:rPr dirty="0">
                <a:solidFill>
                  <a:srgbClr val="002060"/>
                </a:solidFill>
              </a:rPr>
              <a:t>etter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Practical constraint: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L</a:t>
            </a:r>
            <a:r>
              <a:rPr dirty="0">
                <a:solidFill>
                  <a:srgbClr val="002060"/>
                </a:solidFill>
              </a:rPr>
              <a:t>imited resources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Key resources</a:t>
            </a:r>
            <a:r>
              <a:rPr lang="en-US" dirty="0">
                <a:solidFill>
                  <a:srgbClr val="7030A0"/>
                </a:solidFill>
              </a:rPr>
              <a:t>:</a:t>
            </a:r>
            <a:endParaRPr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7030A0"/>
                </a:solidFill>
              </a:rPr>
              <a:t>Transmit power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Result: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ervice trade-offs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01686-6D0B-E07D-07AB-C1DC558C5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597940" y="1828800"/>
            <a:ext cx="4408416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Resource </a:t>
            </a:r>
            <a:r>
              <a:rPr lang="en-US" sz="1600" b="1" dirty="0">
                <a:solidFill>
                  <a:srgbClr val="1F4E79"/>
                </a:solidFill>
              </a:rPr>
              <a:t>A</a:t>
            </a:r>
            <a:r>
              <a:rPr sz="1600" b="1" dirty="0">
                <a:solidFill>
                  <a:srgbClr val="1F4E79"/>
                </a:solidFill>
              </a:rPr>
              <a:t>llocation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31156" y="2367373"/>
            <a:ext cx="1024128" cy="457200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80" b="1">
                <a:solidFill>
                  <a:srgbClr val="1F4E79"/>
                </a:solidFill>
              </a:rPr>
              <a:t>Power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1764" y="3741070"/>
            <a:ext cx="1024128" cy="457200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80" b="1" dirty="0">
                <a:solidFill>
                  <a:srgbClr val="1F4E79"/>
                </a:solidFill>
              </a:rPr>
              <a:t>Bandwidth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59551" y="3107618"/>
            <a:ext cx="1005840" cy="530352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800" b="1">
                <a:solidFill>
                  <a:srgbClr val="1F4E79"/>
                </a:solidFill>
              </a:rPr>
              <a:t>Allocator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30116" y="2780531"/>
            <a:ext cx="484632" cy="301752"/>
          </a:xfrm>
          <a:prstGeom prst="line">
            <a:avLst/>
          </a:prstGeom>
          <a:ln w="1143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691698" y="3564902"/>
            <a:ext cx="484632" cy="228600"/>
          </a:xfrm>
          <a:prstGeom prst="line">
            <a:avLst/>
          </a:prstGeom>
          <a:ln w="1143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450618" y="2321653"/>
            <a:ext cx="960120" cy="438912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50" b="1" dirty="0">
                <a:solidFill>
                  <a:srgbClr val="1F4E79"/>
                </a:solidFill>
              </a:rPr>
              <a:t>Sensing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97424" y="3861452"/>
            <a:ext cx="960120" cy="438912"/>
          </a:xfrm>
          <a:prstGeom prst="roundRect">
            <a:avLst/>
          </a:prstGeom>
          <a:solidFill>
            <a:srgbClr val="FCE4D6"/>
          </a:solidFill>
          <a:ln w="1143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50" b="1">
                <a:solidFill>
                  <a:srgbClr val="1F4E79"/>
                </a:solidFill>
              </a:rPr>
              <a:t>Comm.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9001807" y="2721473"/>
            <a:ext cx="457200" cy="374904"/>
          </a:xfrm>
          <a:prstGeom prst="line">
            <a:avLst/>
          </a:prstGeom>
          <a:ln w="1143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57003" y="3509618"/>
            <a:ext cx="457200" cy="365760"/>
          </a:xfrm>
          <a:prstGeom prst="line">
            <a:avLst/>
          </a:prstGeom>
          <a:ln w="1143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66390" y="4681058"/>
            <a:ext cx="3917658" cy="60939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dirty="0">
                <a:solidFill>
                  <a:srgbClr val="666666"/>
                </a:solidFill>
              </a:rPr>
              <a:t>S</a:t>
            </a:r>
            <a:r>
              <a:rPr b="0" dirty="0">
                <a:solidFill>
                  <a:srgbClr val="666666"/>
                </a:solidFill>
              </a:rPr>
              <a:t>plit scarce resources by QoS priority</a:t>
            </a:r>
          </a:p>
        </p:txBody>
      </p:sp>
    </p:spTree>
    <p:extLst>
      <p:ext uri="{BB962C8B-B14F-4D97-AF65-F5344CB8AC3E}">
        <p14:creationId xmlns:p14="http://schemas.microsoft.com/office/powerpoint/2010/main" val="2652865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3860-EC41-5415-42DF-78EDC798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30CC8-C7B2-FA7A-918C-3C9F5506B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Communication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Communication rate: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P</a:t>
            </a:r>
            <a:r>
              <a:rPr dirty="0">
                <a:solidFill>
                  <a:srgbClr val="002060"/>
                </a:solidFill>
              </a:rPr>
              <a:t>ower + </a:t>
            </a:r>
            <a:r>
              <a:rPr lang="en-US" dirty="0">
                <a:solidFill>
                  <a:srgbClr val="002060"/>
                </a:solidFill>
              </a:rPr>
              <a:t>B</a:t>
            </a:r>
            <a:r>
              <a:rPr dirty="0">
                <a:solidFill>
                  <a:srgbClr val="002060"/>
                </a:solidFill>
              </a:rPr>
              <a:t>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Existing communication RA domains</a:t>
            </a:r>
          </a:p>
          <a:p>
            <a:pPr lvl="2"/>
            <a:r>
              <a:rPr dirty="0"/>
              <a:t>OFDM</a:t>
            </a:r>
          </a:p>
          <a:p>
            <a:pPr lvl="2"/>
            <a:r>
              <a:rPr dirty="0"/>
              <a:t>LTE-Advanced D2D</a:t>
            </a:r>
          </a:p>
          <a:p>
            <a:pPr lvl="2"/>
            <a:r>
              <a:rPr dirty="0"/>
              <a:t>5G network slicing</a:t>
            </a:r>
          </a:p>
          <a:p>
            <a:pPr lvl="2"/>
            <a:r>
              <a:rPr dirty="0"/>
              <a:t>NOMA</a:t>
            </a:r>
            <a:endParaRPr lang="en-US" dirty="0"/>
          </a:p>
          <a:p>
            <a:pPr lvl="2"/>
            <a:r>
              <a:rPr lang="en-US" dirty="0"/>
              <a:t>Achievable rate</a:t>
            </a:r>
          </a:p>
          <a:p>
            <a:pPr lvl="2"/>
            <a:r>
              <a:rPr lang="en-US" dirty="0"/>
              <a:t>Spectral efficiency </a:t>
            </a:r>
          </a:p>
          <a:p>
            <a:pPr lvl="2"/>
            <a:r>
              <a:rPr lang="en-US" dirty="0"/>
              <a:t>Energy efficiency </a:t>
            </a:r>
          </a:p>
          <a:p>
            <a:pPr lvl="2"/>
            <a:r>
              <a:rPr lang="en-US" dirty="0"/>
              <a:t>Reliability</a:t>
            </a:r>
            <a:endParaRPr dirty="0"/>
          </a:p>
          <a:p>
            <a:r>
              <a:rPr dirty="0">
                <a:solidFill>
                  <a:srgbClr val="0000FF"/>
                </a:solidFill>
              </a:rPr>
              <a:t>Sensing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Less explored than communication RA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Also strongly affected by power and bandwidth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BDF7B-BA31-E0A5-630D-26BBB8114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786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B513-DCFF-DCF9-D775-445C2696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016AD-1EA6-D7AB-6652-FC1742F8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ISAC Resource Allocation Gap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Existing ISAC RA studies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Radar / information-signal power allocation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OFDM-ISAC power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Main limitations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Scenario-specific formulations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Power-only focus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Gap: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N</a:t>
            </a:r>
            <a:r>
              <a:rPr dirty="0"/>
              <a:t>etwork-level power + bandwidth allocation</a:t>
            </a:r>
            <a:endParaRPr lang="en-US" dirty="0"/>
          </a:p>
          <a:p>
            <a:pPr lvl="2"/>
            <a:r>
              <a:rPr lang="en-US" dirty="0"/>
              <a:t>Existing works do not fully address the </a:t>
            </a:r>
            <a:r>
              <a:rPr lang="en-US" dirty="0">
                <a:solidFill>
                  <a:srgbClr val="002060"/>
                </a:solidFill>
              </a:rPr>
              <a:t>trade-off between communication QoS and different sensing QoS metrics.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E3D91-AAD3-2470-B459-F3F50857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805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2C922-2A8C-AE0F-86C1-7D896B36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D85E-EA43-693D-374F-CA5B2090B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Motivation of This 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Conventional RA trade-offs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Among communication users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Among radar / sensing targets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New ISAC trade-off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Sensing service vs. communication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Challenge: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ame resource has different value for each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884C4-5603-0553-1FE6-61CC7C118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200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53725-D769-724B-971C-D7A6B208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B459E-F6CC-89A4-7154-997C8FEA8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Considered System Model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Scenario: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ingle-cell ISAC system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Base station: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MIMO BS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Provided services</a:t>
            </a:r>
            <a:r>
              <a:rPr lang="en-US" dirty="0">
                <a:solidFill>
                  <a:srgbClr val="7030A0"/>
                </a:solidFill>
              </a:rPr>
              <a:t>:</a:t>
            </a:r>
            <a:endParaRPr dirty="0">
              <a:solidFill>
                <a:srgbClr val="7030A0"/>
              </a:solidFill>
            </a:endParaRPr>
          </a:p>
          <a:p>
            <a:pPr lvl="2"/>
            <a:r>
              <a:rPr dirty="0"/>
              <a:t>Communication service</a:t>
            </a:r>
          </a:p>
          <a:p>
            <a:pPr lvl="2"/>
            <a:r>
              <a:rPr dirty="0"/>
              <a:t>Device-free sensing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Allocation variables: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T</a:t>
            </a:r>
            <a:r>
              <a:rPr dirty="0">
                <a:solidFill>
                  <a:srgbClr val="002060"/>
                </a:solidFill>
              </a:rPr>
              <a:t>ransmit power and 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Future work: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C</a:t>
            </a:r>
            <a:r>
              <a:rPr dirty="0"/>
              <a:t>ooperative multi-cell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6C43-0830-54CB-6E0E-F7334524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685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5CF89-3196-7D29-51D8-7A527036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61666-FADF-09E8-347D-DE7536F0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Contribution 1: Unified ISAC RA Framework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General RA framework for 6G perceptive networks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Service trade-off</a:t>
            </a:r>
          </a:p>
          <a:p>
            <a:pPr lvl="2"/>
            <a:r>
              <a:rPr dirty="0"/>
              <a:t>Communication service</a:t>
            </a:r>
          </a:p>
          <a:p>
            <a:pPr lvl="2"/>
            <a:r>
              <a:rPr dirty="0"/>
              <a:t>Sensing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Supported sensing services</a:t>
            </a:r>
          </a:p>
          <a:p>
            <a:pPr lvl="2"/>
            <a:r>
              <a:rPr dirty="0"/>
              <a:t>Target detection</a:t>
            </a:r>
          </a:p>
          <a:p>
            <a:pPr lvl="2"/>
            <a:r>
              <a:rPr dirty="0"/>
              <a:t>Target localization</a:t>
            </a:r>
          </a:p>
          <a:p>
            <a:pPr lvl="2"/>
            <a:r>
              <a:rPr dirty="0"/>
              <a:t>Target tracking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User-specific QoS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40B19-5586-74D0-8E61-382A6235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3422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7064E7A-40BE-A3A6-1110-D726B4214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5E22-A97B-A64A-10DC-E443B663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t>17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Probability of Detection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a14:m>
                          <a:endParaRPr lang="en-US" sz="2000" dirty="0"/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9981" marR="99981" marT="49991" marB="49991" anchor="ctr">
                        <a:blipFill>
                          <a:blip r:embed="rId2"/>
                          <a:stretch>
                            <a:fillRect l="-75541" t="-59873" r="-433" b="-2012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86BF253-D5E2-AE62-26E8-84288F6616EF}"/>
              </a:ext>
            </a:extLst>
          </p:cNvPr>
          <p:cNvSpPr txBox="1"/>
          <p:nvPr/>
        </p:nvSpPr>
        <p:spPr>
          <a:xfrm>
            <a:off x="939566" y="1711353"/>
            <a:ext cx="5297649" cy="4465609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228600" indent="-228600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FF"/>
                </a:solidFill>
              </a:rPr>
              <a:t>Contribution 2 : Sensing QoS Definition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Task-specific sensing QoS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Detection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002060"/>
                </a:solidFill>
              </a:rPr>
              <a:t>Probability of detection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002060"/>
                </a:solidFill>
              </a:rPr>
              <a:t>Probability of false alarm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Localization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CRB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Tracking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PCRB</a:t>
            </a:r>
          </a:p>
        </p:txBody>
      </p:sp>
    </p:spTree>
    <p:extLst>
      <p:ext uri="{BB962C8B-B14F-4D97-AF65-F5344CB8AC3E}">
        <p14:creationId xmlns:p14="http://schemas.microsoft.com/office/powerpoint/2010/main" val="2176935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C643-80C4-4D8A-AE29-680F1608D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E6BC-EAFF-600D-AEF0-DD611C36A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Tracking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Metric: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PCRB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Target states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Range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Angle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Velocity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Position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Closed-loop tracking: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EKF</a:t>
            </a:r>
            <a:r>
              <a:rPr lang="en-US" dirty="0">
                <a:solidFill>
                  <a:srgbClr val="002060"/>
                </a:solidFill>
              </a:rPr>
              <a:t>(Extended Kalman Filter)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C7B33-E863-15D3-C606-B5DE5549A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287548" y="1849771"/>
            <a:ext cx="438157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b="1" dirty="0">
                <a:solidFill>
                  <a:srgbClr val="1F4E79"/>
                </a:solidFill>
              </a:rPr>
              <a:t>Moving-object tracking concept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6783758" y="4139547"/>
            <a:ext cx="594360" cy="32004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7445229" y="3740232"/>
            <a:ext cx="594360" cy="36576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36063" y="3299390"/>
            <a:ext cx="548640" cy="41148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756010" y="2854354"/>
            <a:ext cx="548640" cy="41148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665977" y="443408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344226" y="4059517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043448" y="366439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71783" y="325291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276126" y="2708385"/>
            <a:ext cx="182880" cy="182880"/>
          </a:xfrm>
          <a:prstGeom prst="ellipse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11967" y="2432807"/>
            <a:ext cx="805342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</a:rPr>
              <a:t>current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9401122" y="2292291"/>
            <a:ext cx="914400" cy="457200"/>
          </a:xfrm>
          <a:prstGeom prst="line">
            <a:avLst/>
          </a:prstGeom>
          <a:ln w="127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275171" y="212191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83381" y="2004969"/>
            <a:ext cx="914398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</a:rPr>
              <a:t>predicted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45417" y="2873230"/>
            <a:ext cx="887974" cy="344199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</a:rPr>
              <a:t>EKF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1539" y="4681057"/>
            <a:ext cx="3884101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sz="1600" dirty="0">
                <a:solidFill>
                  <a:srgbClr val="666666"/>
                </a:solidFill>
              </a:rPr>
              <a:t>E</a:t>
            </a:r>
            <a:r>
              <a:rPr sz="1600" b="0" dirty="0">
                <a:solidFill>
                  <a:srgbClr val="666666"/>
                </a:solidFill>
              </a:rPr>
              <a:t>stimate target state over time</a:t>
            </a:r>
          </a:p>
        </p:txBody>
      </p:sp>
    </p:spTree>
    <p:extLst>
      <p:ext uri="{BB962C8B-B14F-4D97-AF65-F5344CB8AC3E}">
        <p14:creationId xmlns:p14="http://schemas.microsoft.com/office/powerpoint/2010/main" val="532580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CEF9-83F1-FE2A-53E8-AAFCA51E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33AE0-53E1-ED92-42A2-30FC47E96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Contribution 3: Optimization Approach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Optimization criteria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Fairness: balance QoS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Comprehensiveness: maximize overall performance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Problem transformation</a:t>
            </a:r>
          </a:p>
          <a:p>
            <a:pPr lvl="2"/>
            <a:r>
              <a:rPr dirty="0"/>
              <a:t>Original formulation to convex form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Solver: </a:t>
            </a:r>
            <a:r>
              <a:rPr dirty="0"/>
              <a:t>Alternative Optimization (AO)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62107-7ABF-8733-FB9C-687BF8E1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291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95405-A08B-2202-E21B-50D051690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775C-49FF-1E00-8FFD-2470F43C1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Alternative Optimization Method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Coupled variables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Power allocation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Bandwidth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AO procedure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Fix bandwidth to optimize power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Fix power to optimize bandwidth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Repeat until convergence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29BE1-7845-37FA-D994-F5B150D8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78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172FE-2291-76ED-9E98-1421DD77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480B2-A724-827A-93DC-6841C9D0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7030A0"/>
                </a:solidFill>
              </a:rPr>
              <a:t>Contribution 4 : </a:t>
            </a:r>
            <a:r>
              <a:rPr dirty="0"/>
              <a:t>Numerical Trade-off Analysis</a:t>
            </a:r>
          </a:p>
          <a:p>
            <a:pPr lvl="1"/>
            <a:r>
              <a:rPr dirty="0">
                <a:solidFill>
                  <a:srgbClr val="002060"/>
                </a:solidFill>
              </a:rPr>
              <a:t>Simulation focus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Sensing vs. communication services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Trade-offs among users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Impact of allocation schemes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Main insight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Limited power and bandwidth must follow QoS priorities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D6FB-927E-4507-BC8E-8EF44B12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770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74890-E11A-B09E-6055-30F443C4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F027C-65E2-B8E2-39C0-25CE5EE9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General Framework of Sensing and Communication Services</a:t>
                </a:r>
                <a:r>
                  <a:rPr lang="en-US" b="1" dirty="0"/>
                  <a:t> </a:t>
                </a:r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lvl="1"/>
                <a:r>
                  <a:rPr lang="en-US" dirty="0"/>
                  <a:t>A collocated MIMO BS is considered in a </a:t>
                </a:r>
                <a:r>
                  <a:rPr lang="en-US" b="1" dirty="0"/>
                  <a:t>single-cell setting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BS has: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transmit antennas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receive antennas </a:t>
                </a:r>
              </a:p>
              <a:p>
                <a:pPr lvl="1"/>
                <a:r>
                  <a:rPr lang="en-US" dirty="0"/>
                  <a:t>The BS provides </a:t>
                </a:r>
                <a:r>
                  <a:rPr lang="en-US" dirty="0">
                    <a:solidFill>
                      <a:srgbClr val="7030A0"/>
                    </a:solidFill>
                  </a:rPr>
                  <a:t>sensing and communication services simultaneously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BS works in </a:t>
                </a:r>
                <a:r>
                  <a:rPr lang="en-US" dirty="0">
                    <a:solidFill>
                      <a:srgbClr val="7030A0"/>
                    </a:solidFill>
                  </a:rPr>
                  <a:t>multi-beam mode</a:t>
                </a:r>
                <a:r>
                  <a:rPr lang="en-US" dirty="0"/>
                  <a:t>, where different beams are assigned for sensing targets, ISAC users, and communication users.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F027C-65E2-B8E2-39C0-25CE5EE9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5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7AE16-43A1-7CE3-5C28-5CFBDF4E2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F861AF-ADD0-11BB-C3B4-47CAD55A8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0950" y="2289622"/>
            <a:ext cx="3873082" cy="17976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E3BC8A0-FEE9-9597-91B0-1BD67EC8E690}"/>
              </a:ext>
            </a:extLst>
          </p:cNvPr>
          <p:cNvSpPr txBox="1"/>
          <p:nvPr/>
        </p:nvSpPr>
        <p:spPr>
          <a:xfrm>
            <a:off x="1547769" y="4018327"/>
            <a:ext cx="10096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1. Application scenarios of a single ISAC BS, Providing communication and device-free sensing services simultaneously</a:t>
            </a:r>
          </a:p>
        </p:txBody>
      </p:sp>
    </p:spTree>
    <p:extLst>
      <p:ext uri="{BB962C8B-B14F-4D97-AF65-F5344CB8AC3E}">
        <p14:creationId xmlns:p14="http://schemas.microsoft.com/office/powerpoint/2010/main" val="10630730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2255B-523C-DAA6-06B7-513A4EBC2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8C6DD-A5F1-734A-DA77-D3E8C2FE17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Types of Objects in the ISAC Network</a:t>
                </a:r>
              </a:p>
              <a:p>
                <a:pPr lvl="2"/>
                <a:r>
                  <a:rPr lang="en-US" dirty="0"/>
                  <a:t>The BS 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 in total, classified into three types: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3"/>
                <a:r>
                  <a:rPr lang="en-US" dirty="0"/>
                  <a:t>Objects that need to be sensed. </a:t>
                </a:r>
              </a:p>
              <a:p>
                <a:pPr lvl="3"/>
                <a:r>
                  <a:rPr lang="en-US" dirty="0"/>
                  <a:t>Examples: humans, buildings, obstacles, monitoring areas. </a:t>
                </a:r>
              </a:p>
              <a:p>
                <a:pPr lvl="3"/>
                <a:r>
                  <a:rPr lang="en-US" dirty="0"/>
                  <a:t>Can be device-free or device-based.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Communication Users </a:t>
                </a:r>
              </a:p>
              <a:p>
                <a:pPr lvl="3"/>
                <a:r>
                  <a:rPr lang="en-US" dirty="0"/>
                  <a:t>Users that only require communication service. </a:t>
                </a:r>
              </a:p>
              <a:p>
                <a:pPr lvl="3"/>
                <a:r>
                  <a:rPr lang="en-US" dirty="0"/>
                  <a:t>Examples: smartphones, terminals, IoT devices.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ISAC Users </a:t>
                </a:r>
              </a:p>
              <a:p>
                <a:pPr lvl="3"/>
                <a:r>
                  <a:rPr lang="en-US" dirty="0"/>
                  <a:t>Users that require both sensing and communication services. </a:t>
                </a:r>
              </a:p>
              <a:p>
                <a:pPr lvl="3"/>
                <a:r>
                  <a:rPr lang="en-US" dirty="0"/>
                  <a:t>Examples: connected vehicles, drones, robots, smartphone-carrying users.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8C6DD-A5F1-734A-DA77-D3E8C2FE17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29494-9689-13A7-F5D2-5AED8396D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1407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D162-9CEC-3587-3255-93024D8F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A1FA1-80A9-28AD-424D-CE642291B5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49691"/>
            <a:ext cx="5104598" cy="452727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/>
              <a:t>Sensing Service and State Information</a:t>
            </a:r>
          </a:p>
          <a:p>
            <a:pPr lvl="2"/>
            <a:r>
              <a:rPr lang="en-US" dirty="0"/>
              <a:t>Sensing service is provided to </a:t>
            </a:r>
            <a:r>
              <a:rPr lang="en-US" dirty="0">
                <a:solidFill>
                  <a:srgbClr val="7030A0"/>
                </a:solidFill>
              </a:rPr>
              <a:t>device-based users. </a:t>
            </a:r>
          </a:p>
          <a:p>
            <a:pPr lvl="2"/>
            <a:r>
              <a:rPr lang="en-US" dirty="0"/>
              <a:t>The BS obtains </a:t>
            </a:r>
            <a:r>
              <a:rPr lang="en-US" dirty="0">
                <a:solidFill>
                  <a:srgbClr val="7030A0"/>
                </a:solidFill>
              </a:rPr>
              <a:t>state information (SI) </a:t>
            </a:r>
            <a:r>
              <a:rPr lang="en-US" dirty="0"/>
              <a:t>through sensing. </a:t>
            </a:r>
          </a:p>
          <a:p>
            <a:pPr lvl="2"/>
            <a:r>
              <a:rPr lang="en-US" dirty="0"/>
              <a:t>State information may include: </a:t>
            </a:r>
          </a:p>
          <a:p>
            <a:pPr lvl="3"/>
            <a:r>
              <a:rPr lang="en-US" sz="1400" dirty="0"/>
              <a:t>position </a:t>
            </a:r>
          </a:p>
          <a:p>
            <a:pPr lvl="3"/>
            <a:r>
              <a:rPr lang="en-US" sz="1400" dirty="0"/>
              <a:t>velocity </a:t>
            </a:r>
          </a:p>
          <a:p>
            <a:pPr lvl="3"/>
            <a:r>
              <a:rPr lang="en-US" sz="1400" dirty="0"/>
              <a:t>direction </a:t>
            </a:r>
          </a:p>
          <a:p>
            <a:pPr lvl="3"/>
            <a:r>
              <a:rPr lang="en-US" sz="1400" dirty="0"/>
              <a:t>location </a:t>
            </a:r>
          </a:p>
          <a:p>
            <a:pPr lvl="3"/>
            <a:r>
              <a:rPr lang="en-US" sz="1400" dirty="0"/>
              <a:t>obstacle information</a:t>
            </a:r>
            <a:r>
              <a:rPr lang="en-US" sz="1100" dirty="0"/>
              <a:t> </a:t>
            </a:r>
          </a:p>
          <a:p>
            <a:pPr lvl="2"/>
            <a:r>
              <a:rPr lang="en-US" dirty="0"/>
              <a:t>Sensing service can be classified into two types:</a:t>
            </a:r>
          </a:p>
          <a:p>
            <a:pPr lvl="3"/>
            <a:r>
              <a:rPr lang="en-US" sz="1400" dirty="0"/>
              <a:t>Users requiring the SI of their own. </a:t>
            </a:r>
          </a:p>
          <a:p>
            <a:pPr lvl="3"/>
            <a:r>
              <a:rPr lang="en-US" sz="1400" dirty="0"/>
              <a:t>Users requiring the SI of other objects</a:t>
            </a:r>
            <a:r>
              <a:rPr lang="en-US" sz="1100" dirty="0"/>
              <a:t>. </a:t>
            </a:r>
          </a:p>
          <a:p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24738-F27D-DCD2-6135-1730AF6B0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0D806C-B61D-A110-A374-4F3B77FC2917}"/>
              </a:ext>
            </a:extLst>
          </p:cNvPr>
          <p:cNvSpPr txBox="1"/>
          <p:nvPr/>
        </p:nvSpPr>
        <p:spPr>
          <a:xfrm>
            <a:off x="5578679" y="5813571"/>
            <a:ext cx="6568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2. Illustration of sensing and the targets to be sensed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3739B3-B70C-9142-C1E7-2781EA5E9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934" y="1788460"/>
            <a:ext cx="6244917" cy="405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14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124630E-7C78-7AB3-28A6-757671599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AED0F5E-62B1-3B13-5B2E-C48DAA7A9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/>
              <a:t>Users Requiring Own SI and Others’ SI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Users requiring the SI of their own</a:t>
            </a:r>
          </a:p>
          <a:p>
            <a:pPr lvl="3"/>
            <a:r>
              <a:rPr lang="en-US" dirty="0"/>
              <a:t>The user itself is the target to be sensed. </a:t>
            </a:r>
          </a:p>
          <a:p>
            <a:pPr lvl="3"/>
            <a:r>
              <a:rPr lang="en-US" dirty="0"/>
              <a:t>The BS senses the user and provides its state information. </a:t>
            </a:r>
          </a:p>
          <a:p>
            <a:pPr lvl="3"/>
            <a:r>
              <a:rPr lang="en-US" dirty="0"/>
              <a:t>A typical application is </a:t>
            </a:r>
            <a:r>
              <a:rPr lang="en-US" dirty="0">
                <a:solidFill>
                  <a:srgbClr val="002060"/>
                </a:solidFill>
              </a:rPr>
              <a:t>localization</a:t>
            </a:r>
            <a:r>
              <a:rPr lang="en-US" dirty="0"/>
              <a:t>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Example:</a:t>
            </a:r>
          </a:p>
          <a:p>
            <a:pPr lvl="3"/>
            <a:r>
              <a:rPr lang="en-US" dirty="0"/>
              <a:t>A drone or smartphone user needs accurate location information from the BS.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Users requiring the SI of others</a:t>
            </a:r>
          </a:p>
          <a:p>
            <a:pPr lvl="3"/>
            <a:r>
              <a:rPr lang="en-US" dirty="0"/>
              <a:t>The BS senses other objects through active sensing. </a:t>
            </a:r>
          </a:p>
          <a:p>
            <a:pPr lvl="3"/>
            <a:r>
              <a:rPr lang="en-US" dirty="0"/>
              <a:t>Then, the BS transmits the sensed information to the user through communication. </a:t>
            </a:r>
          </a:p>
          <a:p>
            <a:pPr lvl="3"/>
            <a:r>
              <a:rPr lang="en-US" dirty="0"/>
              <a:t>A typical application is </a:t>
            </a:r>
            <a:r>
              <a:rPr lang="en-US" dirty="0">
                <a:solidFill>
                  <a:srgbClr val="7030A0"/>
                </a:solidFill>
              </a:rPr>
              <a:t>V2X.</a:t>
            </a:r>
            <a:r>
              <a:rPr lang="en-US" dirty="0"/>
              <a:t>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Example:</a:t>
            </a:r>
          </a:p>
          <a:p>
            <a:pPr lvl="3"/>
            <a:r>
              <a:rPr lang="en-US" dirty="0"/>
              <a:t>A vehicle receives obstacle information beyond the line of sight through the ISAC system.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733B3A-355F-6E43-0006-6F616DFDA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5967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10428-8863-F46B-4B94-08E93F21E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85334-53B2-BEEF-D1D6-C157A98D5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lvl="1"/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Types of Services, Users, and Transmit Signals</a:t>
                </a:r>
              </a:p>
              <a:p>
                <a:pPr lvl="2"/>
                <a:r>
                  <a:rPr lang="en-US" dirty="0"/>
                  <a:t>The BS transmits different signals to different types of objects:</a:t>
                </a:r>
              </a:p>
              <a:p>
                <a:pPr lvl="3"/>
                <a:r>
                  <a:rPr lang="en-US" dirty="0"/>
                  <a:t>Radar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sensing targets. </a:t>
                </a:r>
              </a:p>
              <a:p>
                <a:pPr lvl="3"/>
                <a:r>
                  <a:rPr lang="en-US" dirty="0"/>
                  <a:t>ISAC/DFRC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ISAC users. </a:t>
                </a:r>
              </a:p>
              <a:p>
                <a:pPr lvl="3"/>
                <a:r>
                  <a:rPr lang="en-US" dirty="0"/>
                  <a:t>Communication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communication users. </a:t>
                </a:r>
              </a:p>
              <a:p>
                <a:pPr lvl="3"/>
                <a:r>
                  <a:rPr lang="en-US" dirty="0"/>
                  <a:t>The total number of objects served by the BS is: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85334-53B2-BEEF-D1D6-C157A98D5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9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075AB-F1EE-886E-A6A8-3882E2FFE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83120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54C520-C3AA-8869-73D8-4D657D5C2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830" y="2143505"/>
            <a:ext cx="5416644" cy="21752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97D670-EE3B-4EC9-75EE-FA67E304772C}"/>
              </a:ext>
            </a:extLst>
          </p:cNvPr>
          <p:cNvSpPr txBox="1"/>
          <p:nvPr/>
        </p:nvSpPr>
        <p:spPr>
          <a:xfrm>
            <a:off x="2474752" y="4219662"/>
            <a:ext cx="6367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 Types of services, users, and transmit signals</a:t>
            </a:r>
          </a:p>
        </p:txBody>
      </p:sp>
    </p:spTree>
    <p:extLst>
      <p:ext uri="{BB962C8B-B14F-4D97-AF65-F5344CB8AC3E}">
        <p14:creationId xmlns:p14="http://schemas.microsoft.com/office/powerpoint/2010/main" val="2990430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02304-90BA-A678-B66D-785A125D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B28EA-263E-BEC6-5FEF-0129213881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Classification of Service Objects</a:t>
                </a:r>
              </a:p>
              <a:p>
                <a:pPr lvl="2"/>
                <a:r>
                  <a:rPr lang="en-US" dirty="0"/>
                  <a:t>The BS 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 in total, classified into three types: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4"/>
                <a:r>
                  <a:rPr lang="en-US" dirty="0"/>
                  <a:t>Require sensing service only. </a:t>
                </a:r>
              </a:p>
              <a:p>
                <a:pPr lvl="4"/>
                <a:r>
                  <a:rPr lang="en-US" dirty="0"/>
                  <a:t>Examples: humans, buildings, obstacles, monitoring areas. </a:t>
                </a:r>
              </a:p>
              <a:p>
                <a:pPr lvl="4"/>
                <a:r>
                  <a:rPr lang="en-US" dirty="0"/>
                  <a:t>Can be device-free or device-based.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Communication Users </a:t>
                </a:r>
              </a:p>
              <a:p>
                <a:pPr lvl="4"/>
                <a:r>
                  <a:rPr lang="en-US" dirty="0"/>
                  <a:t>Require communication service only. </a:t>
                </a:r>
              </a:p>
              <a:p>
                <a:pPr lvl="4"/>
                <a:r>
                  <a:rPr lang="en-US" dirty="0"/>
                  <a:t>Examples: smartphones, terminals, IoT devices.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ISAC Users </a:t>
                </a:r>
              </a:p>
              <a:p>
                <a:pPr lvl="4"/>
                <a:r>
                  <a:rPr lang="en-US" dirty="0"/>
                  <a:t>Require both sensing and communication services. </a:t>
                </a:r>
              </a:p>
              <a:p>
                <a:pPr lvl="4"/>
                <a:r>
                  <a:rPr lang="en-US" dirty="0"/>
                  <a:t>Examples: connected vehicles, drones, robots, device-based targets.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B28EA-263E-BEC6-5FEF-0129213881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6A702-F064-70E2-7F2C-EB9C79B6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551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54A5A-5BD5-B93E-3E50-5EDE34901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0AEBD-0B15-AD9C-6970-E671FB5A8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Spatially Well-Separated Users</a:t>
            </a:r>
          </a:p>
          <a:p>
            <a:pPr lvl="2"/>
            <a:r>
              <a:rPr lang="en-US" dirty="0"/>
              <a:t>Spatial Separation Assumption</a:t>
            </a:r>
          </a:p>
          <a:p>
            <a:pPr lvl="2"/>
            <a:r>
              <a:rPr lang="en-US" dirty="0"/>
              <a:t>All users and targets are assumed to be spatially well-separated. </a:t>
            </a:r>
          </a:p>
          <a:p>
            <a:pPr lvl="2"/>
            <a:r>
              <a:rPr lang="en-US" dirty="0"/>
              <a:t>The main lobes of different beams do not overlap. </a:t>
            </a:r>
          </a:p>
          <a:p>
            <a:pPr lvl="2"/>
            <a:r>
              <a:rPr lang="en-US" dirty="0"/>
              <a:t>This reduces beam interference. </a:t>
            </a:r>
          </a:p>
          <a:p>
            <a:pPr lvl="2"/>
            <a:r>
              <a:rPr lang="en-US" dirty="0"/>
              <a:t>It also simplifies the beamforming and resource allocation problem.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130D78-A3C0-CF7A-1CE8-998AAA5D8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5276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7E7B1-0660-06DD-4156-CB276393F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0C1AC8-FDB9-37D6-AE6E-4560332CC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Signal Model</a:t>
                </a:r>
              </a:p>
              <a:p>
                <a:pPr lvl="2"/>
                <a:r>
                  <a:rPr lang="en-US" dirty="0"/>
                  <a:t>The BS transmits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baseband signal streams, denoted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where each stream corresponds to one service object, including:</a:t>
                </a:r>
              </a:p>
              <a:p>
                <a:pPr lvl="3"/>
                <a:r>
                  <a:rPr lang="en-US" dirty="0"/>
                  <a:t>sensing targets </a:t>
                </a:r>
              </a:p>
              <a:p>
                <a:pPr lvl="3"/>
                <a:r>
                  <a:rPr lang="en-US" dirty="0"/>
                  <a:t>ISAC users </a:t>
                </a:r>
              </a:p>
              <a:p>
                <a:pPr lvl="3"/>
                <a:r>
                  <a:rPr lang="en-US" dirty="0"/>
                  <a:t>communication users </a:t>
                </a:r>
              </a:p>
              <a:p>
                <a:pPr lvl="2"/>
                <a:r>
                  <a:rPr lang="en-US" dirty="0"/>
                  <a:t>The transmitted signal from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-antenna BS is expressed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Where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is the transmit precoding matrix.</a:t>
                </a:r>
              </a:p>
              <a:p>
                <a:pPr lvl="2"/>
                <a:r>
                  <a:rPr lang="en-US" dirty="0"/>
                  <a:t>Each column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controls the beamforming direction and power allocation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signal stream.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0C1AC8-FDB9-37D6-AE6E-4560332CC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A828-2792-1838-C168-B2E25E2EE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28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FC93-D129-93F3-C975-11C78BAB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3D17C2-8E64-463C-3DD8-01AF12B24C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Signal Model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Signal Assumptions and Covariance</a:t>
                </a:r>
              </a:p>
              <a:p>
                <a:pPr lvl="3"/>
                <a:r>
                  <a:rPr lang="en-US" dirty="0"/>
                  <a:t>Transmit Signal Covariance</a:t>
                </a:r>
              </a:p>
              <a:p>
                <a:pPr lvl="3"/>
                <a:r>
                  <a:rPr lang="en-US" dirty="0"/>
                  <a:t>The baseband signal streams are assumed to be:</a:t>
                </a:r>
              </a:p>
              <a:p>
                <a:pPr lvl="4"/>
                <a:r>
                  <a:rPr lang="en-US" dirty="0"/>
                  <a:t>zero-mean </a:t>
                </a:r>
              </a:p>
              <a:p>
                <a:pPr lvl="4"/>
                <a:r>
                  <a:rPr lang="en-US" dirty="0"/>
                  <a:t>statistically independent </a:t>
                </a:r>
              </a:p>
              <a:p>
                <a:pPr lvl="4"/>
                <a:r>
                  <a:rPr lang="en-US" dirty="0"/>
                  <a:t>temporally white </a:t>
                </a:r>
              </a:p>
              <a:p>
                <a:pPr lvl="4"/>
                <a:r>
                  <a:rPr lang="en-US" dirty="0"/>
                  <a:t>wide-sense stationary </a:t>
                </a:r>
              </a:p>
              <a:p>
                <a:pPr lvl="3"/>
                <a:r>
                  <a:rPr lang="en-US" dirty="0"/>
                  <a:t>Therefore,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en-US" b="1" dirty="0"/>
              </a:p>
              <a:p>
                <a:pPr lvl="3"/>
                <a:r>
                  <a:rPr lang="en-US" dirty="0"/>
                  <a:t>The transmit signal covariance is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transmit covariance is </a:t>
                </a:r>
                <a:r>
                  <a:rPr lang="en-US" dirty="0">
                    <a:solidFill>
                      <a:srgbClr val="C00000"/>
                    </a:solidFill>
                  </a:rPr>
                  <a:t>completely determined by the precoding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.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/>
                  <a:t>Therefore, beamforming and power allocation can be designed through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3D17C2-8E64-463C-3DD8-01AF12B24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0D934-ABE3-FB62-6B83-6FE3A8A0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714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5BE0-F2FB-1917-F99B-45F975D5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66DA1-F327-9E60-9B2A-D6542B07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Signal Model</a:t>
                </a:r>
              </a:p>
              <a:p>
                <a:pPr lvl="2"/>
                <a:r>
                  <a:rPr lang="en-US" dirty="0"/>
                  <a:t>The paper normalizes the baseband streams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 ……,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M signal streams, the covariance matrix is 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Important intuition</a:t>
                </a:r>
              </a:p>
              <a:p>
                <a:pPr lvl="3"/>
                <a:r>
                  <a:rPr lang="en-US" dirty="0"/>
                  <a:t>They put the actual power allocation and beamforming inside the precoder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So, the baseband symbols are treated as normalized signals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66DA1-F327-9E60-9B2A-D6542B07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203C8-E320-AB53-EA61-C6E575D60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290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EA6A-3D29-92FC-56AB-0B8AAB68F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107667-87DC-9A3C-14D0-24AB92A0E96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  <a:endParaRPr lang="en-US" sz="20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The baseband representation of the reflected echoes received at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eqArr>
                            <m:eqArrPr>
                              <m:ctrlPr>
                                <a:rPr lang="en-US" sz="1600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sz="1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>
                                          <a:latin typeface="Cambria Math" panose="02040503050406030204" pitchFamily="18" charset="0"/>
                                        </a:rPr>
                                        <m:t>𝐫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Sup>
                                    <m:sSub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nary>
                                    <m:naryPr>
                                      <m:chr m:val="∑"/>
                                      <m:grow m:val="on"/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 sz="1600" b="0" i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rad>
                                    </m:e>
                                  </m:nary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  <m:e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eqArr>
                            </m:e>
                            <m:e>
                              <m:r>
                                <a:rPr lang="en-US" sz="1600" b="0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b="1" i="0">
                                      <a:latin typeface="Cambria Math" panose="02040503050406030204" pitchFamily="18" charset="0"/>
                                    </a:rPr>
                                    <m:t>𝐖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>
                                      <a:latin typeface="Cambria Math" panose="02040503050406030204" pitchFamily="18" charset="0"/>
                                    </a:rPr>
                                    <m:t>𝐳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eqArr>
                        </m:e>
                        <m:e/>
                        <m:e>
                          <m:r>
                            <m:rPr>
                              <m:nor/>
                            </m:rPr>
                            <a:rPr lang="en-US" sz="1600" b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(2)</m:t>
                          </m:r>
                          <m:r>
                            <m:rPr>
                              <m:nor/>
                            </m:rPr>
                            <a:rPr lang="en-US" sz="1600" b="0" i="1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</m:e>
                      </m:mr>
                    </m:m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received echo is the </a:t>
                </a: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summation of reflected signals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from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sensing targets plus noise.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107667-87DC-9A3C-14D0-24AB92A0E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 r="-21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DFEFD-4A78-6807-AD8C-C12BC4EB7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5BFA3B98-534B-9A77-ECF5-C8D0AAD2A71B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82344667"/>
                  </p:ext>
                </p:extLst>
              </p:nvPr>
            </p:nvGraphicFramePr>
            <p:xfrm>
              <a:off x="6946084" y="1711354"/>
              <a:ext cx="5180201" cy="477333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642380">
                      <a:extLst>
                        <a:ext uri="{9D8B030D-6E8A-4147-A177-3AD203B41FA5}">
                          <a16:colId xmlns:a16="http://schemas.microsoft.com/office/drawing/2014/main" val="3797735268"/>
                        </a:ext>
                      </a:extLst>
                    </a:gridCol>
                    <a:gridCol w="3537821">
                      <a:extLst>
                        <a:ext uri="{9D8B030D-6E8A-4147-A177-3AD203B41FA5}">
                          <a16:colId xmlns:a16="http://schemas.microsoft.com/office/drawing/2014/main" val="2010767481"/>
                        </a:ext>
                      </a:extLst>
                    </a:gridCol>
                  </a:tblGrid>
                  <a:tr h="9627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91917" marR="147628" marT="147628" marB="147628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8449879"/>
                      </a:ext>
                    </a:extLst>
                  </a:tr>
                  <a:tr h="112756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𝐫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3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received echo after receive beamforming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45157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number of sensed targets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6670130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 beamforming matrix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67348902"/>
                      </a:ext>
                    </a:extLst>
                  </a:tr>
                  <a:tr h="6567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𝐳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3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 dirty="0">
                              <a:solidFill>
                                <a:schemeClr val="tx1"/>
                              </a:solidFill>
                            </a:rPr>
                            <a:t>receive AWGN noise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206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5BFA3B98-534B-9A77-ECF5-C8D0AAD2A71B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82344667"/>
                  </p:ext>
                </p:extLst>
              </p:nvPr>
            </p:nvGraphicFramePr>
            <p:xfrm>
              <a:off x="6946084" y="1711354"/>
              <a:ext cx="5180201" cy="477333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642380">
                      <a:extLst>
                        <a:ext uri="{9D8B030D-6E8A-4147-A177-3AD203B41FA5}">
                          <a16:colId xmlns:a16="http://schemas.microsoft.com/office/drawing/2014/main" val="3797735268"/>
                        </a:ext>
                      </a:extLst>
                    </a:gridCol>
                    <a:gridCol w="3537821">
                      <a:extLst>
                        <a:ext uri="{9D8B030D-6E8A-4147-A177-3AD203B41FA5}">
                          <a16:colId xmlns:a16="http://schemas.microsoft.com/office/drawing/2014/main" val="2010767481"/>
                        </a:ext>
                      </a:extLst>
                    </a:gridCol>
                  </a:tblGrid>
                  <a:tr h="9627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91917" marR="147628" marT="147628" marB="147628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8449879"/>
                      </a:ext>
                    </a:extLst>
                  </a:tr>
                  <a:tr h="112756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41" t="-85946" r="-215926" b="-2410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received echo after receive beamforming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45157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41" t="-205988" r="-215926" b="-167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number of sensed targets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6670130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41" t="-307831" r="-215926" b="-68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 beamforming matrix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67348902"/>
                      </a:ext>
                    </a:extLst>
                  </a:tr>
                  <a:tr h="6567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41" t="-626852" r="-215926" b="-4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 dirty="0">
                              <a:solidFill>
                                <a:schemeClr val="tx1"/>
                              </a:solidFill>
                            </a:rPr>
                            <a:t>receive AWGN noise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2065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753181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2A9E7C-8D86-C6EC-B156-FF8B626BB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88C6AF-3476-4043-238A-67AF89829914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sz="1900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Inside Eq. (2), the reflected echo from the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is represented by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𝑘</m:t>
                    </m:r>
                    <m:rad>
                      <m:radPr>
                        <m:degHide m:val="on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7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7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700" b="0" i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7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Each target echo contains information about target strength, delay, Doppler, and direction.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88C6AF-3476-4043-238A-67AF89829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434" t="-1617" r="-10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15C46D-E218-54ED-1479-EE1B9341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A4C2F0F-DD8F-6860-71E8-426860527CE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0954037"/>
                  </p:ext>
                </p:extLst>
              </p:nvPr>
            </p:nvGraphicFramePr>
            <p:xfrm>
              <a:off x="6225428" y="1649691"/>
              <a:ext cx="5075144" cy="452727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1733494">
                      <a:extLst>
                        <a:ext uri="{9D8B030D-6E8A-4147-A177-3AD203B41FA5}">
                          <a16:colId xmlns:a16="http://schemas.microsoft.com/office/drawing/2014/main" val="4063274839"/>
                        </a:ext>
                      </a:extLst>
                    </a:gridCol>
                    <a:gridCol w="3341650">
                      <a:extLst>
                        <a:ext uri="{9D8B030D-6E8A-4147-A177-3AD203B41FA5}">
                          <a16:colId xmlns:a16="http://schemas.microsoft.com/office/drawing/2014/main" val="3651515780"/>
                        </a:ext>
                      </a:extLst>
                    </a:gridCol>
                  </a:tblGrid>
                  <a:tr h="7223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0764554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  <m:sSub>
                                      <m:sSubPr>
                                        <m:ctrlP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rad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array gain and allocated transmit power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089093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reflection coefficient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7053856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Doppler shift due to target movement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0100205"/>
                      </a:ext>
                    </a:extLst>
                  </a:tr>
                  <a:tr h="6664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𝐬</m:t>
                                    </m:r>
                                  </m:e>
                                  <m:sub>
                                    <m:r>
                                      <a:rPr lang="en-US" sz="20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delayed transmit signal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9601796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 dirty="0">
                              <a:solidFill>
                                <a:schemeClr val="bg1"/>
                              </a:solidFill>
                            </a:rPr>
                            <a:t>target direction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2764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A4C2F0F-DD8F-6860-71E8-426860527CE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0954037"/>
                  </p:ext>
                </p:extLst>
              </p:nvPr>
            </p:nvGraphicFramePr>
            <p:xfrm>
              <a:off x="6225428" y="1649691"/>
              <a:ext cx="5075144" cy="452727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1733494">
                      <a:extLst>
                        <a:ext uri="{9D8B030D-6E8A-4147-A177-3AD203B41FA5}">
                          <a16:colId xmlns:a16="http://schemas.microsoft.com/office/drawing/2014/main" val="4063274839"/>
                        </a:ext>
                      </a:extLst>
                    </a:gridCol>
                    <a:gridCol w="3341650">
                      <a:extLst>
                        <a:ext uri="{9D8B030D-6E8A-4147-A177-3AD203B41FA5}">
                          <a16:colId xmlns:a16="http://schemas.microsoft.com/office/drawing/2014/main" val="3651515780"/>
                        </a:ext>
                      </a:extLst>
                    </a:gridCol>
                  </a:tblGrid>
                  <a:tr h="7223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0764554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79605" r="-192281" b="-3118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array gain and allocated transmit power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089093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257547" r="-192281" b="-3471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reflection coefficient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7053856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249342" r="-192281" b="-14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Doppler shift due to target movement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0100205"/>
                      </a:ext>
                    </a:extLst>
                  </a:tr>
                  <a:tr h="6664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487156" r="-192281" b="-981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delayed transmit signal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9601796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603774" r="-192281" b="-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 dirty="0">
                              <a:solidFill>
                                <a:schemeClr val="bg1"/>
                              </a:solidFill>
                            </a:rPr>
                            <a:t>target direction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2764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91532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76926-8A99-B672-34E5-92DB79BEE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System 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14DD32-1DF7-FC0A-915C-EB8CBD061CC6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Eq. (2), the delay term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propagation delay of 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target.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means the target is farther from the BS.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delay is related to target range.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Doppler term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4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Doppler frequency.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Doppler appears when the target is moving.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It contains velocity information.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14DD32-1DF7-FC0A-915C-EB8CBD061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 r="-478" b="-10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7EFFD-C649-C202-537E-6A9C63F6F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15471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34</a:t>
            </a:fld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FA95979B-26D1-89C4-C33C-91A1E1A6569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521685722"/>
                  </p:ext>
                </p:extLst>
              </p:nvPr>
            </p:nvGraphicFramePr>
            <p:xfrm>
              <a:off x="6172200" y="2126221"/>
              <a:ext cx="5181601" cy="3574216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534819">
                      <a:extLst>
                        <a:ext uri="{9D8B030D-6E8A-4147-A177-3AD203B41FA5}">
                          <a16:colId xmlns:a16="http://schemas.microsoft.com/office/drawing/2014/main" val="3968851819"/>
                        </a:ext>
                      </a:extLst>
                    </a:gridCol>
                    <a:gridCol w="2646782">
                      <a:extLst>
                        <a:ext uri="{9D8B030D-6E8A-4147-A177-3AD203B41FA5}">
                          <a16:colId xmlns:a16="http://schemas.microsoft.com/office/drawing/2014/main" val="4215111479"/>
                        </a:ext>
                      </a:extLst>
                    </a:gridCol>
                  </a:tblGrid>
                  <a:tr h="133279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Sensing information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99886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012395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116569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angle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00567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FA95979B-26D1-89C4-C33C-91A1E1A6569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521685722"/>
                  </p:ext>
                </p:extLst>
              </p:nvPr>
            </p:nvGraphicFramePr>
            <p:xfrm>
              <a:off x="6172200" y="2126221"/>
              <a:ext cx="5181601" cy="3574216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534819">
                      <a:extLst>
                        <a:ext uri="{9D8B030D-6E8A-4147-A177-3AD203B41FA5}">
                          <a16:colId xmlns:a16="http://schemas.microsoft.com/office/drawing/2014/main" val="3968851819"/>
                        </a:ext>
                      </a:extLst>
                    </a:gridCol>
                    <a:gridCol w="2646782">
                      <a:extLst>
                        <a:ext uri="{9D8B030D-6E8A-4147-A177-3AD203B41FA5}">
                          <a16:colId xmlns:a16="http://schemas.microsoft.com/office/drawing/2014/main" val="4215111479"/>
                        </a:ext>
                      </a:extLst>
                    </a:gridCol>
                  </a:tblGrid>
                  <a:tr h="133279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Sensing information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99886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78049" r="-104808" b="-20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012395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278049" r="-104808" b="-10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116569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378049" r="-104808" b="-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angle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00567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048617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B8263FDB-CB1F-881C-3D68-FC3DD6D44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701AB-8705-92FE-4A2C-9B2F726E7000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sz="1900" b="1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Spatial Structure of the Echo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Transmit and Receive Array Responses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spatial part of 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echo in Eq. (2)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This term represents the MIMO radar spatial channel of the target.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target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9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 affects both the transmit beam direction and the receive echo direction.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701AB-8705-92FE-4A2C-9B2F726E7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8BAE97-423A-C9DA-6FD5-98A116FF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AA47F599-2E3A-42A0-4439-388F2CA6FD8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0410606"/>
                  </p:ext>
                </p:extLst>
              </p:nvPr>
            </p:nvGraphicFramePr>
            <p:xfrm>
              <a:off x="6172200" y="1855289"/>
              <a:ext cx="5181600" cy="411607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2573458">
                      <a:extLst>
                        <a:ext uri="{9D8B030D-6E8A-4147-A177-3AD203B41FA5}">
                          <a16:colId xmlns:a16="http://schemas.microsoft.com/office/drawing/2014/main" val="230507501"/>
                        </a:ext>
                      </a:extLst>
                    </a:gridCol>
                    <a:gridCol w="2608142">
                      <a:extLst>
                        <a:ext uri="{9D8B030D-6E8A-4147-A177-3AD203B41FA5}">
                          <a16:colId xmlns:a16="http://schemas.microsoft.com/office/drawing/2014/main" val="449273423"/>
                        </a:ext>
                      </a:extLst>
                    </a:gridCol>
                  </a:tblGrid>
                  <a:tr h="68924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89301" marR="145616" marT="145616" marB="145616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89301" marR="145616" marT="145616" marB="145616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592842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3980591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receive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1409193"/>
                      </a:ext>
                    </a:extLst>
                  </a:tr>
                  <a:tr h="13687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transmit-target-receive spatial response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73181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AA47F599-2E3A-42A0-4439-388F2CA6FD8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0410606"/>
                  </p:ext>
                </p:extLst>
              </p:nvPr>
            </p:nvGraphicFramePr>
            <p:xfrm>
              <a:off x="6172200" y="1855289"/>
              <a:ext cx="5181600" cy="411607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2573458">
                      <a:extLst>
                        <a:ext uri="{9D8B030D-6E8A-4147-A177-3AD203B41FA5}">
                          <a16:colId xmlns:a16="http://schemas.microsoft.com/office/drawing/2014/main" val="230507501"/>
                        </a:ext>
                      </a:extLst>
                    </a:gridCol>
                    <a:gridCol w="2608142">
                      <a:extLst>
                        <a:ext uri="{9D8B030D-6E8A-4147-A177-3AD203B41FA5}">
                          <a16:colId xmlns:a16="http://schemas.microsoft.com/office/drawing/2014/main" val="449273423"/>
                        </a:ext>
                      </a:extLst>
                    </a:gridCol>
                  </a:tblGrid>
                  <a:tr h="68924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89301" marR="145616" marT="145616" marB="145616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89301" marR="145616" marT="145616" marB="145616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592842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473" t="-68047" r="-101655" b="-233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3980591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473" t="-168047" r="-101655" b="-133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receive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1409193"/>
                      </a:ext>
                    </a:extLst>
                  </a:tr>
                  <a:tr h="136879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473" t="-201333" r="-101655" b="-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transmit-target-receive spatial response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73181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38046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586DDE-99A5-3ED2-325F-59159B355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System </a:t>
            </a:r>
            <a:r>
              <a:rPr lang="ko-KR" altLang="en-US" dirty="0" err="1"/>
              <a:t>Model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AE6429-581C-07F2-ADD8-AF14BB5617F4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10484224" cy="49617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altLang="ko-KR" sz="17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Transmit Steering Vector for ULA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a ULA with half-wavelength spacing, the transmit steering vector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sSub>
                            <m:sSubPr>
                              <m:ctrlPr>
                                <a:rPr lang="en-US" altLang="ko-KR" sz="17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700" b="1"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17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altLang="ko-KR" sz="1700" b="0" i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ko-KR" sz="17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700" b="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7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sz="17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1700" b="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ko-KR" altLang="en-US" sz="17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sSup>
                            <m:sSupPr>
                              <m:ctrlPr>
                                <a:rPr lang="en-US" altLang="ko-KR" sz="17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sSup>
                                    <m:sSupPr>
                                      <m:ctrlP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𝑠𝑖𝑛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  <m: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  <m:t>,……,</m:t>
                                  </m:r>
                                  <m:sSup>
                                    <m:sSupPr>
                                      <m:ctrlP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d>
                                        <m:dPr>
                                          <m:ctrlPr>
                                            <a:rPr lang="en-US" altLang="ko-KR" sz="17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sub>
                                          </m:sSub>
                                          <m:r>
                                            <a:rPr lang="en-US" altLang="ko-KR" sz="1700" b="0" i="1" smtClean="0">
                                              <a:latin typeface="Cambria Math" panose="02040503050406030204" pitchFamily="18" charset="0"/>
                                            </a:rPr>
                                            <m:t> −1</m:t>
                                          </m:r>
                                        </m:e>
                                      </m:d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𝑠𝑖𝑛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  <m:e/>
                        <m:e>
                          <m:r>
                            <a:rPr lang="en-US" altLang="ko-KR" sz="1700" b="0" i="1" smtClean="0">
                              <a:latin typeface="Cambria Math" panose="02040503050406030204" pitchFamily="18" charset="0"/>
                            </a:rPr>
                            <m:t>                             </m:t>
                          </m:r>
                          <m:r>
                            <m:rPr>
                              <m:nor/>
                            </m:rPr>
                            <a:rPr lang="en-US" altLang="ko-KR" sz="1700" b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(3)</m:t>
                          </m:r>
                          <m:r>
                            <m:rPr>
                              <m:nor/>
                            </m:rPr>
                            <a:rPr lang="en-US" altLang="ko-KR" sz="1700" b="0" i="1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</m:e>
                      </m:mr>
                    </m:m>
                  </m:oMath>
                </a14:m>
                <a:endParaRPr lang="en-US" altLang="ko-KR" sz="1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700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ko-KR" alt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700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describes how the transmit antenna array focuses signal energy toward direction </a:t>
                </a: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altLang="ko-KR" sz="1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Receive Steering Vector for ULA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Similarly, the receive steering vector is</a:t>
                </a:r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  <m:ctrlPr>
                            <a:rPr lang="en-US" sz="1600" b="1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sSub>
                              <m:sSubPr>
                                <m:ctrlP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1, </m:t>
                                    </m:r>
                                    <m:sSup>
                                      <m:sSup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𝑠𝑖𝑛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sup>
                                    </m:s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,……..,</m:t>
                                    </m:r>
                                    <m:sSup>
                                      <m:sSup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𝜋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6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𝑁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600" i="1">
                                                    <a:latin typeface="Cambria Math" panose="02040503050406030204" pitchFamily="18" charset="0"/>
                                                  </a:rPr>
                                                  <m:t> −1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𝑠𝑖𝑛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  <m:e/>
                          <m:e>
                            <m:r>
                              <m:rPr>
                                <m:nor/>
                              </m:rPr>
                              <a:rPr lang="en-US" sz="1600"/>
                              <m:t>(4)</m:t>
                            </m:r>
                            <m:r>
                              <m:rPr>
                                <m:nor/>
                              </m:rPr>
                              <a:rPr lang="en-US" sz="1600" i="1"/>
                              <m:t> </m:t>
                            </m:r>
                          </m:e>
                        </m:mr>
                      </m:m>
                    </m:oMath>
                  </m:oMathPara>
                </a14:m>
                <a:endParaRPr lang="en-US" altLang="ko-KR" sz="1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AE6429-581C-07F2-ADD8-AF14BB561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10484224" cy="4961780"/>
              </a:xfrm>
              <a:prstGeom prst="rect">
                <a:avLst/>
              </a:prstGeom>
              <a:blipFill>
                <a:blip r:embed="rId2"/>
                <a:stretch>
                  <a:fillRect l="-407" t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EBC02D-5CD9-45B7-7747-B82FF87E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61296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BF0BBBF-CD79-810E-17CC-A1FCEE2AC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System </a:t>
            </a:r>
            <a:r>
              <a:rPr lang="ko-KR" altLang="en-US" dirty="0" err="1"/>
              <a:t>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F67231-95E2-28B6-0827-E57726B724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𝐡𝐱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+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              (5)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effective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channel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desired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𝑒𝑓𝑓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𝑒𝑓𝑓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F67231-95E2-28B6-0827-E57726B724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FDBE8-E665-3D96-F2DF-0E017A1F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330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52B7-5564-5A79-19E4-C4E86AA1C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176D0A7F-ED60-BC03-77B7-F267935DCD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98726998"/>
                  </p:ext>
                </p:extLst>
              </p:nvPr>
            </p:nvGraphicFramePr>
            <p:xfrm>
              <a:off x="1409350" y="4304786"/>
              <a:ext cx="10192623" cy="2242820"/>
            </p:xfrm>
            <a:graphic>
              <a:graphicData uri="http://schemas.openxmlformats.org/drawingml/2006/table">
                <a:tbl>
                  <a:tblPr/>
                  <a:tblGrid>
                    <a:gridCol w="5086459">
                      <a:extLst>
                        <a:ext uri="{9D8B030D-6E8A-4147-A177-3AD203B41FA5}">
                          <a16:colId xmlns:a16="http://schemas.microsoft.com/office/drawing/2014/main" val="1403568501"/>
                        </a:ext>
                      </a:extLst>
                    </a:gridCol>
                    <a:gridCol w="5106164">
                      <a:extLst>
                        <a:ext uri="{9D8B030D-6E8A-4147-A177-3AD203B41FA5}">
                          <a16:colId xmlns:a16="http://schemas.microsoft.com/office/drawing/2014/main" val="1800681253"/>
                        </a:ext>
                      </a:extLst>
                    </a:gridCol>
                  </a:tblGrid>
                  <a:tr h="352281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Meaning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12235426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received signal at user </a:t>
                          </a:r>
                          <a14:m>
                            <m:oMath xmlns:m="http://schemas.openxmlformats.org/officeDocument/2006/math"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78311399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desired communication signal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80565523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transmit power for user </a:t>
                          </a:r>
                          <a14:m>
                            <m:oMath xmlns:m="http://schemas.openxmlformats.org/officeDocument/2006/math"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67560852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channel coefficient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54321807"/>
                      </a:ext>
                    </a:extLst>
                  </a:tr>
                  <a:tr h="35228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𝐳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AWGN noise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105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176D0A7F-ED60-BC03-77B7-F267935DCD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98726998"/>
                  </p:ext>
                </p:extLst>
              </p:nvPr>
            </p:nvGraphicFramePr>
            <p:xfrm>
              <a:off x="1409350" y="4304786"/>
              <a:ext cx="10192623" cy="2242820"/>
            </p:xfrm>
            <a:graphic>
              <a:graphicData uri="http://schemas.openxmlformats.org/drawingml/2006/table">
                <a:tbl>
                  <a:tblPr/>
                  <a:tblGrid>
                    <a:gridCol w="5086459">
                      <a:extLst>
                        <a:ext uri="{9D8B030D-6E8A-4147-A177-3AD203B41FA5}">
                          <a16:colId xmlns:a16="http://schemas.microsoft.com/office/drawing/2014/main" val="1403568501"/>
                        </a:ext>
                      </a:extLst>
                    </a:gridCol>
                    <a:gridCol w="5106164">
                      <a:extLst>
                        <a:ext uri="{9D8B030D-6E8A-4147-A177-3AD203B41FA5}">
                          <a16:colId xmlns:a16="http://schemas.microsoft.com/office/drawing/2014/main" val="180068125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Meaning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12235426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104839" r="-100599" b="-4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761" t="-104839" r="-239" b="-4225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8311399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201587" r="-100599" b="-3158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desired communication signal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80565523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306452" r="-100599" b="-2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761" t="-306452" r="-239" b="-2209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7560852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406452" r="-100599" b="-1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channel coefficient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5432180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523333" r="-100599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AWGN noise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105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F945D-77EB-78EC-0615-D1701BAEC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CBDFD3-E537-44F4-1707-E591CD71DCF9}"/>
                  </a:ext>
                </a:extLst>
              </p:cNvPr>
              <p:cNvSpPr txBox="1"/>
              <p:nvPr/>
            </p:nvSpPr>
            <p:spPr>
              <a:xfrm>
                <a:off x="809538" y="1648439"/>
                <a:ext cx="10276513" cy="38284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BS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transmit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beam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alignment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User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receive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beam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alignment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Doppler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effect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propagation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delay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Doppler and delay are assumed to be compensated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CBDFD3-E537-44F4-1707-E591CD71D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538" y="1648439"/>
                <a:ext cx="10276513" cy="3828420"/>
              </a:xfrm>
              <a:prstGeom prst="rect">
                <a:avLst/>
              </a:prstGeom>
              <a:blipFill>
                <a:blip r:embed="rId3"/>
                <a:stretch>
                  <a:fillRect l="-534" t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25900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F8E4BB5-CC01-20A0-F9DD-393DB7F78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7F967E-2012-3325-8C40-C59E40F074A9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  <a:endParaRPr lang="en-US" sz="2000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Beamformer Implementation Using Steering Vectors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this paper, the transmit and receive beamformers are implemented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(6)</a:t>
                </a:r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90000"/>
                  </a:lnSpc>
                  <a:spcBef>
                    <a:spcPts val="1000"/>
                  </a:spcBef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7F967E-2012-3325-8C40-C59E40F07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0740E-CAC0-C58D-A3D7-594F83A73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ACA5A0F-3AB1-A0CC-8EA1-6F82D53D45D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322455502"/>
                  </p:ext>
                </p:extLst>
              </p:nvPr>
            </p:nvGraphicFramePr>
            <p:xfrm>
              <a:off x="6273632" y="1649691"/>
              <a:ext cx="4978736" cy="497243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986006">
                      <a:extLst>
                        <a:ext uri="{9D8B030D-6E8A-4147-A177-3AD203B41FA5}">
                          <a16:colId xmlns:a16="http://schemas.microsoft.com/office/drawing/2014/main" val="1038607285"/>
                        </a:ext>
                      </a:extLst>
                    </a:gridCol>
                    <a:gridCol w="2992730">
                      <a:extLst>
                        <a:ext uri="{9D8B030D-6E8A-4147-A177-3AD203B41FA5}">
                          <a16:colId xmlns:a16="http://schemas.microsoft.com/office/drawing/2014/main" val="2598853192"/>
                        </a:ext>
                      </a:extLst>
                    </a:gridCol>
                  </a:tblGrid>
                  <a:tr h="4607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Symbol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1955947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transmit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object/user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4847755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receive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sensing target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2518520"/>
                      </a:ext>
                    </a:extLst>
                  </a:tr>
                  <a:tr h="10367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18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receive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communication 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886343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departure) of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object/user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8307179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arriavals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) of sensing target/user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033547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ACA5A0F-3AB1-A0CC-8EA1-6F82D53D45D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322455502"/>
                  </p:ext>
                </p:extLst>
              </p:nvPr>
            </p:nvGraphicFramePr>
            <p:xfrm>
              <a:off x="6273632" y="1649691"/>
              <a:ext cx="4978736" cy="497243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986006">
                      <a:extLst>
                        <a:ext uri="{9D8B030D-6E8A-4147-A177-3AD203B41FA5}">
                          <a16:colId xmlns:a16="http://schemas.microsoft.com/office/drawing/2014/main" val="1038607285"/>
                        </a:ext>
                      </a:extLst>
                    </a:gridCol>
                    <a:gridCol w="2992730">
                      <a:extLst>
                        <a:ext uri="{9D8B030D-6E8A-4147-A177-3AD203B41FA5}">
                          <a16:colId xmlns:a16="http://schemas.microsoft.com/office/drawing/2014/main" val="2598853192"/>
                        </a:ext>
                      </a:extLst>
                    </a:gridCol>
                  </a:tblGrid>
                  <a:tr h="4607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Symbol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1955947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61290" r="-150613" b="-502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61290" b="-502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847755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160000" r="-150613" b="-398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160000" b="-3984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2518520"/>
                      </a:ext>
                    </a:extLst>
                  </a:tr>
                  <a:tr h="10367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191176" r="-150613" b="-19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191176" b="-19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2886343"/>
                      </a:ext>
                    </a:extLst>
                  </a:tr>
                  <a:tr h="9800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307453" r="-150613" b="-103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307453" b="-103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8307179"/>
                      </a:ext>
                    </a:extLst>
                  </a:tr>
                  <a:tr h="9800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407453" r="-150613" b="-3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arriavals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) of sensing target/user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0335476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426740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2BFBF7-60E1-FA95-40FB-C1334B867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746425D-2D20-F8C0-8101-3BD36E1BC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Why Steering Vector as a Beamformer?</a:t>
                </a:r>
              </a:p>
              <a:p>
                <a:pPr lvl="2"/>
                <a:r>
                  <a:rPr lang="en-US" dirty="0"/>
                  <a:t>A steering vector </a:t>
                </a:r>
                <a:r>
                  <a:rPr lang="en-US" dirty="0">
                    <a:solidFill>
                      <a:srgbClr val="0070C0"/>
                    </a:solidFill>
                  </a:rPr>
                  <a:t>represents the antenna array response toward a specific direction</a:t>
                </a:r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Therefore, if the </a:t>
                </a:r>
                <a:r>
                  <a:rPr lang="en-US" dirty="0">
                    <a:solidFill>
                      <a:srgbClr val="0070C0"/>
                    </a:solidFill>
                  </a:rPr>
                  <a:t>estimated direction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, choosing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beamformer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means the antenna array is pointed toward that direction.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estimated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angle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steering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vector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provides:</a:t>
                </a:r>
              </a:p>
              <a:p>
                <a:pPr lvl="3"/>
                <a:r>
                  <a:rPr lang="en-US" dirty="0"/>
                  <a:t>transmit beam alignment toward the intended user/target </a:t>
                </a:r>
              </a:p>
              <a:p>
                <a:pPr lvl="3"/>
                <a:r>
                  <a:rPr lang="en-US" dirty="0"/>
                  <a:t>receive beam alignment toward the incoming echo/signal </a:t>
                </a:r>
              </a:p>
              <a:p>
                <a:pPr lvl="3"/>
                <a:r>
                  <a:rPr lang="en-US" dirty="0"/>
                  <a:t>simple implementation based on estimated </a:t>
                </a:r>
                <a:r>
                  <a:rPr lang="en-US" dirty="0" err="1"/>
                  <a:t>AoD</a:t>
                </a:r>
                <a:r>
                  <a:rPr lang="en-US" dirty="0"/>
                  <a:t>/</a:t>
                </a:r>
                <a:r>
                  <a:rPr lang="en-US" dirty="0" err="1"/>
                  <a:t>AoA</a:t>
                </a:r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Eq. (6) uses steering vectors as beamformers so that the BS/user can transmit or receive signals in the estimated target/user direction.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746425D-2D20-F8C0-8101-3BD36E1BC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4E516-ABAF-4497-DFDF-BE6C5FDE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992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4351-8299-6C56-4B5F-58467BBC2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831A0-2019-42C7-1D15-9DC30953B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C. Communication QoS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Communication QoS and SNR Evaluation</a:t>
            </a:r>
          </a:p>
          <a:p>
            <a:pPr lvl="2"/>
            <a:r>
              <a:rPr lang="en-US" dirty="0"/>
              <a:t>In this paper, the communication QoS is measured by the </a:t>
            </a:r>
            <a:r>
              <a:rPr lang="en-US" dirty="0">
                <a:solidFill>
                  <a:srgbClr val="002060"/>
                </a:solidFill>
              </a:rPr>
              <a:t>achievable rate.</a:t>
            </a:r>
          </a:p>
          <a:p>
            <a:pPr lvl="2"/>
            <a:r>
              <a:rPr lang="en-US" dirty="0"/>
              <a:t>The reason is that achievable rate directly depends on wireless resources such as:</a:t>
            </a:r>
          </a:p>
          <a:p>
            <a:pPr lvl="3"/>
            <a:r>
              <a:rPr lang="en-US" dirty="0"/>
              <a:t>transmit power </a:t>
            </a:r>
          </a:p>
          <a:p>
            <a:pPr lvl="3"/>
            <a:r>
              <a:rPr lang="en-US" dirty="0"/>
              <a:t>allocated bandwidth </a:t>
            </a:r>
          </a:p>
          <a:p>
            <a:pPr lvl="3"/>
            <a:r>
              <a:rPr lang="en-US" dirty="0"/>
              <a:t>channel gain </a:t>
            </a:r>
          </a:p>
          <a:p>
            <a:pPr lvl="3"/>
            <a:r>
              <a:rPr lang="en-US" dirty="0"/>
              <a:t>noise power </a:t>
            </a:r>
          </a:p>
          <a:p>
            <a:pPr lvl="2"/>
            <a:r>
              <a:rPr lang="en-US" dirty="0"/>
              <a:t>Since different users are allocated </a:t>
            </a:r>
            <a:r>
              <a:rPr lang="en-US" dirty="0">
                <a:solidFill>
                  <a:srgbClr val="002060"/>
                </a:solidFill>
              </a:rPr>
              <a:t>orthogonal frequency bandwidth</a:t>
            </a:r>
            <a:r>
              <a:rPr lang="en-US" dirty="0"/>
              <a:t>, inter-user interference can be omitted.</a:t>
            </a:r>
          </a:p>
          <a:p>
            <a:pPr lvl="2"/>
            <a:r>
              <a:rPr lang="en-US" dirty="0"/>
              <a:t>Therefore, the paper uses </a:t>
            </a:r>
            <a:r>
              <a:rPr lang="en-US" dirty="0">
                <a:solidFill>
                  <a:srgbClr val="002060"/>
                </a:solidFill>
              </a:rPr>
              <a:t>SNR</a:t>
            </a:r>
            <a:r>
              <a:rPr lang="en-US" dirty="0"/>
              <a:t> instead of SINR.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38290-7C8C-F1CE-2D04-A35596BE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6510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3143ACAD-18A2-C4D5-090F-4632FCF4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18FD53-97E0-CA6F-D400-25CB4D6F5415}"/>
                  </a:ext>
                </a:extLst>
              </p:cNvPr>
              <p:cNvSpPr txBox="1"/>
              <p:nvPr/>
            </p:nvSpPr>
            <p:spPr>
              <a:xfrm>
                <a:off x="846588" y="1662274"/>
                <a:ext cx="5264791" cy="45371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r>
                  <a:rPr lang="en-US" sz="2000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Received SNR of the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User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received SNR of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communication user at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b="1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en-US" sz="2000" b="1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sz="20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000" b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sz="20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                        (7)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18FD53-97E0-CA6F-D400-25CB4D6F5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588" y="1662274"/>
                <a:ext cx="5264791" cy="4537190"/>
              </a:xfrm>
              <a:prstGeom prst="rect">
                <a:avLst/>
              </a:prstGeom>
              <a:blipFill>
                <a:blip r:embed="rId2"/>
                <a:stretch>
                  <a:fillRect l="-1273" t="-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D5BEC-39D2-EBD2-33A1-401B85549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42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E06BBDDA-94C2-A5F9-8AE3-154829F5381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1521995"/>
                  </p:ext>
                </p:extLst>
              </p:nvPr>
            </p:nvGraphicFramePr>
            <p:xfrm>
              <a:off x="6736360" y="1681993"/>
              <a:ext cx="4915947" cy="432033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725058">
                      <a:extLst>
                        <a:ext uri="{9D8B030D-6E8A-4147-A177-3AD203B41FA5}">
                          <a16:colId xmlns:a16="http://schemas.microsoft.com/office/drawing/2014/main" val="1778453428"/>
                        </a:ext>
                      </a:extLst>
                    </a:gridCol>
                    <a:gridCol w="3190889">
                      <a:extLst>
                        <a:ext uri="{9D8B030D-6E8A-4147-A177-3AD203B41FA5}">
                          <a16:colId xmlns:a16="http://schemas.microsoft.com/office/drawing/2014/main" val="3852176464"/>
                        </a:ext>
                      </a:extLst>
                    </a:gridCol>
                  </a:tblGrid>
                  <a:tr h="58081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32749752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transmit power allocated to user </a:t>
                          </a:r>
                          <a14:m>
                            <m:oMath xmlns:m="http://schemas.openxmlformats.org/officeDocument/2006/math">
                              <m:r>
                                <a:rPr lang="en-US" sz="17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65119015"/>
                      </a:ext>
                    </a:extLst>
                  </a:tr>
                  <a:tr h="81249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bandwidth allocated to user </a:t>
                          </a:r>
                          <a14:m>
                            <m:oMath xmlns:m="http://schemas.openxmlformats.org/officeDocument/2006/math">
                              <m:r>
                                <a:rPr lang="en-US" sz="17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0446425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7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communication noise power density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6912765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BS transmit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4099649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17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7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user receive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25215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E06BBDDA-94C2-A5F9-8AE3-154829F5381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1521995"/>
                  </p:ext>
                </p:extLst>
              </p:nvPr>
            </p:nvGraphicFramePr>
            <p:xfrm>
              <a:off x="6736360" y="1681993"/>
              <a:ext cx="4915947" cy="432033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725058">
                      <a:extLst>
                        <a:ext uri="{9D8B030D-6E8A-4147-A177-3AD203B41FA5}">
                          <a16:colId xmlns:a16="http://schemas.microsoft.com/office/drawing/2014/main" val="1778453428"/>
                        </a:ext>
                      </a:extLst>
                    </a:gridCol>
                    <a:gridCol w="3190889">
                      <a:extLst>
                        <a:ext uri="{9D8B030D-6E8A-4147-A177-3AD203B41FA5}">
                          <a16:colId xmlns:a16="http://schemas.microsoft.com/office/drawing/2014/main" val="3852176464"/>
                        </a:ext>
                      </a:extLst>
                    </a:gridCol>
                  </a:tblGrid>
                  <a:tr h="58081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32749752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67133" r="-186219" b="-3321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4389" t="-67133" r="-573" b="-3321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119015"/>
                      </a:ext>
                    </a:extLst>
                  </a:tr>
                  <a:tr h="81249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07" t="-178358" r="-186219" b="-254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54389" t="-178358" r="-573" b="-2544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0446425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260839" r="-186219" b="-13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communication noise power density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6912765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07" t="-531959" r="-186219" b="-1041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BS transmit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4099649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625510" r="-186219" b="-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user receive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252155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279796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BA569C2-A983-8A96-11CC-5DB4EC882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B16FD64-6193-B695-B33F-BC73F1BC80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lvl="2"/>
                <a:r>
                  <a:rPr lang="en-US" dirty="0"/>
                  <a:t>Normalized Communication Channel Gain</a:t>
                </a:r>
              </a:p>
              <a:p>
                <a:pPr lvl="2"/>
                <a:r>
                  <a:rPr lang="en-US" dirty="0"/>
                  <a:t>The normalized communication channel gain is defined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(8)</a:t>
                </a:r>
              </a:p>
              <a:p>
                <a:pPr lvl="2"/>
                <a:r>
                  <a:rPr lang="en-US" dirty="0"/>
                  <a:t>This term includes:</a:t>
                </a:r>
              </a:p>
              <a:p>
                <a:pPr lvl="3"/>
                <a:r>
                  <a:rPr lang="en-US" dirty="0"/>
                  <a:t>array gain: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</m:acc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channel coefficient: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receive beam alignment: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transmit beam alignment: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noise normalization: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B16FD64-6193-B695-B33F-BC73F1BC80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8DE08-F844-BF00-D58A-A400F368A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8593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BC2D4-AE6C-EE1E-2876-A86090DC2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1C0F60-DC93-D015-7FCC-A0D7684FA8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lvl="2"/>
                <a:r>
                  <a:rPr lang="en-US" dirty="0"/>
                  <a:t>Achievable Sum-Rate of Communication Users</a:t>
                </a:r>
              </a:p>
              <a:p>
                <a:pPr lvl="2"/>
                <a:r>
                  <a:rPr lang="en-US" dirty="0"/>
                  <a:t>Using the Shannon rate formula,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achievable rate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user becomes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 the achievable sum-rate of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 communication users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sub>
                        </m:s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                                       (9)</a:t>
                </a:r>
              </a:p>
              <a:p>
                <a:pPr lvl="2"/>
                <a:r>
                  <a:rPr lang="en-US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increases SNR and rate, </a:t>
                </a:r>
                <a:r>
                  <a:rPr lang="en-US" dirty="0">
                    <a:solidFill>
                      <a:srgbClr val="0070C0"/>
                    </a:solidFill>
                  </a:rPr>
                  <a:t>while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increases rate but also increases total noise power.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</a:t>
                </a:r>
                <a:r>
                  <a:rPr lang="en-US" dirty="0">
                    <a:solidFill>
                      <a:srgbClr val="0070C0"/>
                    </a:solidFill>
                  </a:rPr>
                  <a:t>power and bandwidth allocation vectors </a:t>
                </a:r>
                <a:r>
                  <a:rPr lang="en-US" dirty="0">
                    <a:solidFill>
                      <a:schemeClr val="tx1"/>
                    </a:solidFill>
                  </a:rPr>
                  <a:t>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users</a:t>
                </a:r>
                <a:endParaRPr lang="en-US" dirty="0">
                  <a:solidFill>
                    <a:srgbClr val="0070C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1C0F60-DC93-D015-7FCC-A0D7684FA8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573C6-2FA1-FA7A-2CE1-8D3529201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3615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6A27F-7BF9-DAC8-260B-80B828E37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697B6A-4514-7940-725A-58184635C0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D. Unified Resource Allocation Framework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Unified Resource Allocation for ISAC</a:t>
                </a:r>
              </a:p>
              <a:p>
                <a:pPr lvl="2"/>
                <a:r>
                  <a:rPr lang="en-US" dirty="0"/>
                  <a:t>The BS allocates the total system resources among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total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system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total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frequency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resources are divided into two parts:</a:t>
                </a:r>
              </a:p>
              <a:p>
                <a:pPr lvl="3"/>
                <a:r>
                  <a:rPr lang="en-US" dirty="0"/>
                  <a:t>one part for </a:t>
                </a:r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3"/>
                <a:r>
                  <a:rPr lang="en-US" dirty="0"/>
                  <a:t>one part for </a:t>
                </a:r>
                <a:r>
                  <a:rPr lang="en-US" dirty="0">
                    <a:solidFill>
                      <a:srgbClr val="7030A0"/>
                    </a:solidFill>
                  </a:rPr>
                  <a:t>communication transmission </a:t>
                </a:r>
              </a:p>
              <a:p>
                <a:pPr lvl="2"/>
                <a:r>
                  <a:rPr lang="en-US" dirty="0"/>
                  <a:t>The main objective is to optimize sensing QoS under communication and resource constraints.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Sensing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QoS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Subject to 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(10)</a:t>
                </a:r>
              </a:p>
              <a:p>
                <a:pPr lvl="2"/>
                <a:r>
                  <a:rPr lang="en-US" dirty="0"/>
                  <a:t>where sensing QoS may include: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detection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697B6A-4514-7940-725A-58184635C0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59E54-AA24-1C65-CD88-8AC56EFFC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93967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F3E24-288F-60FE-E7B6-9B21C3625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AB3E73-75E7-E8B6-BE10-DBB182F567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Prior Angle Information and Beamforming Gain</a:t>
                </a:r>
              </a:p>
              <a:p>
                <a:pPr lvl="1"/>
                <a:r>
                  <a:rPr lang="en-US" dirty="0"/>
                  <a:t>The BS assumes prior information about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target:</a:t>
                </a:r>
              </a:p>
              <a:p>
                <a:pPr lvl="2"/>
                <a:r>
                  <a:rPr lang="en-US" dirty="0"/>
                  <a:t>Prior angle: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Reflection coefficient standard deviation: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the prior angle, the BS implements the transmit and receive beamformers in Eq. (6).</a:t>
                </a:r>
              </a:p>
              <a:p>
                <a:pPr lvl="1"/>
                <a:r>
                  <a:rPr lang="en-US" dirty="0"/>
                  <a:t>The beamforming gain factors are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r>
                  <a:rPr lang="en-US" b="0" dirty="0"/>
                  <a:t>                                           (11)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transmit beam alignment gain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receive beam alignment gain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beam alignment is strong. </a:t>
                </a:r>
              </a:p>
              <a:p>
                <a:pPr lvl="1"/>
                <a:r>
                  <a:rPr lang="en-US" dirty="0"/>
                  <a:t>If angle estimation error is large, beamforming gain decreases.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AB3E73-75E7-E8B6-BE10-DBB182F567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45811-3B1E-B803-CBD0-ABBBA742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3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6F7F0-F3DA-FA76-1BFE-5E8C9B2E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392916-856E-8087-E173-F32C3EFFE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Spatial-Temporal Matched Filter Output</a:t>
                </a:r>
              </a:p>
              <a:p>
                <a:pPr lvl="1"/>
                <a:r>
                  <a:rPr lang="en-US" dirty="0"/>
                  <a:t>After receive beamforming and matched filtering at the delay-Doppler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output (2) becomes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(12)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matched-filtered noise follows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392916-856E-8087-E173-F32C3EFFE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F6556-E989-2815-A1D9-9CA5D084A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8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BA2D0-28D1-76C2-9109-889D47CD5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8F8226-303A-5002-34BC-EC72132B42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Intuition of Matched Filtering</a:t>
                </a:r>
              </a:p>
              <a:p>
                <a:pPr lvl="1"/>
                <a:r>
                  <a:rPr lang="en-US" dirty="0"/>
                  <a:t>The matched filter checks whether the received echo contains the expected delayed-Doppler shifted waveform.</a:t>
                </a:r>
              </a:p>
              <a:p>
                <a:pPr lvl="1"/>
                <a:r>
                  <a:rPr lang="en-US" dirty="0"/>
                  <a:t>Expected echo form: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Matched filter uses its conjugate: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.   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the waveform is normalized,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only the target echo gain remains: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Matched filtering converts the received echo into a scalar detection statistic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8F8226-303A-5002-34BC-EC72132B4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DFB91-2356-FAE7-9D42-5E12F327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6561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3D22-FDD3-2CA2-8FF3-681F47460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F05E-37DE-83FF-B93D-5366EDEDB9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Target Detection Hypothesis Test</a:t>
                </a:r>
              </a:p>
              <a:p>
                <a:pPr lvl="1"/>
                <a:r>
                  <a:rPr lang="en-US" dirty="0"/>
                  <a:t>The detection task is to decide whether a target exists in the delay-Doppler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No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target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the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delay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Doppler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bin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Target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exists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the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delay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Doppler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bin</m:t>
                              </m:r>
                              <m:r>
                                <m:rPr>
                                  <m:nor/>
                                </m:rPr>
                                <a:rPr lang="en-US" b="0" smtClean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) 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(13)</a:t>
                </a:r>
              </a:p>
              <a:p>
                <a:pPr lvl="1"/>
                <a:r>
                  <a:rPr lang="en-US" dirty="0"/>
                  <a:t>Using the matched filter output, the detection model becomes</a:t>
                </a:r>
              </a:p>
              <a:p>
                <a:pPr lvl="1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sub>
                                        </m:sSub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𝜅</m:t>
                                        </m:r>
                                      </m:e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𝜖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                                 (14)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F05E-37DE-83FF-B93D-5366EDEDB9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FC9CB-6EBA-FA27-BC30-22B1CF0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21052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870F6-2A8A-0217-0272-01E82603E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06EA7-543E-F94E-2D9B-AB34FCF91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rgbClr val="0000FF"/>
                    </a:solidFill>
                  </a:rPr>
                  <a:t>Energy Detector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Detection Statistic</a:t>
                </a:r>
              </a:p>
              <a:p>
                <a:pPr lvl="2"/>
                <a:r>
                  <a:rPr lang="en-US" dirty="0"/>
                  <a:t>The optimal detector uses the energy of the matched filter output: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The decision rule is</a:t>
                </a:r>
              </a:p>
              <a:p>
                <a:pPr lvl="3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=|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≤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target exists. 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: no target. 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signal plus noise is present, so the energy is generally larger than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06EA7-543E-F94E-2D9B-AB34FCF91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7BC70-99E3-B2F9-8921-0325A462E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5149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FF8C-E641-D55B-F9E0-577CCE015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D21157-8F5C-87EE-D94A-40F4D9492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Test Statistic Under No Target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D21157-8F5C-87EE-D94A-40F4D9492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7ED25-1707-2773-8CB4-D48E6291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576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55600-0638-C3A6-A13B-26E460151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EFE69-FB53-0C44-6C0C-8616A1E4B7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Chi-Square Distribution Appears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Energy of a Complex Gaussian Variable</a:t>
                </a:r>
              </a:p>
              <a:p>
                <a:pPr lvl="2"/>
                <a:r>
                  <a:rPr lang="en-US" dirty="0"/>
                  <a:t>Normalize the real and imaginary parts: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>
                            <a:latin typeface="Cambria Math" panose="02040503050406030204" pitchFamily="18" charset="0"/>
                          </a:rPr>
                          <m:t>/2</m:t>
                        </m:r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sum of squares of two standard Gaussian variables follows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EFE69-FB53-0C44-6C0C-8616A1E4B7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9242D-4691-582C-9243-CFB3370B1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83329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CB6B8-7538-5374-9638-3AD7ADE6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9020A-5DD0-3B57-5C6C-0FF71771BD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Test Statistic Under Target Exists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signal and noise are independent,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9020A-5DD0-3B57-5C6C-0FF71771BD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9A656-A34B-1E6B-18C0-1B413332D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819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41CD0-8D8E-B185-41C5-8A7A25A8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A6D14-09B7-2F88-0CAA-1DFE209406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of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For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have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1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∼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Sup>
                                          <m:sSub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  <m:sup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𝜒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𝑟</m:t>
                                                </m:r>
                                              </m:sub>
                                            </m:sSub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𝑟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</m:num>
                                          <m:den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</m:sSub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acc>
                                                  <m:accPr>
                                                    <m:chr m:val="̂"/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𝜎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sSub>
                                                  <m:sSub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𝛼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𝑞</m:t>
                                                    </m:r>
                                                  </m:sub>
                                                </m:sSub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𝜅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4</m:t>
                                                </m:r>
                                              </m:sup>
                                            </m:sSup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𝜖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acc>
                                                  <m:accPr>
                                                    <m:chr m:val="̃"/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𝜖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</m:num>
                                          <m:den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𝜒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(16)</a:t>
                </a:r>
              </a:p>
              <a:p>
                <a:pPr lvl="1"/>
                <a:r>
                  <a:rPr lang="en-US" dirty="0"/>
                  <a:t>Target presence increases the variance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so the energy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becomes statistically larger.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A6D14-09B7-2F88-0CAA-1DFE209406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83578-6568-43A6-E4AA-97E6E375C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8796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FC5C-68FF-33E8-600D-EC9AD514A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30E96-7845-78D2-8A4D-F7CF458552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False Alarm Probability and Threshold</a:t>
                </a:r>
              </a:p>
              <a:p>
                <a:pPr lvl="1"/>
                <a:r>
                  <a:rPr lang="en-US" dirty="0"/>
                  <a:t>Threshold from False Alarm Rate</a:t>
                </a:r>
              </a:p>
              <a:p>
                <a:pPr lvl="2"/>
                <a:r>
                  <a:rPr lang="en-US" dirty="0"/>
                  <a:t>False alarm probability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Eq. (16)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the CDF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FA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             (17)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30E96-7845-78D2-8A4D-F7CF458552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630E1A-F04C-0145-C211-F5C43FA81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80993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4C86A-6145-1925-CB57-C6037AE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65DFE2-C22B-F16E-6020-A66C982E8D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Probability of Detection</a:t>
                </a:r>
              </a:p>
              <a:p>
                <a:pPr lvl="1"/>
                <a:r>
                  <a:rPr lang="en-US" dirty="0"/>
                  <a:t>Detection probability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From Eq. (16),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the CDF,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d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(18)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65DFE2-C22B-F16E-6020-A66C982E8D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4CD30-ACDF-E68D-B34F-55C4EDF32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1265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89713-936F-F7A8-D961-34767604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7F282-32B3-C1E5-9AC7-998ED96DDB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Normalized Sensing Channel Gain</a:t>
                </a:r>
              </a:p>
              <a:p>
                <a:pPr lvl="1"/>
                <a:r>
                  <a:rPr lang="en-US" dirty="0"/>
                  <a:t>The normalized sensing channel gain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(19)</a:t>
                </a:r>
              </a:p>
              <a:p>
                <a:pPr lvl="1"/>
                <a:r>
                  <a:rPr lang="en-US" dirty="0"/>
                  <a:t>It comes from rewriting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variance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1"/>
                          <m:t>reflection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strength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i="1"/>
                          <m:t>array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gain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i="1"/>
                          <m:t>beamforming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gain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1"/>
                          <m:t>noise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power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 means stronger sensing channel and higher detection probability.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7F282-32B3-C1E5-9AC7-998ED96DDB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C9EF8-E672-8222-32E3-9BC4810D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142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F99F3-3A6A-E3AA-6827-DB908DB91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FA2CD-EFF6-8FA3-86F1-C7AFE05284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Detection QoS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Detection Probability to Power Allocation</a:t>
                </a:r>
              </a:p>
              <a:p>
                <a:pPr lvl="2"/>
                <a:r>
                  <a:rPr lang="en-US" dirty="0"/>
                  <a:t>The goal is to maximize detection QoS while satisfying communication QoS.</a:t>
                </a:r>
              </a:p>
              <a:p>
                <a:pPr lvl="2"/>
                <a:r>
                  <a:rPr lang="en-US" dirty="0"/>
                  <a:t>From Eq. (18), the detection probability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d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                        </a:t>
                </a:r>
              </a:p>
              <a:p>
                <a:pPr lvl="2"/>
                <a:r>
                  <a:rPr lang="en-US" dirty="0"/>
                  <a:t>Define the sensing SNR-like term: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monotonically increases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maximizing detection QoS can be relaxed as maximizing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more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sensing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power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higher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FA2CD-EFF6-8FA3-86F1-C7AFE05284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B36F9-D30F-79BE-38EB-4132F278C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2767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7641A-435D-C033-BC92-3FBBEF2B1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61B9D-A98F-12F8-D6E8-68117D3464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Fairness Criterion: Max-Min Detection QoS</a:t>
                </a:r>
              </a:p>
              <a:p>
                <a:pPr lvl="1"/>
                <a:r>
                  <a:rPr lang="en-US" dirty="0"/>
                  <a:t>To </a:t>
                </a:r>
                <a:r>
                  <a:rPr lang="en-US" dirty="0">
                    <a:solidFill>
                      <a:srgbClr val="7030A0"/>
                    </a:solidFill>
                  </a:rPr>
                  <a:t>guarantee fairness </a:t>
                </a:r>
                <a:r>
                  <a:rPr lang="en-US" dirty="0"/>
                  <a:t>among sensing targets, the </a:t>
                </a:r>
                <a:r>
                  <a:rPr lang="en-US" dirty="0">
                    <a:solidFill>
                      <a:srgbClr val="7030A0"/>
                    </a:solidFill>
                  </a:rPr>
                  <a:t>BS maximizes the minimum sensing QoS</a:t>
                </a:r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,….,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(20)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dirty="0"/>
                  <a:t>: total power budget.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: communication QoS requirement.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dirty="0"/>
                  <a:t>: avoid extremely small or large power allocation.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61B9D-A98F-12F8-D6E8-68117D3464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6A9DA-6A5C-731E-2476-57F01D52D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5260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35BD-B7AD-43CF-58E0-76F5033D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0FE1C-89C8-CB96-C71F-F9F6B670D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Comprehensiveness Criterion: Sum Detection QoS</a:t>
                </a:r>
              </a:p>
              <a:p>
                <a:pPr lvl="1"/>
                <a:r>
                  <a:rPr lang="en-US" dirty="0"/>
                  <a:t>To maximize overall sensing performance, the BS maximizes the sum sensing QoS: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               (21)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proportional constraint controls the importance level of different sensing targets.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0FE1C-89C8-CB96-C71F-F9F6B670D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49E96-3B6F-9D00-B5CF-77A6AB276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1230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9946B-6405-BD2D-8AF9-2D2DBE4A6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BA9295-023B-6ECF-0F6B-C4341F1B08D0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Fairness vs Comprehensiveness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Important observations: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Both problems are convex with respect to </a:t>
                </a:r>
                <a14:m>
                  <m:oMath xmlns:m="http://schemas.openxmlformats.org/officeDocument/2006/math">
                    <m:r>
                      <a:rPr lang="en-US" sz="1700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They can be solved using CVX.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If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equal, problem (21) may become equivalent to max-min fairness.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However, due to ISAC users and the communication QoS constraint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 sz="1700" b="0" i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700" b="0" i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, the equivalence may not always hold.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7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, problem (21) may become infeasible if proportional fairness conflicts with communication QoS.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BA9295-023B-6ECF-0F6B-C4341F1B0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597" t="-1078" r="-1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3DA6-766E-EE6B-AA7F-547F4EA6F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1BB10DB-E645-7434-0104-90F0A041A554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198810149"/>
                  </p:ext>
                </p:extLst>
              </p:nvPr>
            </p:nvGraphicFramePr>
            <p:xfrm>
              <a:off x="6172200" y="2843976"/>
              <a:ext cx="5181601" cy="2138704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896731">
                      <a:extLst>
                        <a:ext uri="{9D8B030D-6E8A-4147-A177-3AD203B41FA5}">
                          <a16:colId xmlns:a16="http://schemas.microsoft.com/office/drawing/2014/main" val="1283837438"/>
                        </a:ext>
                      </a:extLst>
                    </a:gridCol>
                    <a:gridCol w="1834475">
                      <a:extLst>
                        <a:ext uri="{9D8B030D-6E8A-4147-A177-3AD203B41FA5}">
                          <a16:colId xmlns:a16="http://schemas.microsoft.com/office/drawing/2014/main" val="3725256721"/>
                        </a:ext>
                      </a:extLst>
                    </a:gridCol>
                    <a:gridCol w="1450395">
                      <a:extLst>
                        <a:ext uri="{9D8B030D-6E8A-4147-A177-3AD203B41FA5}">
                          <a16:colId xmlns:a16="http://schemas.microsoft.com/office/drawing/2014/main" val="2035864076"/>
                        </a:ext>
                      </a:extLst>
                    </a:gridCol>
                  </a:tblGrid>
                  <a:tr h="44947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Criterion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Objective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Purpose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9218066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Fairness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30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fNam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e>
                                </m:func>
                                <m:r>
                                  <a:rPr lang="en-US" sz="1300" i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begChr m:val="{"/>
                                    <m:endChr m:val="}"/>
                                    <m:sepChr m:val=","/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300" i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𝑀</m:t>
                                            </m:r>
                                          </m:e>
                                          <m:sub>
                                            <m: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𝑠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3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</a:endParaRP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Protect the weakest sensing target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4908989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Comprehensiveness</a:t>
                          </a:r>
                        </a:p>
                      </a:txBody>
                      <a:tcPr marL="185222" marR="111133" marT="111133" marB="111133" anchor="ctr">
                        <a:lnL w="12700" cmpd="sng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30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sz="1300" i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func>
                                  <m:func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func>
                                <m:sSub>
                                  <m:sSub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3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</a:endParaRP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Maximize total sensing performance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28956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1BB10DB-E645-7434-0104-90F0A041A554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198810149"/>
                  </p:ext>
                </p:extLst>
              </p:nvPr>
            </p:nvGraphicFramePr>
            <p:xfrm>
              <a:off x="6172200" y="2843976"/>
              <a:ext cx="5181601" cy="2138704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896731">
                      <a:extLst>
                        <a:ext uri="{9D8B030D-6E8A-4147-A177-3AD203B41FA5}">
                          <a16:colId xmlns:a16="http://schemas.microsoft.com/office/drawing/2014/main" val="1283837438"/>
                        </a:ext>
                      </a:extLst>
                    </a:gridCol>
                    <a:gridCol w="1834475">
                      <a:extLst>
                        <a:ext uri="{9D8B030D-6E8A-4147-A177-3AD203B41FA5}">
                          <a16:colId xmlns:a16="http://schemas.microsoft.com/office/drawing/2014/main" val="3725256721"/>
                        </a:ext>
                      </a:extLst>
                    </a:gridCol>
                    <a:gridCol w="1450395">
                      <a:extLst>
                        <a:ext uri="{9D8B030D-6E8A-4147-A177-3AD203B41FA5}">
                          <a16:colId xmlns:a16="http://schemas.microsoft.com/office/drawing/2014/main" val="2035864076"/>
                        </a:ext>
                      </a:extLst>
                    </a:gridCol>
                  </a:tblGrid>
                  <a:tr h="44947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Criterion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Objective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Purpose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9218066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Fairness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103654" t="-53237" r="-80066" b="-102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Protect the weakest sensing target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4908989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Comprehensiveness</a:t>
                          </a:r>
                        </a:p>
                      </a:txBody>
                      <a:tcPr marL="185222" marR="111133" marT="111133" marB="111133" anchor="ctr">
                        <a:lnL w="12700" cmpd="sng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03654" t="-153237" r="-80066" b="-2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Maximize total sensing performance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28956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23150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8F2A9903-1F25-2B1A-131D-AAC906D8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b="0" dirty="0"/>
              <a:t>Target Localization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498B51-B658-8D24-7A1A-DBD64872CAA1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QoS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and CRB-Based QoS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estimates the target position in space using radar parameters: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𝝓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localization error can be measured by MSE:</a:t>
                </a:r>
              </a:p>
              <a:p>
                <a:pPr marL="1257300" lvl="2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𝝓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000" b="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However, closed-form MSE is difficult to characterize.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Therefore, the paper adopts </a:t>
                </a:r>
                <a:r>
                  <a:rPr lang="en-US" sz="2000" dirty="0">
                    <a:solidFill>
                      <a:srgbClr val="7030A0"/>
                    </a:solidFill>
                  </a:rPr>
                  <a:t>CRB</a:t>
                </a:r>
                <a:r>
                  <a:rPr lang="en-US" sz="2000" dirty="0"/>
                  <a:t> as a theoretical lower bound for localization error.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498B51-B658-8D24-7A1A-DBD64872C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2022" b="-1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EB9E96-51BF-899C-8299-A502F499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C207EE3-46C7-4C82-B894-9379EB275165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94200031"/>
                  </p:ext>
                </p:extLst>
              </p:nvPr>
            </p:nvGraphicFramePr>
            <p:xfrm>
              <a:off x="6639886" y="1791050"/>
              <a:ext cx="4886587" cy="398316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522107">
                      <a:extLst>
                        <a:ext uri="{9D8B030D-6E8A-4147-A177-3AD203B41FA5}">
                          <a16:colId xmlns:a16="http://schemas.microsoft.com/office/drawing/2014/main" val="1945976133"/>
                        </a:ext>
                      </a:extLst>
                    </a:gridCol>
                    <a:gridCol w="1690090">
                      <a:extLst>
                        <a:ext uri="{9D8B030D-6E8A-4147-A177-3AD203B41FA5}">
                          <a16:colId xmlns:a16="http://schemas.microsoft.com/office/drawing/2014/main" val="3192742406"/>
                        </a:ext>
                      </a:extLst>
                    </a:gridCol>
                    <a:gridCol w="1674390">
                      <a:extLst>
                        <a:ext uri="{9D8B030D-6E8A-4147-A177-3AD203B41FA5}">
                          <a16:colId xmlns:a16="http://schemas.microsoft.com/office/drawing/2014/main" val="2638111404"/>
                        </a:ext>
                      </a:extLst>
                    </a:gridCol>
                  </a:tblGrid>
                  <a:tr h="13478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 dirty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Radar information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9857081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range/  distance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time delay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81268369"/>
                      </a:ext>
                    </a:extLst>
                  </a:tr>
                  <a:tr h="9868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Doppler frequency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8795794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azimuth angle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/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endParaRPr lang="en-US" sz="18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8024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C207EE3-46C7-4C82-B894-9379EB275165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94200031"/>
                  </p:ext>
                </p:extLst>
              </p:nvPr>
            </p:nvGraphicFramePr>
            <p:xfrm>
              <a:off x="6639886" y="1791050"/>
              <a:ext cx="4886587" cy="398316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522107">
                      <a:extLst>
                        <a:ext uri="{9D8B030D-6E8A-4147-A177-3AD203B41FA5}">
                          <a16:colId xmlns:a16="http://schemas.microsoft.com/office/drawing/2014/main" val="1945976133"/>
                        </a:ext>
                      </a:extLst>
                    </a:gridCol>
                    <a:gridCol w="1690090">
                      <a:extLst>
                        <a:ext uri="{9D8B030D-6E8A-4147-A177-3AD203B41FA5}">
                          <a16:colId xmlns:a16="http://schemas.microsoft.com/office/drawing/2014/main" val="3192742406"/>
                        </a:ext>
                      </a:extLst>
                    </a:gridCol>
                    <a:gridCol w="1674390">
                      <a:extLst>
                        <a:ext uri="{9D8B030D-6E8A-4147-A177-3AD203B41FA5}">
                          <a16:colId xmlns:a16="http://schemas.microsoft.com/office/drawing/2014/main" val="2638111404"/>
                        </a:ext>
                      </a:extLst>
                    </a:gridCol>
                  </a:tblGrid>
                  <a:tr h="13478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 dirty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Radar information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9857081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64444" r="-221200" b="-2207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range/  distance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time delay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81268369"/>
                      </a:ext>
                    </a:extLst>
                  </a:tr>
                  <a:tr h="9868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20370" r="-221200" b="-83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Doppler frequency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8795794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381618" r="-2212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azimuth angle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/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endParaRPr lang="en-US" sz="18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802487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3562203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B7795C1-95D9-8309-71BC-89F272341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D82F371-DC34-A5E5-89D3-54E624ECF4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Generalized CRB for Localization</a:t>
                </a:r>
              </a:p>
              <a:p>
                <a:pPr lvl="1"/>
                <a:r>
                  <a:rPr lang="en-US" dirty="0"/>
                  <a:t>CRB Expressions for </a:t>
                </a:r>
                <a:r>
                  <a:rPr lang="en-US" dirty="0">
                    <a:solidFill>
                      <a:srgbClr val="7030A0"/>
                    </a:solidFill>
                  </a:rPr>
                  <a:t>Range, Velocity, and Angle</a:t>
                </a:r>
              </a:p>
              <a:p>
                <a:pPr lvl="1"/>
                <a:r>
                  <a:rPr lang="en-US" dirty="0"/>
                  <a:t>The generalized CRB expressions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sensing target are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rms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NN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(22)</a:t>
                </a:r>
              </a:p>
              <a:p>
                <a:pPr lvl="1"/>
                <a:r>
                  <a:rPr lang="en-US" dirty="0"/>
                  <a:t>Higher sensing 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 reduces CRB. </a:t>
                </a:r>
              </a:p>
              <a:p>
                <a:pPr lvl="1"/>
                <a:r>
                  <a:rPr lang="en-US" dirty="0"/>
                  <a:t>Stronger sensing channel gain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reduces CRB. </a:t>
                </a:r>
              </a:p>
              <a:p>
                <a:pPr lvl="1"/>
                <a:r>
                  <a:rPr lang="en-US" dirty="0"/>
                  <a:t>Larger effective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</m:sSub>
                  </m:oMath>
                </a14:m>
                <a:r>
                  <a:rPr lang="en-US" dirty="0"/>
                  <a:t> improves range accuracy. </a:t>
                </a:r>
              </a:p>
              <a:p>
                <a:pPr lvl="1"/>
                <a:r>
                  <a:rPr lang="en-US" dirty="0"/>
                  <a:t>Longer observation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dirty="0"/>
                  <a:t> improves velocity accuracy. </a:t>
                </a:r>
              </a:p>
              <a:p>
                <a:pPr lvl="1"/>
                <a:r>
                  <a:rPr lang="en-US" dirty="0"/>
                  <a:t>Narrower beamwidth improves angle accuracy.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D82F371-DC34-A5E5-89D3-54E624ECF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C52A04-692F-5487-942F-2CD61C483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1722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0D140D9-3964-E5B7-99F2-2FC5FA968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390B4E-8031-ACF1-621D-01EC8007961B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 for Range Estimation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is defined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grow m:val="on"/>
                            <m:supHide m:val="on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p>
                                <m: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𝑑𝑓</m:t>
                        </m:r>
                      </m:num>
                      <m:den>
                        <m:nary>
                          <m:naryPr>
                            <m:grow m:val="on"/>
                            <m:supHide m:val="on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/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𝑑𝑓</m:t>
                        </m:r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(23)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Communication rate mainly depends on normal bandwidth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/>
                  <a:t>, while sensing range accuracy depends on </a:t>
                </a:r>
                <a:r>
                  <a:rPr lang="en-US" sz="2000" dirty="0">
                    <a:solidFill>
                      <a:srgbClr val="7030A0"/>
                    </a:solidFill>
                  </a:rPr>
                  <a:t>effective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7030A0"/>
                    </a:solidFill>
                  </a:rPr>
                  <a:t>.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390B4E-8031-ACF1-621D-01EC80079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7644C-661F-C567-DC0D-357BC89D3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05A3C5-D27C-F2CF-F0E2-B4A56FAC18F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502791978"/>
                  </p:ext>
                </p:extLst>
              </p:nvPr>
            </p:nvGraphicFramePr>
            <p:xfrm>
              <a:off x="6295938" y="2151777"/>
              <a:ext cx="5020811" cy="29385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272459">
                      <a:extLst>
                        <a:ext uri="{9D8B030D-6E8A-4147-A177-3AD203B41FA5}">
                          <a16:colId xmlns:a16="http://schemas.microsoft.com/office/drawing/2014/main" val="3707632672"/>
                        </a:ext>
                      </a:extLst>
                    </a:gridCol>
                    <a:gridCol w="3748352">
                      <a:extLst>
                        <a:ext uri="{9D8B030D-6E8A-4147-A177-3AD203B41FA5}">
                          <a16:colId xmlns:a16="http://schemas.microsoft.com/office/drawing/2014/main" val="2540873568"/>
                        </a:ext>
                      </a:extLst>
                    </a:gridCol>
                  </a:tblGrid>
                  <a:tr h="5125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Symbol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Meaning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5871102"/>
                      </a:ext>
                    </a:extLst>
                  </a:tr>
                  <a:tr h="8619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Fourier transform of sensing waveform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1078386"/>
                      </a:ext>
                    </a:extLst>
                  </a:tr>
                  <a:tr h="72174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sz="2200" dirty="0"/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allocated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83880324"/>
                      </a:ext>
                    </a:extLst>
                  </a:tr>
                  <a:tr h="72174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200" i="0">
                                        <a:latin typeface="Cambria Math" panose="02040503050406030204" pitchFamily="18" charset="0"/>
                                      </a:rPr>
                                      <m:t>rms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effective RMS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98833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05A3C5-D27C-F2CF-F0E2-B4A56FAC18F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502791978"/>
                  </p:ext>
                </p:extLst>
              </p:nvPr>
            </p:nvGraphicFramePr>
            <p:xfrm>
              <a:off x="6295938" y="2151777"/>
              <a:ext cx="5020811" cy="29385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272459">
                      <a:extLst>
                        <a:ext uri="{9D8B030D-6E8A-4147-A177-3AD203B41FA5}">
                          <a16:colId xmlns:a16="http://schemas.microsoft.com/office/drawing/2014/main" val="3707632672"/>
                        </a:ext>
                      </a:extLst>
                    </a:gridCol>
                    <a:gridCol w="3748352">
                      <a:extLst>
                        <a:ext uri="{9D8B030D-6E8A-4147-A177-3AD203B41FA5}">
                          <a16:colId xmlns:a16="http://schemas.microsoft.com/office/drawing/2014/main" val="2540873568"/>
                        </a:ext>
                      </a:extLst>
                    </a:gridCol>
                  </a:tblGrid>
                  <a:tr h="5125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Symbol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Meaning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5871102"/>
                      </a:ext>
                    </a:extLst>
                  </a:tr>
                  <a:tr h="8619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9155" r="-294737" b="-1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Fourier transform of sensing waveform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1078386"/>
                      </a:ext>
                    </a:extLst>
                  </a:tr>
                  <a:tr h="7820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75194" r="-2947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allocated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83880324"/>
                      </a:ext>
                    </a:extLst>
                  </a:tr>
                  <a:tr h="7820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75194" r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effective RMS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98833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175271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2C4B8F0-4B53-26D0-A95B-14096C2DA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8761A23-39B0-2D3E-4D50-184DE1A1A0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Approximation of Effective Bandwidth</a:t>
                </a:r>
              </a:p>
              <a:p>
                <a:pPr lvl="1"/>
                <a:r>
                  <a:rPr lang="en-US" dirty="0"/>
                  <a:t>Relationship Between Normal and Effective Bandwidth</a:t>
                </a:r>
              </a:p>
              <a:p>
                <a:pPr lvl="1"/>
                <a:r>
                  <a:rPr lang="en-US" dirty="0"/>
                  <a:t>For the </a:t>
                </a:r>
                <a:r>
                  <a:rPr lang="en-US" dirty="0">
                    <a:solidFill>
                      <a:srgbClr val="7030A0"/>
                    </a:solidFill>
                  </a:rPr>
                  <a:t>general signal spectrum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With bandwidth limited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the </a:t>
                </a:r>
                <a:r>
                  <a:rPr lang="en-US" dirty="0">
                    <a:solidFill>
                      <a:srgbClr val="7030A0"/>
                    </a:solidFill>
                  </a:rPr>
                  <a:t>effective bandwidth can be approximated </a:t>
                </a:r>
                <a:r>
                  <a:rPr lang="en-US" dirty="0"/>
                  <a:t>as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pulse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                                                           (24)</a:t>
                </a:r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pulse</m:t>
                        </m:r>
                      </m:sub>
                    </m:sSub>
                  </m:oMath>
                </a14:m>
                <a:r>
                  <a:rPr lang="en-US" dirty="0"/>
                  <a:t> is the pulse width.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↓⇒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range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For linear frequency modulation, LFM, waveform: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Bandwidth and waveform shape directly affect localization QoS.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8761A23-39B0-2D3E-4D50-184DE1A1A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D99B9-A374-5D71-41BE-E0E905F9D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70814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58F9-F91B-0B93-5D0A-663334D9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54FF4-DDC2-1C95-B123-F347FCF1DA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Motivation for Bandwidth Allocation</a:t>
                </a:r>
              </a:p>
              <a:p>
                <a:pPr lvl="1"/>
                <a:r>
                  <a:rPr lang="en-US" dirty="0"/>
                  <a:t> </a:t>
                </a:r>
                <a:r>
                  <a:rPr lang="en-US" dirty="0">
                    <a:solidFill>
                      <a:srgbClr val="7030A0"/>
                    </a:solidFill>
                  </a:rPr>
                  <a:t>Why Bandwidth Allocation Is Non-Trivial in ISAC</a:t>
                </a:r>
              </a:p>
              <a:p>
                <a:pPr lvl="2"/>
                <a:r>
                  <a:rPr lang="en-US" dirty="0"/>
                  <a:t>Power allocation is relatively straightforward because power has similar effects on sensing and communication: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r>
                      <m:rPr>
                        <m:nor/>
                      </m:rPr>
                      <a:rPr lang="en-US" i="1"/>
                      <m:t>Sensing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QoS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↑, </m:t>
                    </m:r>
                    <m:r>
                      <m:rPr>
                        <m:nor/>
                      </m:rPr>
                      <a:rPr lang="en-US" i="1"/>
                      <m:t>Communication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QoS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However, bandwidth affects sensing and communication differently.</a:t>
                </a:r>
              </a:p>
              <a:p>
                <a:pPr lvl="2"/>
                <a:r>
                  <a:rPr lang="en-US" dirty="0"/>
                  <a:t>In communication, users can be assigned </a:t>
                </a:r>
                <a:r>
                  <a:rPr lang="en-US" dirty="0">
                    <a:solidFill>
                      <a:srgbClr val="7030A0"/>
                    </a:solidFill>
                  </a:rPr>
                  <a:t>orthogonal frequency bands </a:t>
                </a:r>
                <a:r>
                  <a:rPr lang="en-US" dirty="0"/>
                  <a:t>to avoid inter-user interference. </a:t>
                </a:r>
              </a:p>
              <a:p>
                <a:pPr lvl="2"/>
                <a:r>
                  <a:rPr lang="en-US" dirty="0"/>
                  <a:t>In sensing, targets </a:t>
                </a:r>
                <a:r>
                  <a:rPr lang="en-US" dirty="0">
                    <a:solidFill>
                      <a:srgbClr val="7030A0"/>
                    </a:solidFill>
                  </a:rPr>
                  <a:t>reflect signals </a:t>
                </a:r>
                <a:r>
                  <a:rPr lang="en-US" dirty="0"/>
                  <a:t>over the </a:t>
                </a:r>
                <a:r>
                  <a:rPr lang="en-US" dirty="0">
                    <a:solidFill>
                      <a:srgbClr val="7030A0"/>
                    </a:solidFill>
                  </a:rPr>
                  <a:t>transmitted frequency bands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/>
                  <a:t>Therefore, </a:t>
                </a:r>
                <a:r>
                  <a:rPr lang="en-US" dirty="0">
                    <a:solidFill>
                      <a:srgbClr val="7030A0"/>
                    </a:solidFill>
                  </a:rPr>
                  <a:t>sensing targets in the same beam</a:t>
                </a:r>
                <a:r>
                  <a:rPr lang="en-US" dirty="0"/>
                  <a:t> may </a:t>
                </a:r>
                <a:r>
                  <a:rPr lang="en-US" dirty="0">
                    <a:solidFill>
                      <a:srgbClr val="7030A0"/>
                    </a:solidFill>
                  </a:rPr>
                  <a:t>have to share the same bandwidth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Non-overlapped bandwidth </a:t>
                </a:r>
                <a:r>
                  <a:rPr lang="en-US" dirty="0"/>
                  <a:t>is used between sensing and communication services to </a:t>
                </a:r>
                <a:r>
                  <a:rPr lang="en-US" dirty="0">
                    <a:solidFill>
                      <a:srgbClr val="002060"/>
                    </a:solidFill>
                  </a:rPr>
                  <a:t>avoid mutual interference.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54FF4-DDC2-1C95-B123-F347FCF1DA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627F6-855E-061D-95D4-291A965E1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0FD8B6-66AC-22C0-1776-97B8DF0DB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6962" y="4740018"/>
            <a:ext cx="3725770" cy="1677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6D73A4-3E7D-9D9F-8C9D-D2FD82FE7C38}"/>
              </a:ext>
            </a:extLst>
          </p:cNvPr>
          <p:cNvSpPr txBox="1"/>
          <p:nvPr/>
        </p:nvSpPr>
        <p:spPr>
          <a:xfrm>
            <a:off x="2827090" y="6346272"/>
            <a:ext cx="6644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04. Bandwidth allocation in different scenarios.</a:t>
            </a:r>
          </a:p>
        </p:txBody>
      </p:sp>
    </p:spTree>
    <p:extLst>
      <p:ext uri="{BB962C8B-B14F-4D97-AF65-F5344CB8AC3E}">
        <p14:creationId xmlns:p14="http://schemas.microsoft.com/office/powerpoint/2010/main" val="34555940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9DF58-DCD4-CD37-4C2F-64813C409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2FE75-3D09-EB4B-7F64-FFC058FD5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Interference in Bandwidth Allocation</a:t>
            </a:r>
          </a:p>
          <a:p>
            <a:pPr lvl="1"/>
            <a:r>
              <a:rPr lang="en-US" dirty="0"/>
              <a:t>There are two major interference cases in bandwidth allocation.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Interference between S&amp;C services in a single beam</a:t>
            </a:r>
          </a:p>
          <a:p>
            <a:pPr lvl="3"/>
            <a:r>
              <a:rPr lang="en-US" dirty="0"/>
              <a:t>Communication users can operate on heterogeneous frequency bands. </a:t>
            </a:r>
          </a:p>
          <a:p>
            <a:pPr lvl="3"/>
            <a:r>
              <a:rPr lang="en-US" dirty="0"/>
              <a:t>Orthogonal bandwidth avoids inter-user interference. </a:t>
            </a:r>
          </a:p>
          <a:p>
            <a:pPr lvl="3"/>
            <a:r>
              <a:rPr lang="en-US" dirty="0"/>
              <a:t>Sensing targets reflect signals from all frequency bands. </a:t>
            </a:r>
          </a:p>
          <a:p>
            <a:pPr lvl="3"/>
            <a:r>
              <a:rPr lang="en-US" dirty="0"/>
              <a:t>Therefore, sensing and communication services should use non-overlapped bandwidth.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Inter-beam interference among multiple beams</a:t>
            </a:r>
          </a:p>
          <a:p>
            <a:pPr lvl="3"/>
            <a:r>
              <a:rPr lang="en-US" dirty="0"/>
              <a:t>Power leaks from one beam to another. </a:t>
            </a:r>
          </a:p>
          <a:p>
            <a:pPr lvl="3"/>
            <a:r>
              <a:rPr lang="en-US" dirty="0"/>
              <a:t>This leakage comes from: </a:t>
            </a:r>
          </a:p>
          <a:p>
            <a:pPr lvl="4"/>
            <a:r>
              <a:rPr lang="en-US" dirty="0"/>
              <a:t>overlapped main lobes </a:t>
            </a:r>
          </a:p>
          <a:p>
            <a:pPr lvl="4"/>
            <a:r>
              <a:rPr lang="en-US" dirty="0"/>
              <a:t>side lobes </a:t>
            </a:r>
          </a:p>
          <a:p>
            <a:pPr lvl="2"/>
            <a:r>
              <a:rPr lang="en-US" dirty="0">
                <a:solidFill>
                  <a:srgbClr val="0070C0"/>
                </a:solidFill>
              </a:rPr>
              <a:t>Small-scale MIMO has wider beams and stronger interference</a:t>
            </a:r>
            <a:r>
              <a:rPr lang="en-US" dirty="0"/>
              <a:t>.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Massive MIMO has narrower beams and weaker interference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7BAF-5D58-984F-D90E-6993682C8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4772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6E7C-807A-4A45-1782-1AAB169A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B1532-EC52-C66D-E07F-6E99238740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Received Signal with Inter-Beam Interference</a:t>
                </a:r>
              </a:p>
              <a:p>
                <a:pPr lvl="1"/>
                <a:r>
                  <a:rPr lang="en-US" dirty="0"/>
                  <a:t>Desired Signal and Interference Decomposition</a:t>
                </a:r>
              </a:p>
              <a:p>
                <a:pPr lvl="1"/>
                <a:r>
                  <a:rPr lang="en-US" dirty="0"/>
                  <a:t>With perfect beamforming, the received signal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target/user can be decomposed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i="1"/>
                          <m:t>Desired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signal</m:t>
                        </m:r>
                      </m:lim>
                    </m:limLow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𝜅</m:t>
                                      </m:r>
                                    </m:e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sub>
                                      </m:sSub>
                                    </m:e>
                                  </m:d>
                                  <m:nary>
                                    <m:naryPr>
                                      <m:chr m:val="∑"/>
                                      <m:grow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m>
                                            <m:mPr>
                                              <m:plcHide m:val="on"/>
                                              <m:mcs>
                                                <m:mc>
                                                  <m:mcPr>
                                                    <m:count m:val="1"/>
                                                    <m:mcJc m:val="center"/>
                                                  </m:mcPr>
                                                </m:mc>
                                              </m:mcs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mPr>
                                            <m:m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=1</m:t>
                                                </m:r>
                                              </m:e>
                                            </m:mr>
                                            <m:m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≠</m:t>
                                                </m:r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e>
                                            </m:mr>
                                          </m:m>
                                        </m:sub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>
                                                  <a:latin typeface="Cambria Math" panose="02040503050406030204" pitchFamily="18" charset="0"/>
                                                </a:rPr>
                                                <m:t>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groupCh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1"/>
                                <m:t>Interference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plus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noise</m:t>
                              </m:r>
                            </m:lim>
                          </m:limLow>
                        </m:e>
                        <m:e/>
                        <m:e>
                          <m:r>
                            <m:rPr>
                              <m:nor/>
                            </m:rPr>
                            <a:rPr lang="en-US"/>
                            <m:t>(25)</m:t>
                          </m:r>
                          <m:r>
                            <m:rPr>
                              <m:nor/>
                            </m:rPr>
                            <a:rPr lang="en-US" b="0" smtClean="0"/>
                            <m:t> </m:t>
                          </m:r>
                        </m:e>
                      </m:mr>
                    </m:m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desired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leakage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noise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B1532-EC52-C66D-E07F-6E99238740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60ADE-09A3-D7C3-F72A-59F1877C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8681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3407-3EDB-D8D1-7556-7B7B50A3B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70B03-E3D5-DA28-C67D-F244977CA1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Received Signal with Inter-Beam Interference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Eq. (25) to SINR</a:t>
                </a:r>
              </a:p>
              <a:p>
                <a:pPr lvl="2"/>
                <a:r>
                  <a:rPr lang="en-US" dirty="0"/>
                  <a:t>SINR Under Maximum Bandwidth Transmission</a:t>
                </a:r>
              </a:p>
              <a:p>
                <a:pPr lvl="2"/>
                <a:r>
                  <a:rPr lang="en-US" dirty="0"/>
                  <a:t>Under perfect beamforming,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 the desired signal gain becomes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Inter-beam leakage is approximated by the first-order beam overlap factors: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the total interference plus effective noise is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d>
                      <m:dPr>
                        <m:beg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eff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70B03-E3D5-DA28-C67D-F244977CA1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05F05-84E7-88C9-5A5F-E67B9A7A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5198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72090-193B-0B46-9EC7-ECFCF5BC4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516C39-D7C5-EBD3-6B0F-A296E7724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SBP with Maximum Bandwidth</a:t>
                </a:r>
              </a:p>
              <a:p>
                <a:pPr lvl="1"/>
                <a:r>
                  <a:rPr lang="en-US" dirty="0"/>
                  <a:t>The signal-to-interference-plus-noise ratio bandwidth product is defined as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SBP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SINR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Bandwidth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all targets/users use the maximum available bandwidth,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Thus,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Substituting the SINR expression: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r>
                  <a:rPr lang="en-US" b="0" dirty="0"/>
                  <a:t>                 (26)</a:t>
                </a:r>
              </a:p>
              <a:p>
                <a:pPr lvl="1"/>
                <a:r>
                  <a:rPr lang="en-US" dirty="0"/>
                  <a:t>Maximum bandwidth improves SBP, but inter-beam interference reduces SINR.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516C39-D7C5-EBD3-6B0F-A296E7724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E5671-56E2-0E59-F5FF-1B9AC493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7567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15F-7AC2-0BCF-BD34-9C9E83EB9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7EAFBC-EBC7-AC5E-315F-F61418959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SBP with Orthogonal Bandwidth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 Bandwidth Allocation</a:t>
                </a:r>
              </a:p>
              <a:p>
                <a:pPr lvl="2"/>
                <a:r>
                  <a:rPr lang="en-US" dirty="0"/>
                  <a:t>When </a:t>
                </a:r>
                <a:r>
                  <a:rPr lang="en-US" dirty="0">
                    <a:solidFill>
                      <a:srgbClr val="002060"/>
                    </a:solidFill>
                  </a:rPr>
                  <a:t>orthogonal bandwidth is allocated </a:t>
                </a:r>
                <a:r>
                  <a:rPr lang="en-US" dirty="0"/>
                  <a:t>to different targets/users, first-order interference can be removed by matched filtering.</a:t>
                </a:r>
              </a:p>
              <a:p>
                <a:pPr lvl="2"/>
                <a:r>
                  <a:rPr lang="en-US" dirty="0"/>
                  <a:t>Then the </a:t>
                </a:r>
                <a:r>
                  <a:rPr lang="en-US" dirty="0">
                    <a:solidFill>
                      <a:srgbClr val="002060"/>
                    </a:solidFill>
                  </a:rPr>
                  <a:t>harmful term </a:t>
                </a:r>
                <a:r>
                  <a:rPr lang="en-US" dirty="0"/>
                  <a:t>mainly becomes effective noise: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eff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bandwidth allocated to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target/user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orth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orth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(27)</a:t>
                </a:r>
              </a:p>
              <a:p>
                <a:pPr lvl="2"/>
                <a:r>
                  <a:rPr lang="en-US" dirty="0"/>
                  <a:t>Orthogonal bandwidth reduces interference, but each target/user gets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7EAFBC-EBC7-AC5E-315F-F6141895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4D99F-F05B-FD05-A279-1BE2C48E8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59036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02AD-B453-547E-015D-505B14C46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3AF34E-4778-242A-F724-2D41E2B00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Comparing Two Bandwidth Strategies</a:t>
                </a:r>
              </a:p>
              <a:p>
                <a:pPr lvl="1"/>
                <a:r>
                  <a:rPr lang="en-US" dirty="0"/>
                  <a:t>To compare the maximum bandwidth scheme and orthogonal bandwidth scheme, take the ratio: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Eq. (26) and Eq. (27),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nary>
                              <m:naryPr>
                                <m:chr m:val="∑"/>
                                <m:grow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</m:e>
                            </m:nary>
                            <m:d>
                              <m:dPr>
                                <m:beg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eff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eff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After simplification,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                                                            (28)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3AF34E-4778-242A-F724-2D41E2B00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6C496-E45F-6E82-3297-0F8E0E9EF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545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22D6D-2045-2751-86DE-88E9311B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2550EB-8DAE-3DC6-C29F-7E8FD30C9C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Bandwidth Gain vs Interference Loss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Eq. (28) contains two competing effects: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term represents </a:t>
                </a:r>
                <a:r>
                  <a:rPr lang="en-US" dirty="0">
                    <a:solidFill>
                      <a:srgbClr val="7030A0"/>
                    </a:solidFill>
                  </a:rPr>
                  <a:t>SINR loss due to inter-beam interference</a:t>
                </a:r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term represents </a:t>
                </a:r>
                <a:r>
                  <a:rPr lang="en-US" dirty="0">
                    <a:solidFill>
                      <a:srgbClr val="7030A0"/>
                    </a:solidFill>
                  </a:rPr>
                  <a:t>bandwidth gain </a:t>
                </a:r>
                <a:r>
                  <a:rPr lang="en-US" dirty="0"/>
                  <a:t>from using the maximum available bandwidth.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dirty="0"/>
                  <a:t>, maximum bandwidth allocation is better 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orthogonal bandwidth allocation is better 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both schemes have the same SBP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2550EB-8DAE-3DC6-C29F-7E8FD30C9C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D2E74-D7FA-8444-DE81-D02223FF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572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95DF1-4144-CCE0-EBCC-9806EFA42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6D04D-B4C8-FD20-0682-257C52718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Small-Scale MIMO vs Massive MIMO</a:t>
                </a:r>
              </a:p>
              <a:p>
                <a:pPr lvl="1"/>
                <a:r>
                  <a:rPr lang="en-US" dirty="0"/>
                  <a:t>In small-scale MIMO: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are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small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wide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are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strong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So orthogonal bandwidth allocation is useful.</a:t>
                </a:r>
              </a:p>
              <a:p>
                <a:pPr lvl="1"/>
                <a:r>
                  <a:rPr lang="en-US" dirty="0"/>
                  <a:t>In massive MIMO: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narrow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Eq. (28) becomes approximately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 maximum bandwidth allocation becomes superior in massive MIMO.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6D04D-B4C8-FD20-0682-257C52718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1AFB0-ADD5-6DD4-D359-F1908C243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3104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5BB6-0CE7-472C-1D16-7AC95C4F5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229BD5-52BE-410B-CDC5-D2D69DD91C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Bandwidth Allocation Strategy in This Paper</a:t>
                </a:r>
              </a:p>
              <a:p>
                <a:pPr lvl="1"/>
                <a:r>
                  <a:rPr lang="en-US" dirty="0"/>
                  <a:t>The paper concludes that bandwidth allocation depends on the trade-off between: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bandwidth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gain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For massive MIMO: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narrow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beams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maximum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beneficial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For small-scale MIMO: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wide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beams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strong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orthogonal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safer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Non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overlapped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bandwidth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allocated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</m:t>
                    </m:r>
                    <m:r>
                      <m:rPr>
                        <m:lit/>
                        <m:nor/>
                      </m:rPr>
                      <a:rPr lang="en-US" b="0"/>
                      <m:t>&amp;</m:t>
                    </m:r>
                    <m:r>
                      <m:rPr>
                        <m:nor/>
                      </m:rPr>
                      <a:rPr lang="en-US" b="0"/>
                      <m:t>C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users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 avoid interference and simplify resource allocation.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229BD5-52BE-410B-CDC5-D2D69DD91C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A1722-0416-90EE-ACA1-EB0A7EE7C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188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8897-A8EF-78AB-76AF-06E4C28D5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4DBFF2-36D6-793C-851A-33FB4F81E0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Localization Problem Objective</a:t>
                </a:r>
              </a:p>
              <a:p>
                <a:pPr lvl="1"/>
                <a:r>
                  <a:rPr lang="en-US" dirty="0"/>
                  <a:t>Localization focuses on estimating the target’s: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distance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r>
                      <m:rPr>
                        <m:nor/>
                      </m:rPr>
                      <a:rPr lang="en-US"/>
                      <m:t>range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AoA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r>
                      <m:rPr>
                        <m:nor/>
                      </m:rPr>
                      <a:rPr lang="en-US"/>
                      <m:t>azimuth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angle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goal is to minimize localization error while satisfying communication QoS.</a:t>
                </a:r>
              </a:p>
              <a:p>
                <a:pPr lvl="1"/>
                <a:r>
                  <a:rPr lang="en-US" dirty="0"/>
                  <a:t>Instead of directly minimizing MSE, the paper minimizes the CRBs of distance and </a:t>
                </a:r>
                <a:r>
                  <a:rPr lang="en-US" dirty="0" err="1"/>
                  <a:t>AoA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Lower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CRB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accuracy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4DBFF2-36D6-793C-851A-33FB4F81E0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79841-3384-5496-D492-6A0D292E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11576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E3A1525-AD92-F99F-7F37-083853481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CAA93B-0A1F-3E2B-55E7-968798B0E83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CRB Model for Localization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CRB Expressions for Distance and 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AoA</a:t>
                </a: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sensing target, the CRBs are modeled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2000" i="0">
                        <a:latin typeface="Cambria Math" panose="02040503050406030204" pitchFamily="18" charset="0"/>
                      </a:rPr>
                      <m:t>RB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sz="20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sz="2000" i="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(29)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More power reduces both range and angle CRB.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More bandwidth mainly improves range CRB.</a:t>
                </a: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CAA93B-0A1F-3E2B-55E7-968798B0E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2B2A3-2771-2F24-92DA-5C35319B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77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A04C6E-E254-0D44-5370-0F46F96F8026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48268587"/>
                  </p:ext>
                </p:extLst>
              </p:nvPr>
            </p:nvGraphicFramePr>
            <p:xfrm>
              <a:off x="6262382" y="1635853"/>
              <a:ext cx="5691930" cy="5017455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055402">
                      <a:extLst>
                        <a:ext uri="{9D8B030D-6E8A-4147-A177-3AD203B41FA5}">
                          <a16:colId xmlns:a16="http://schemas.microsoft.com/office/drawing/2014/main" val="659573394"/>
                        </a:ext>
                      </a:extLst>
                    </a:gridCol>
                    <a:gridCol w="3636528">
                      <a:extLst>
                        <a:ext uri="{9D8B030D-6E8A-4147-A177-3AD203B41FA5}">
                          <a16:colId xmlns:a16="http://schemas.microsoft.com/office/drawing/2014/main" val="1466900725"/>
                        </a:ext>
                      </a:extLst>
                    </a:gridCol>
                  </a:tblGrid>
                  <a:tr h="8194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Symbol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Meaning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00670602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power allocated to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6116631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bandwidth allocated to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9855021"/>
                      </a:ext>
                    </a:extLst>
                  </a:tr>
                  <a:tr h="1252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effective sensing channel/beamforming gain coefficient</a:t>
                          </a:r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5617076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i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000" i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i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system-dependent constants</a:t>
                          </a: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61137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A04C6E-E254-0D44-5370-0F46F96F8026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48268587"/>
                  </p:ext>
                </p:extLst>
              </p:nvPr>
            </p:nvGraphicFramePr>
            <p:xfrm>
              <a:off x="6262382" y="1635853"/>
              <a:ext cx="5691930" cy="5017455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055402">
                      <a:extLst>
                        <a:ext uri="{9D8B030D-6E8A-4147-A177-3AD203B41FA5}">
                          <a16:colId xmlns:a16="http://schemas.microsoft.com/office/drawing/2014/main" val="659573394"/>
                        </a:ext>
                      </a:extLst>
                    </a:gridCol>
                    <a:gridCol w="3636528">
                      <a:extLst>
                        <a:ext uri="{9D8B030D-6E8A-4147-A177-3AD203B41FA5}">
                          <a16:colId xmlns:a16="http://schemas.microsoft.com/office/drawing/2014/main" val="1466900725"/>
                        </a:ext>
                      </a:extLst>
                    </a:gridCol>
                  </a:tblGrid>
                  <a:tr h="8194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Symbol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Meaning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00670602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85093" r="-176923" b="-3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6616" t="-85093" r="-168" b="-3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6116631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85093" r="-176923" b="-2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6616" t="-185093" r="-168" b="-2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9855021"/>
                      </a:ext>
                    </a:extLst>
                  </a:tr>
                  <a:tr h="12532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222816" r="-176923" b="-786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effective sensing channel/beamforming gain coefficient</a:t>
                          </a:r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5617076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413043" r="-176923" b="-6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system-dependent constants</a:t>
                          </a: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61137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360441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CE25A8-712F-6B6C-D58B-057C8C9B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FD9126F-5436-3FB3-9973-53E03187E7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CRB Minimization to QoS Maximization</a:t>
                </a:r>
              </a:p>
              <a:p>
                <a:pPr lvl="1"/>
                <a:r>
                  <a:rPr lang="en-US" dirty="0"/>
                  <a:t>The paper transforms CRB minimization into reciprocal CRB maximization.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localization QoS of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r>
                  <a:rPr lang="en-US" b="0" dirty="0"/>
                  <a:t>      (30)</a:t>
                </a:r>
              </a:p>
              <a:p>
                <a:pPr lvl="1"/>
                <a:r>
                  <a:rPr lang="en-US" dirty="0"/>
                  <a:t>Substituting Eq. (29),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normalize the units of distance and angle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FD9126F-5436-3FB3-9973-53E03187E7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0AF98-0D1E-E6AC-279A-4C1657A4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03157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51B50-B973-E784-F63A-4F2B38901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D3C7A-6796-E826-77A5-FA79364472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Localization-Based Resource Allocation Problem</a:t>
                </a:r>
              </a:p>
              <a:p>
                <a:pPr lvl="1"/>
                <a:r>
                  <a:rPr lang="en-US" dirty="0"/>
                  <a:t>The comprehensiveness-based objective maximizes the total localization QoS: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(31a)</a:t>
                </a:r>
              </a:p>
              <a:p>
                <a:pPr lvl="1"/>
                <a:r>
                  <a:rPr lang="en-US" dirty="0"/>
                  <a:t>subject to communication QoS: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(31b)</a:t>
                </a:r>
              </a:p>
              <a:p>
                <a:pPr lvl="2"/>
                <a:r>
                  <a:rPr lang="en-US" dirty="0"/>
                  <a:t>total power budget: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(31c)</a:t>
                </a:r>
              </a:p>
              <a:p>
                <a:pPr lvl="2"/>
                <a:r>
                  <a:rPr lang="en-US" dirty="0"/>
                  <a:t>total bandwidth budget: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</a:t>
                </a:r>
                <a:r>
                  <a:rPr lang="en-US" dirty="0"/>
                  <a:t>(31d)</a:t>
                </a:r>
              </a:p>
              <a:p>
                <a:pPr lvl="2"/>
                <a:r>
                  <a:rPr lang="en-US" dirty="0"/>
                  <a:t>power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(31e)</a:t>
                </a:r>
              </a:p>
              <a:p>
                <a:pPr lvl="2"/>
                <a:r>
                  <a:rPr lang="en-US" dirty="0"/>
                  <a:t>bandwidth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(31f)</a:t>
                </a:r>
              </a:p>
              <a:p>
                <a:pPr lvl="2"/>
                <a:r>
                  <a:rPr lang="en-US" dirty="0"/>
                  <a:t>proportional QoS 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(31g)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D3C7A-6796-E826-77A5-FA79364472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05C37-6052-7F33-4267-B47AD6254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3115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48CE9-051F-95F7-6930-6FB0D8995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84A2E-D5B4-DBF9-E5D3-1014ED28A1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Coupling Between Power and Bandwidth</a:t>
                </a:r>
              </a:p>
              <a:p>
                <a:pPr lvl="1"/>
                <a:r>
                  <a:rPr lang="en-US" dirty="0"/>
                  <a:t>From Eq. (30),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contains the coupled term: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 power and bandwidth are coupled in the objective.</a:t>
                </a:r>
              </a:p>
              <a:p>
                <a:pPr lvl="2"/>
                <a:r>
                  <a:rPr lang="en-US" dirty="0"/>
                  <a:t>Communication rate also depends on both variables: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Thus, the joint problem is non-convex in (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84A2E-D5B4-DBF9-E5D3-1014ED28A1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E2A85-4154-C5EE-E73B-8B0F34784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3672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4399-3F19-0C8A-D88D-904C6007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B5D87-FB95-80B9-0146-EBDE27B573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Alternative Optimization Solution</a:t>
                </a:r>
              </a:p>
              <a:p>
                <a:pPr lvl="1"/>
                <a:r>
                  <a:rPr lang="en-US" dirty="0"/>
                  <a:t>To handle </a:t>
                </a:r>
                <a:r>
                  <a:rPr lang="en-US" dirty="0">
                    <a:solidFill>
                      <a:srgbClr val="7030A0"/>
                    </a:solidFill>
                  </a:rPr>
                  <a:t>non-convexity</a:t>
                </a:r>
                <a:r>
                  <a:rPr lang="en-US" dirty="0"/>
                  <a:t>, the paper adopts </a:t>
                </a:r>
                <a:r>
                  <a:rPr lang="en-US" dirty="0">
                    <a:solidFill>
                      <a:srgbClr val="7030A0"/>
                    </a:solidFill>
                  </a:rPr>
                  <a:t>Alternative Optimization, AO.</a:t>
                </a:r>
              </a:p>
              <a:p>
                <a:pPr lvl="1"/>
                <a:r>
                  <a:rPr lang="en-US" dirty="0"/>
                  <a:t>The key idea is to </a:t>
                </a:r>
                <a:r>
                  <a:rPr lang="en-US" dirty="0">
                    <a:solidFill>
                      <a:srgbClr val="002060"/>
                    </a:solidFill>
                  </a:rPr>
                  <a:t>optimize one variable while fixing the other.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</a:t>
                </a:r>
                <a:r>
                  <a:rPr lang="en-US" dirty="0"/>
                  <a:t> Fix bandwidth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, optimize power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</a:t>
                </a:r>
                <a:r>
                  <a:rPr lang="en-US" dirty="0"/>
                  <a:t>Fix power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, optimize bandwidth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Repeat until convergence</a:t>
                </a:r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𝐩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sup>
                            </m:sSup>
                          </m:e>
                          <m:e>
                            <m:sSup>
                              <m:sSup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𝐩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p>
                            </m:sSup>
                          </m:e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B5D87-FB95-80B9-0146-EBDE27B57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7EA4B-CFE9-ACF4-436A-98F8384B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5792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18EC-8BE4-8567-4FB7-D1F9BAF5C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4C09D6-EB4F-06BB-F6FA-C10C11B5C5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Convexity of AO Subproblems</a:t>
                </a:r>
              </a:p>
              <a:p>
                <a:pPr lvl="1"/>
                <a:r>
                  <a:rPr lang="en-US" dirty="0"/>
                  <a:t>When bandwidth is fixed: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constant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becomes linear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	So, the power allocation subproblem is convex.</a:t>
                </a:r>
              </a:p>
              <a:p>
                <a:pPr lvl="1"/>
                <a:r>
                  <a:rPr lang="en-US" dirty="0"/>
                  <a:t>When power is fixed: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constant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becomes linear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Also, the achievable sum-rate is concave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so the bandwidth subproblem is convex.</a:t>
                </a:r>
              </a:p>
              <a:p>
                <a:pPr lvl="1"/>
                <a:r>
                  <a:rPr lang="en-US" dirty="0"/>
                  <a:t>The joint problem is non-convex, but each fixed-variable subproblem is convex.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4C09D6-EB4F-06BB-F6FA-C10C11B5C5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DC636-F463-06D6-BAAA-155AE0EE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00627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8EB9E-09E4-7997-45EC-1550F38B8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25C52-E0A6-08F8-CA4A-82E54C3447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Initial Bandwidth Selection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Importance of Initial Bandwidth Allocation</a:t>
                </a:r>
              </a:p>
              <a:p>
                <a:pPr lvl="2"/>
                <a:r>
                  <a:rPr lang="en-US" dirty="0"/>
                  <a:t>AO depends on the initial point.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Uniform bandwidth allocation </a:t>
                </a:r>
                <a:r>
                  <a:rPr lang="en-US" dirty="0"/>
                  <a:t>may be </a:t>
                </a:r>
                <a:r>
                  <a:rPr lang="en-US" dirty="0">
                    <a:solidFill>
                      <a:srgbClr val="7030A0"/>
                    </a:solidFill>
                  </a:rPr>
                  <a:t>infeasible </a:t>
                </a:r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the communication QoS threshold is large</a:t>
                </a:r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because the constraint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may not be satisfied in the first iteration.</a:t>
                </a:r>
              </a:p>
              <a:p>
                <a:pPr lvl="3"/>
                <a:r>
                  <a:rPr lang="en-US" dirty="0"/>
                  <a:t>Therefore, the paper proposes an initial bandwidth selection method.</a:t>
                </a:r>
              </a:p>
              <a:p>
                <a:pPr lvl="2"/>
                <a:r>
                  <a:rPr lang="en-US" dirty="0"/>
                  <a:t>Main idea:</a:t>
                </a:r>
              </a:p>
              <a:p>
                <a:pPr lvl="3"/>
                <a:r>
                  <a:rPr lang="en-US" dirty="0"/>
                  <a:t>Start with uniform bandwidth: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1"/>
                              <m:t>total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Find an initial power allocation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pPr lvl="3"/>
                <a:r>
                  <a:rPr lang="en-US" dirty="0"/>
                  <a:t>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to compute a feasible initial bandwidth allocation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25C52-E0A6-08F8-CA4A-82E54C3447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D26C6-4090-4303-2F22-A0677658E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4362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41DFD-5A12-CC3D-A705-CBC0FA637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86FCE7-50D6-7B2B-C728-9869A21806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Joint Power and Bandwidth Allocation Algorithm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Algorithm 1: Joint Power and Bandwidth Allocation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Procedure:</a:t>
                </a:r>
              </a:p>
              <a:p>
                <a:pPr lvl="2"/>
                <a:r>
                  <a:rPr lang="en-US" dirty="0"/>
                  <a:t>Initialize bandwidth uniformly: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1"/>
                              <m:t>total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Compute initial power allocation: 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Compute initial bandwidth allocation: 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Repeat: 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lim>
                        </m:limLow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lim>
                        </m:limLow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p>
                        </m:sSup>
                      </m:e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until convergence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Output: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86FCE7-50D6-7B2B-C728-9869A21806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0C059-3C1A-9F49-82BD-14D3EB59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6203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8D2D4-DBA2-B2BD-FF32-34AD260E8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4C39F-7F86-4456-2D4F-E03C77A50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Target Tracking Overview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Target Tracking as Extended Localization</a:t>
                </a:r>
              </a:p>
              <a:p>
                <a:pPr lvl="2"/>
                <a:r>
                  <a:rPr lang="en-US" dirty="0"/>
                  <a:t>Tracking estimates and predicts the motion state of a moving target.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Tracking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state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paper uses: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constant-velocity state model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nonlinear radar measurement model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Bayesian FIM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PCRB as tracking QoS metric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4C39F-7F86-4456-2D4F-E03C77A50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7260D-6B49-D63C-46B3-45F8036DE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11484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DEE44-37E1-DF59-99BB-277A0175D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Target Tracking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7A55C9-2D28-C767-1AA1-57B9BCA373E1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Motion State Vector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Motion State Vector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at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epoch,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7A55C9-2D28-C767-1AA1-57B9BCA37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D3F89-BCC2-4136-799F-3EC521E53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86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1745DB-A66E-D851-D782-6F40B551D60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850958610"/>
                  </p:ext>
                </p:extLst>
              </p:nvPr>
            </p:nvGraphicFramePr>
            <p:xfrm>
              <a:off x="6228652" y="1871292"/>
              <a:ext cx="5068696" cy="408407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145912">
                      <a:extLst>
                        <a:ext uri="{9D8B030D-6E8A-4147-A177-3AD203B41FA5}">
                          <a16:colId xmlns:a16="http://schemas.microsoft.com/office/drawing/2014/main" val="773742514"/>
                        </a:ext>
                      </a:extLst>
                    </a:gridCol>
                    <a:gridCol w="2922784">
                      <a:extLst>
                        <a:ext uri="{9D8B030D-6E8A-4147-A177-3AD203B41FA5}">
                          <a16:colId xmlns:a16="http://schemas.microsoft.com/office/drawing/2014/main" val="3194001664"/>
                        </a:ext>
                      </a:extLst>
                    </a:gridCol>
                  </a:tblGrid>
                  <a:tr h="113783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8075824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300" i="1" cap="none" spc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33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position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0600553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300" i="1" cap="none" spc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33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velocity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3532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1745DB-A66E-D851-D782-6F40B551D60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850958610"/>
                  </p:ext>
                </p:extLst>
              </p:nvPr>
            </p:nvGraphicFramePr>
            <p:xfrm>
              <a:off x="6228652" y="1871292"/>
              <a:ext cx="5068696" cy="408407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145912">
                      <a:extLst>
                        <a:ext uri="{9D8B030D-6E8A-4147-A177-3AD203B41FA5}">
                          <a16:colId xmlns:a16="http://schemas.microsoft.com/office/drawing/2014/main" val="773742514"/>
                        </a:ext>
                      </a:extLst>
                    </a:gridCol>
                    <a:gridCol w="2922784">
                      <a:extLst>
                        <a:ext uri="{9D8B030D-6E8A-4147-A177-3AD203B41FA5}">
                          <a16:colId xmlns:a16="http://schemas.microsoft.com/office/drawing/2014/main" val="3194001664"/>
                        </a:ext>
                      </a:extLst>
                    </a:gridCol>
                  </a:tblGrid>
                  <a:tr h="113783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8075824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83" t="-82231" r="-135977" b="-1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position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0600553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83" t="-182231" r="-135977" b="-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velocity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35323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4139287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4DC1218-1C04-CE69-B432-BD8D73717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F218872-DABC-E6C8-139D-F7E0670FB0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Transition Matrix Derivation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Motion Transition Matrix</a:t>
                </a:r>
              </a:p>
              <a:p>
                <a:pPr lvl="2"/>
                <a:r>
                  <a:rPr lang="en-US" dirty="0"/>
                  <a:t>For 1D constant velocity: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2D motion, the same model is applied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nary>
                      <m:naryPr>
                        <m:chr m:val="⊗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1" dirty="0"/>
                  <a:t>                 </a:t>
                </a:r>
                <a:r>
                  <a:rPr lang="en-US" dirty="0"/>
                  <a:t>(34)</a:t>
                </a:r>
              </a:p>
              <a:p>
                <a:pPr lvl="2"/>
                <a:r>
                  <a:rPr lang="en-US" dirty="0"/>
                  <a:t>Expanded form: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F218872-DABC-E6C8-139D-F7E0670FB0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A66B55-8513-AB81-E915-62B4BC66B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6977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6FC3-163B-9D7E-5A70-4A0AC16C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A456-54C2-E4C9-5850-0B203465F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State Prediction from Eq. (34)</a:t>
                </a:r>
              </a:p>
              <a:p>
                <a:pPr lvl="1"/>
                <a:r>
                  <a:rPr lang="en-US" dirty="0"/>
                  <a:t>Using Eq. (32) and Eq. (34),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Velocity is assumed constant during one sampling interval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, but process noise allows small motion uncertainty.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A456-54C2-E4C9-5850-0B203465F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E6A8-5122-AF1C-4FBA-6F7A75EFC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92853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F3BA-0126-9D8A-4E6B-870B05F17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CA5D91-464C-6858-5CA8-846DAF961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Process Noise Covariance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Process Noise Model</a:t>
                </a:r>
              </a:p>
              <a:p>
                <a:pPr lvl="2"/>
                <a:r>
                  <a:rPr lang="en-US" dirty="0"/>
                  <a:t>The process noise is Gaussian: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with covariance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nary>
                      <m:naryPr>
                        <m:chr m:val="⊗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            </a:t>
                </a:r>
                <a:r>
                  <a:rPr lang="en-US" dirty="0"/>
                  <a:t>(33)</a:t>
                </a:r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: sampling interval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process noise intensity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: applies the same uncertainty model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CA5D91-464C-6858-5CA8-846DAF961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6AAD2-358A-0CCD-C9C2-94AC6952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3891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B5339-1C17-80B7-7C21-9A20EB288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B3BC2-FA6F-669C-78EB-1F60E3A12F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Motivation of Process Noise Covariance</a:t>
                </a:r>
              </a:p>
              <a:p>
                <a:pPr lvl="1"/>
                <a:r>
                  <a:rPr lang="en-US" dirty="0"/>
                  <a:t>Even with constant velocity, the target may have small random acceleration.</a:t>
                </a:r>
              </a:p>
              <a:p>
                <a:pPr lvl="1"/>
                <a:r>
                  <a:rPr lang="en-US" dirty="0"/>
                  <a:t>Random acceleration affects both: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position error 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velocity error </a:t>
                </a:r>
              </a:p>
              <a:p>
                <a:pPr lvl="1"/>
                <a:r>
                  <a:rPr lang="en-US" dirty="0"/>
                  <a:t>That is why the covariance contains: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position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velocity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position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velocity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correlation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models uncertainty caused by imperfect motion prediction.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B3BC2-FA6F-669C-78EB-1F60E3A12F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E8E16-4CC7-1447-90A1-10C7745E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75950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3C18-D188-6ABC-AC78-59119F4BA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C18D9-49F4-5375-3C53-208E0BBA1DF3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Measurement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Nonlinear Radar Measurement Model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radar measurement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20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ko-KR" alt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ko-KR" alt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ko-KR" sz="20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000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</a:t>
                </a: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(35)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ko-KR" alt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C18D9-49F4-5375-3C53-208E0BBA1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1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98115-9B8D-EEDA-F523-C7E752DCF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D62761D-8C2C-1ACC-4702-77E467AC58F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99272730"/>
                  </p:ext>
                </p:extLst>
              </p:nvPr>
            </p:nvGraphicFramePr>
            <p:xfrm>
              <a:off x="6375199" y="1649691"/>
              <a:ext cx="4775603" cy="4854732"/>
            </p:xfrm>
            <a:graphic>
              <a:graphicData uri="http://schemas.openxmlformats.org/drawingml/2006/table">
                <a:tbl>
                  <a:tblPr firstRow="1" bandRow="1">
                    <a:tableStyleId>{8799B23B-EC83-4686-B30A-512413B5E67A}</a:tableStyleId>
                  </a:tblPr>
                  <a:tblGrid>
                    <a:gridCol w="1624029">
                      <a:extLst>
                        <a:ext uri="{9D8B030D-6E8A-4147-A177-3AD203B41FA5}">
                          <a16:colId xmlns:a16="http://schemas.microsoft.com/office/drawing/2014/main" val="1989897551"/>
                        </a:ext>
                      </a:extLst>
                    </a:gridCol>
                    <a:gridCol w="3151574">
                      <a:extLst>
                        <a:ext uri="{9D8B030D-6E8A-4147-A177-3AD203B41FA5}">
                          <a16:colId xmlns:a16="http://schemas.microsoft.com/office/drawing/2014/main" val="4206637601"/>
                        </a:ext>
                      </a:extLst>
                    </a:gridCol>
                  </a:tblGrid>
                  <a:tr h="9173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42048" marR="202925" marT="40585" marB="304389" anchor="b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42048" marR="202925" marT="40585" marB="304389" anchor="b"/>
                    </a:tc>
                    <a:extLst>
                      <a:ext uri="{0D108BD9-81ED-4DB2-BD59-A6C34878D82A}">
                        <a16:rowId xmlns:a16="http://schemas.microsoft.com/office/drawing/2014/main" val="2934209532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679865477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radial velocity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704932916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AoA/azimuth angle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2570989511"/>
                      </a:ext>
                    </a:extLst>
                  </a:tr>
                  <a:tr h="117997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6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measurement noise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1936289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D62761D-8C2C-1ACC-4702-77E467AC58F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99272730"/>
                  </p:ext>
                </p:extLst>
              </p:nvPr>
            </p:nvGraphicFramePr>
            <p:xfrm>
              <a:off x="6375199" y="1649691"/>
              <a:ext cx="4775603" cy="4854732"/>
            </p:xfrm>
            <a:graphic>
              <a:graphicData uri="http://schemas.openxmlformats.org/drawingml/2006/table">
                <a:tbl>
                  <a:tblPr firstRow="1" bandRow="1">
                    <a:tableStyleId>{8799B23B-EC83-4686-B30A-512413B5E67A}</a:tableStyleId>
                  </a:tblPr>
                  <a:tblGrid>
                    <a:gridCol w="1624029">
                      <a:extLst>
                        <a:ext uri="{9D8B030D-6E8A-4147-A177-3AD203B41FA5}">
                          <a16:colId xmlns:a16="http://schemas.microsoft.com/office/drawing/2014/main" val="1989897551"/>
                        </a:ext>
                      </a:extLst>
                    </a:gridCol>
                    <a:gridCol w="3151574">
                      <a:extLst>
                        <a:ext uri="{9D8B030D-6E8A-4147-A177-3AD203B41FA5}">
                          <a16:colId xmlns:a16="http://schemas.microsoft.com/office/drawing/2014/main" val="4206637601"/>
                        </a:ext>
                      </a:extLst>
                    </a:gridCol>
                  </a:tblGrid>
                  <a:tr h="9173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42048" marR="202925" marT="40585" marB="304389" anchor="b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42048" marR="202925" marT="40585" marB="304389" anchor="b"/>
                    </a:tc>
                    <a:extLst>
                      <a:ext uri="{0D108BD9-81ED-4DB2-BD59-A6C34878D82A}">
                        <a16:rowId xmlns:a16="http://schemas.microsoft.com/office/drawing/2014/main" val="2934209532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120301" r="-195131" b="-387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679865477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220301" r="-195131" b="-287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radial velocity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704932916"/>
                      </a:ext>
                    </a:extLst>
                  </a:tr>
                  <a:tr h="113745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229032" r="-195131" b="-1059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AoA/azimuth angle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2570989511"/>
                      </a:ext>
                    </a:extLst>
                  </a:tr>
                  <a:tr h="11799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315464" r="-195131" b="-15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measurement noise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19362890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558857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48B7A10-AA63-6383-C90F-72B3262C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E22B99D-D709-6C72-5247-1692059D2E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Measurement Function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Cartesian-to-Polar Transformation</a:t>
                </a:r>
              </a:p>
              <a:p>
                <a:pPr lvl="2"/>
                <a:r>
                  <a:rPr lang="en-US" dirty="0"/>
                  <a:t>The nonlinear measurement function is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ra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arctan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                   (36)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E22B99D-D709-6C72-5247-1692059D2E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369FD-3F6F-D550-04AB-4D4B6C5FB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28469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F1CB4-9372-4A54-30EB-B792C274D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F6A09-097F-699B-63FC-A40A845D1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Measurement Noise Covariance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Measurement Noise Model</a:t>
                </a:r>
              </a:p>
              <a:p>
                <a:pPr lvl="2"/>
                <a:r>
                  <a:rPr lang="en-US" dirty="0"/>
                  <a:t>The measurement noise is AWGN: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with covariance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                          (47)</a:t>
                </a:r>
              </a:p>
              <a:p>
                <a:pPr lvl="2"/>
                <a:r>
                  <a:rPr lang="en-US" dirty="0"/>
                  <a:t>where the variances are related to CRBs: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depends on allocated power and bandwidth.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F6A09-097F-699B-63FC-A40A845D1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CAB77-A427-7B98-F733-C7DB1A08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479473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4B95A4AE-81C7-4125-F1EA-C5A1073BD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42E7E0-C262-A5D3-1CEF-DAFFD540ADBA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Bayes’ Theorem for Tracking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Tracking uses both: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prior prediction from previous epoch 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current radar measurement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Bayes’ theorem: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9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90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9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 (38)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42E7E0-C262-A5D3-1CEF-DAFFD540A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956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6139F-DEE1-32C6-9606-0976DABEF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57C221A-27CB-0F98-DF9C-52A2278DB61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19828888"/>
                  </p:ext>
                </p:extLst>
              </p:nvPr>
            </p:nvGraphicFramePr>
            <p:xfrm>
              <a:off x="6174296" y="1753285"/>
              <a:ext cx="5234731" cy="2608990"/>
            </p:xfrm>
            <a:graphic>
              <a:graphicData uri="http://schemas.openxmlformats.org/drawingml/2006/table">
                <a:tbl>
                  <a:tblPr firstRow="1" bandRow="1">
                    <a:solidFill>
                      <a:srgbClr val="F7F7F7"/>
                    </a:solidFill>
                  </a:tblPr>
                  <a:tblGrid>
                    <a:gridCol w="2383309">
                      <a:extLst>
                        <a:ext uri="{9D8B030D-6E8A-4147-A177-3AD203B41FA5}">
                          <a16:colId xmlns:a16="http://schemas.microsoft.com/office/drawing/2014/main" val="3286443833"/>
                        </a:ext>
                      </a:extLst>
                    </a:gridCol>
                    <a:gridCol w="2851422">
                      <a:extLst>
                        <a:ext uri="{9D8B030D-6E8A-4147-A177-3AD203B41FA5}">
                          <a16:colId xmlns:a16="http://schemas.microsoft.com/office/drawing/2014/main" val="1809500744"/>
                        </a:ext>
                      </a:extLst>
                    </a:gridCol>
                  </a:tblGrid>
                  <a:tr h="7072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43138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i="1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b="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>
                              <a:solidFill>
                                <a:schemeClr val="tx1"/>
                              </a:solidFill>
                            </a:rPr>
                            <a:t>prior state distribution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412947"/>
                      </a:ext>
                    </a:extLst>
                  </a:tr>
                  <a:tr h="60162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0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900" b="0" i="0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  <m:sSub>
                                      <m:sSubPr>
                                        <m:ctrlP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measurement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58301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joint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6708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57C221A-27CB-0F98-DF9C-52A2278DB61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19828888"/>
                  </p:ext>
                </p:extLst>
              </p:nvPr>
            </p:nvGraphicFramePr>
            <p:xfrm>
              <a:off x="6174296" y="1753285"/>
              <a:ext cx="5234731" cy="2608990"/>
            </p:xfrm>
            <a:graphic>
              <a:graphicData uri="http://schemas.openxmlformats.org/drawingml/2006/table">
                <a:tbl>
                  <a:tblPr firstRow="1" bandRow="1">
                    <a:solidFill>
                      <a:srgbClr val="F7F7F7"/>
                    </a:solidFill>
                  </a:tblPr>
                  <a:tblGrid>
                    <a:gridCol w="2383309">
                      <a:extLst>
                        <a:ext uri="{9D8B030D-6E8A-4147-A177-3AD203B41FA5}">
                          <a16:colId xmlns:a16="http://schemas.microsoft.com/office/drawing/2014/main" val="3286443833"/>
                        </a:ext>
                      </a:extLst>
                    </a:gridCol>
                    <a:gridCol w="2851422">
                      <a:extLst>
                        <a:ext uri="{9D8B030D-6E8A-4147-A177-3AD203B41FA5}">
                          <a16:colId xmlns:a16="http://schemas.microsoft.com/office/drawing/2014/main" val="1809500744"/>
                        </a:ext>
                      </a:extLst>
                    </a:gridCol>
                  </a:tblGrid>
                  <a:tr h="7072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43138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108411" r="-119643" b="-1934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>
                              <a:solidFill>
                                <a:schemeClr val="tx1"/>
                              </a:solidFill>
                            </a:rPr>
                            <a:t>prior state distribution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412947"/>
                      </a:ext>
                    </a:extLst>
                  </a:tr>
                  <a:tr h="6016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25253" r="-119643" b="-1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measurement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58301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300935" r="-119643" b="-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joint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670863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64837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987F067-08DD-8EB2-ECEF-B2D8378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A985498-D43D-06FF-1759-05DF54C564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The posterior FIM is defined as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𝐉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</m:sSub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func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(39)</a:t>
                </a:r>
              </a:p>
              <a:p>
                <a:pPr lvl="1"/>
                <a:r>
                  <a:rPr lang="en-US" dirty="0"/>
                  <a:t>FIM measures information about target state. </a:t>
                </a:r>
              </a:p>
              <a:p>
                <a:pPr lvl="1"/>
                <a:r>
                  <a:rPr lang="en-US" dirty="0"/>
                  <a:t>Larger FIM means lower estimation error bound. </a:t>
                </a:r>
              </a:p>
              <a:p>
                <a:pPr lvl="1"/>
                <a:r>
                  <a:rPr lang="en-US" dirty="0"/>
                  <a:t>PCRB is obtained by taking inverse of FIM.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A985498-D43D-06FF-1759-05DF54C56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266F2B-FE9E-530F-BEE1-BC63D8283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22024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B3F3C-5774-D6C2-D61D-464449FE2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6AB94-2A6B-2C87-083D-15033DE239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 of Eq. (40)</a:t>
                </a:r>
              </a:p>
              <a:p>
                <a:pPr lvl="1"/>
                <a:r>
                  <a:rPr lang="en-US" dirty="0"/>
                  <a:t>Splitting Posterior FIM</a:t>
                </a:r>
              </a:p>
              <a:p>
                <a:pPr lvl="2"/>
                <a:r>
                  <a:rPr lang="en-US" dirty="0"/>
                  <a:t>From Eq. (38),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Taking log: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Substituting into Eq. (39),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𝐉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     </a:t>
                </a:r>
                <a:r>
                  <a:rPr lang="en-US" dirty="0"/>
                  <a:t>(40)</a:t>
                </a:r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dirty="0"/>
                  <a:t>:  prior FIM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:  data FIM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6AB94-2A6B-2C87-083D-15033DE239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361A5-0A11-FEBF-294E-09FC18F1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96947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FA3E6-0A90-8CF7-770E-DEFE63181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C61658-AEAE-4543-FF0F-C4FFA04B5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Data FIM Derivation</a:t>
                </a:r>
              </a:p>
              <a:p>
                <a:pPr lvl="1"/>
                <a:r>
                  <a:rPr lang="en-US" dirty="0"/>
                  <a:t>From the measurement model,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with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likelihood is Gaussian: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1">
                                                <a:latin typeface="Cambria Math" panose="02040503050406030204" pitchFamily="18" charset="0"/>
                                              </a:rPr>
                                              <m:t>𝝃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               </a:t>
                </a:r>
                <a:r>
                  <a:rPr lang="en-US" dirty="0"/>
                  <a:t>(41)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C61658-AEAE-4543-FF0F-C4FFA04B5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AE124-826A-8C15-0728-C6B0777E5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05038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46889-4F42-BA52-D43D-E9A6E3F0A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209CC2-1C8D-1109-A507-963CE2D80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Prior FIM from State Evolution</a:t>
                </a:r>
              </a:p>
              <a:p>
                <a:pPr lvl="1"/>
                <a:r>
                  <a:rPr lang="en-US" dirty="0"/>
                  <a:t>The prior FIM is recursively written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𝐉</m:t>
                            </m:r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bSup>
                  </m:oMath>
                </a14:m>
                <a:r>
                  <a:rPr lang="en-US" b="1" dirty="0"/>
                  <a:t>         </a:t>
                </a:r>
                <a:r>
                  <a:rPr lang="en-US" dirty="0"/>
                  <a:t>(41)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comes from propagating previous FIM through the motion model.</a:t>
                </a:r>
              </a:p>
              <a:p>
                <a:pPr lvl="1"/>
                <a:r>
                  <a:rPr lang="en-US" dirty="0"/>
                  <a:t>This is the information carried from epoch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to epoch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209CC2-1C8D-1109-A507-963CE2D80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1F3F1-850C-578F-D679-30A9E0C6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25063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9824E-4F78-26D5-F51C-A04CA8AAE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57B877-3B2D-57D2-00D2-BFB0C7A61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Matrices in Eq. (42)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Matrices from Gaussian State Transition</a:t>
                </a:r>
              </a:p>
              <a:p>
                <a:pPr lvl="2"/>
                <a:r>
                  <a:rPr lang="en-US" dirty="0"/>
                  <a:t>From the state evolution model,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where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transition likelihood depends on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corresponding matrices are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(42)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57B877-3B2D-57D2-00D2-BFB0C7A61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06ED5-1CF2-EFA6-FE1F-ADBCF7D6A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9094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B5B12-3BDF-EDCF-B486-BC7A6C1E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22DE-3A8D-C004-4D88-0C414AB785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Practical Approximation of Data FIM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Approximation of Data FIM</a:t>
                </a:r>
              </a:p>
              <a:p>
                <a:pPr lvl="2"/>
                <a:r>
                  <a:rPr lang="en-US" dirty="0"/>
                  <a:t>The exact data FIM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But the expectation is difficult 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nonlinear.</a:t>
                </a:r>
              </a:p>
              <a:p>
                <a:pPr lvl="2"/>
                <a:r>
                  <a:rPr lang="en-US" dirty="0"/>
                  <a:t>Therefore, the paper evaluates it at the predicted state: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d>
                          <m:dPr>
                            <m:begChr m:val=""/>
                            <m:endChr m:val="∣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                              (43)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the predicted state before the current measurement update.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22DE-3A8D-C004-4D88-0C414AB785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2E1B3-9783-4581-B2BE-168309E57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75306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253D8-B35D-C691-C1E1-9B6A3BA45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337128-ADEC-A3D3-7D28-484773CC6E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 of Final FIM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Posterior FIM Expression</a:t>
                </a:r>
              </a:p>
              <a:p>
                <a:pPr lvl="2"/>
                <a:r>
                  <a:rPr lang="en-US" dirty="0"/>
                  <a:t>From Eq. (40),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prediction covariance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 the prior FIM is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Adding the approximated data FIM gives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m        </a:t>
                </a:r>
                <a:r>
                  <a:rPr lang="en-US" dirty="0"/>
                  <a:t>(44)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337128-ADEC-A3D3-7D28-484773CC6E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D307B-613A-9E4C-7792-83D3696A3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249592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51A31-91E6-EEA2-2766-555C0478F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4152D-8AF8-7E75-6230-DD545998B2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FIM Depends on Resources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and Bandwidth Dependence</a:t>
                </a:r>
              </a:p>
              <a:p>
                <a:pPr lvl="3"/>
                <a:r>
                  <a:rPr lang="en-US" dirty="0"/>
                  <a:t>The measurement covariance is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These variances are CRBs.</a:t>
                </a:r>
              </a:p>
              <a:p>
                <a:pPr lvl="3"/>
                <a:r>
                  <a:rPr lang="en-US" dirty="0"/>
                  <a:t>Since CRBs depend on power and bandwidth,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Therefore,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more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resources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noise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FIM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PCRB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4152D-8AF8-7E75-6230-DD545998B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596F3-2017-4543-474E-1DB094BE3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27189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ADFAD-D600-9364-FC2D-6652A7851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9512-830B-FDEF-FDEB-8CB36A0B60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Predicted PCRB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Posterior Cramer-Rao Bound</a:t>
                </a:r>
              </a:p>
              <a:p>
                <a:pPr lvl="1"/>
                <a:r>
                  <a:rPr lang="en-US" dirty="0"/>
                  <a:t>The predicted PCRB is the inverse of the posterior FIM: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PCRB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		(45)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lower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covariance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large, then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small.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larger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FIM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accuracy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9512-830B-FDEF-FDEB-8CB36A0B60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8B015-77C4-0229-806D-264053D9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59468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FE70B-E035-A70D-7B0A-F3D00C637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05A1A-464A-B715-0370-7479F9A459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 QoS Objective</a:t>
                </a:r>
              </a:p>
              <a:p>
                <a:pPr lvl="1"/>
                <a:r>
                  <a:rPr lang="en-US" dirty="0"/>
                  <a:t>The tracking QoS is measured by the trace of the predicted PCRB: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          (46)</a:t>
                </a:r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PCRB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                          (45)</a:t>
                </a:r>
              </a:p>
              <a:p>
                <a:pPr lvl="1"/>
                <a:r>
                  <a:rPr lang="en-US" dirty="0"/>
                  <a:t>we can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↓⇒</m:t>
                    </m:r>
                    <m:r>
                      <m:rPr>
                        <m:nor/>
                      </m:rPr>
                      <a:rPr lang="en-US"/>
                      <m:t>lower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QoS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05A1A-464A-B715-0370-7479F9A459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DAAF9-B5EB-9091-F8B5-D4632B499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22565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FCDCD-91D6-2851-1664-4469E6ADF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5EA97C-0AAA-501D-2C54-983207405F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Tracking-Based RA Problem</a:t>
                </a:r>
              </a:p>
              <a:p>
                <a:pPr lvl="1"/>
                <a:r>
                  <a:rPr lang="en-US" dirty="0"/>
                  <a:t>Tracking QoS Optimization Problem</a:t>
                </a:r>
              </a:p>
              <a:p>
                <a:pPr lvl="1"/>
                <a:r>
                  <a:rPr lang="en-US" dirty="0"/>
                  <a:t>The goal is to minimize total tracking error while satisfying communication QoS: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               (47)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5EA97C-0AAA-501D-2C54-983207405F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135DD-82E7-C712-A9FA-0B4BFD7F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5624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F45B969A-4B25-5EC3-52F5-D1F80796A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76E1AF-0947-0581-7CB1-4957B0E6940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Meaning of the Constraints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Interpretation of Problem (47)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tracking</m:t>
                    </m:r>
                    <m:r>
                      <m:rPr>
                        <m:nor/>
                      </m:rPr>
                      <a:rPr lang="en-US" sz="2000" b="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QoS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communication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QoS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resource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limits</m:t>
                    </m:r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are jointly considered at each epoch.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76E1AF-0947-0581-7CB1-4957B0E69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6D211-0538-ED0F-8245-3E76FBBB3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106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E62821-E9BD-3C70-ADFC-A78375BA3F69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2239508"/>
                  </p:ext>
                </p:extLst>
              </p:nvPr>
            </p:nvGraphicFramePr>
            <p:xfrm>
              <a:off x="6460572" y="1649691"/>
              <a:ext cx="4604857" cy="473740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09263">
                      <a:extLst>
                        <a:ext uri="{9D8B030D-6E8A-4147-A177-3AD203B41FA5}">
                          <a16:colId xmlns:a16="http://schemas.microsoft.com/office/drawing/2014/main" val="3734516648"/>
                        </a:ext>
                      </a:extLst>
                    </a:gridCol>
                    <a:gridCol w="2595594">
                      <a:extLst>
                        <a:ext uri="{9D8B030D-6E8A-4147-A177-3AD203B41FA5}">
                          <a16:colId xmlns:a16="http://schemas.microsoft.com/office/drawing/2014/main" val="1271464072"/>
                        </a:ext>
                      </a:extLst>
                    </a:gridCol>
                  </a:tblGrid>
                  <a:tr h="5449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Constraint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37527139"/>
                      </a:ext>
                    </a:extLst>
                  </a:tr>
                  <a:tr h="7300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sepChr m:val=","/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1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𝐩</m:t>
                                        </m:r>
                                      </m:e>
                                      <m:sub>
                                        <m: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1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𝐛</m:t>
                                        </m:r>
                                      </m:e>
                                      <m:sub>
                                        <m: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Γ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communication QoS must be satisfied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6307201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b>
                                  <m:sup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total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power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3785540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b>
                                  <m:sup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total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bandwidth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2524713"/>
                      </a:ext>
                    </a:extLst>
                  </a:tr>
                  <a:tr h="7417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power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51229693"/>
                      </a:ext>
                    </a:extLst>
                  </a:tr>
                  <a:tr h="75166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bandwidth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5774399"/>
                      </a:ext>
                    </a:extLst>
                  </a:tr>
                  <a:tr h="77906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:⋯: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:⋯: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proportional tracking QoS requirement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990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E62821-E9BD-3C70-ADFC-A78375BA3F69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2239508"/>
                  </p:ext>
                </p:extLst>
              </p:nvPr>
            </p:nvGraphicFramePr>
            <p:xfrm>
              <a:off x="6460572" y="1649691"/>
              <a:ext cx="4604857" cy="473740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09263">
                      <a:extLst>
                        <a:ext uri="{9D8B030D-6E8A-4147-A177-3AD203B41FA5}">
                          <a16:colId xmlns:a16="http://schemas.microsoft.com/office/drawing/2014/main" val="3734516648"/>
                        </a:ext>
                      </a:extLst>
                    </a:gridCol>
                    <a:gridCol w="2595594">
                      <a:extLst>
                        <a:ext uri="{9D8B030D-6E8A-4147-A177-3AD203B41FA5}">
                          <a16:colId xmlns:a16="http://schemas.microsoft.com/office/drawing/2014/main" val="1271464072"/>
                        </a:ext>
                      </a:extLst>
                    </a:gridCol>
                  </a:tblGrid>
                  <a:tr h="5449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Constraint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37527139"/>
                      </a:ext>
                    </a:extLst>
                  </a:tr>
                  <a:tr h="73000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74167" r="-129394" b="-47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communication QoS must be satisfied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6307201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58025" r="-129394" b="-602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power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3785540"/>
                      </a:ext>
                    </a:extLst>
                  </a:tr>
                  <a:tr h="7000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52174" r="-129394" b="-32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bandwidth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2524713"/>
                      </a:ext>
                    </a:extLst>
                  </a:tr>
                  <a:tr h="7417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331967" r="-129394" b="-205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power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51229693"/>
                      </a:ext>
                    </a:extLst>
                  </a:tr>
                  <a:tr h="75166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428455" r="-129394" b="-104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bandwidth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5774399"/>
                      </a:ext>
                    </a:extLst>
                  </a:tr>
                  <a:tr h="77906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507813" r="-12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proportional tracking QoS requirement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9908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478836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F6C487-7FEC-51E7-E1A2-41CE6212E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EB7D6AA-AF6D-62AD-73B1-7841C1A1EA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the Problem Is Difficult</a:t>
                </a:r>
              </a:p>
              <a:p>
                <a:pPr lvl="1"/>
                <a:r>
                  <a:rPr lang="en-US" dirty="0"/>
                  <a:t>Non-Convexity and AO Motivation</a:t>
                </a:r>
              </a:p>
              <a:p>
                <a:pPr lvl="1"/>
                <a:r>
                  <a:rPr lang="en-US" dirty="0"/>
                  <a:t>The objective depends 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FIM depends on resource allocation: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Thus, tracking QoS depends on both power and bandwidth.</a:t>
                </a:r>
              </a:p>
              <a:p>
                <a:pPr lvl="1"/>
                <a:r>
                  <a:rPr lang="en-US" dirty="0"/>
                  <a:t>To decouple variables, the paper uses Alternative Optimization: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fix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optimize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fix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optimize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EB7D6AA-AF6D-62AD-73B1-7841C1A1EA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67E55F-17D4-1DA7-3209-1A58DA8AB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19195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6F796-8801-8754-C7C6-9FE559CD5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232AB-7D9B-FE87-4867-5DCAD319A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Linearization of Proportional QoS Constraint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Handling Nonlinear Equality Constraints</a:t>
                </a:r>
              </a:p>
              <a:p>
                <a:pPr lvl="2"/>
                <a:r>
                  <a:rPr lang="en-US" dirty="0"/>
                  <a:t>The proportional QoS constraint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But each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is nonlinear.</a:t>
                </a:r>
              </a:p>
              <a:p>
                <a:pPr lvl="2"/>
                <a:r>
                  <a:rPr lang="en-US" dirty="0"/>
                  <a:t>Therefore, the paper linearizes the nonlinear constraint at the previous resource point: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using Taylor approximation of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After linearization, </a:t>
                </a:r>
                <a:r>
                  <a:rPr lang="en-US" dirty="0">
                    <a:solidFill>
                      <a:srgbClr val="7030A0"/>
                    </a:solidFill>
                  </a:rPr>
                  <a:t>each AO subproblem becomes convex (Appendix A)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232AB-7D9B-FE87-4867-5DCAD319A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AB59E-0E4F-1658-045C-E8FFD14AD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00873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EE22D-0F79-0F3A-534B-9E4BAB7A2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83205-84FE-FF3A-058F-59C57797CD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Closed-Loop Tracking Strategy</a:t>
                </a:r>
              </a:p>
              <a:p>
                <a:pPr lvl="1"/>
                <a:r>
                  <a:rPr lang="en-US" dirty="0"/>
                  <a:t>EKF-Based Closed-Loop Tracking with RA</a:t>
                </a:r>
              </a:p>
              <a:p>
                <a:pPr lvl="1"/>
                <a:r>
                  <a:rPr lang="en-US" dirty="0"/>
                  <a:t>The tracking QoS in Eq. (46) depends on predicted state information.</a:t>
                </a:r>
              </a:p>
              <a:p>
                <a:pPr lvl="1"/>
                <a:r>
                  <a:rPr lang="en-US" dirty="0"/>
                  <a:t>Therefore, the paper uses a closed-loop tracking strategy: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state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resource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allocation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EKF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next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At each epoch:</a:t>
                </a:r>
              </a:p>
              <a:p>
                <a:pPr lvl="2"/>
                <a:r>
                  <a:rPr lang="en-US" dirty="0"/>
                  <a:t>predict target state </a:t>
                </a:r>
              </a:p>
              <a:p>
                <a:pPr lvl="2"/>
                <a:r>
                  <a:rPr lang="en-US" dirty="0"/>
                  <a:t>allocate power and bandwidth </a:t>
                </a:r>
              </a:p>
              <a:p>
                <a:pPr lvl="2"/>
                <a:r>
                  <a:rPr lang="en-US" dirty="0"/>
                  <a:t>receive radar measurement </a:t>
                </a:r>
              </a:p>
              <a:p>
                <a:pPr lvl="2"/>
                <a:r>
                  <a:rPr lang="en-US" dirty="0"/>
                  <a:t>update target state using EKF </a:t>
                </a:r>
              </a:p>
              <a:p>
                <a:pPr lvl="2"/>
                <a:r>
                  <a:rPr lang="en-US" dirty="0"/>
                  <a:t>repeat for the next epoch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83205-84FE-FF3A-058F-59C57797CD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AFF50-277C-2699-BE21-9182CBBFD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67460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54C8044-9FC6-BF99-5FDC-95C8EA5A4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677CE7-C5FD-DBE9-C0EB-1B5CB78F69D9}"/>
                  </a:ext>
                </a:extLst>
              </p:cNvPr>
              <p:cNvSpPr txBox="1"/>
              <p:nvPr/>
            </p:nvSpPr>
            <p:spPr>
              <a:xfrm>
                <a:off x="838200" y="1649690"/>
                <a:ext cx="10205906" cy="465044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State Prediction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EKF Step 1: State Prediction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predicted state at epoch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(48)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677CE7-C5FD-DBE9-C0EB-1B5CB78F6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0"/>
                <a:ext cx="10205906" cy="4650441"/>
              </a:xfrm>
              <a:prstGeom prst="rect">
                <a:avLst/>
              </a:prstGeom>
              <a:blipFill>
                <a:blip r:embed="rId2"/>
                <a:stretch>
                  <a:fillRect l="-538" t="-1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54F4F-1E31-6358-42E9-9E74C8B8F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46427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448FF3-E33A-4327-2681-7C9136823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CEA9D5C-7CB9-35CD-06F8-E2C0232AD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MSE Matrix Prediction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2: MSE Matrix Prediction</a:t>
                </a:r>
              </a:p>
              <a:p>
                <a:pPr lvl="2"/>
                <a:r>
                  <a:rPr lang="en-US" dirty="0"/>
                  <a:t>The predicted MSE matrix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</a:t>
                </a:r>
                <a:r>
                  <a:rPr lang="en-US" dirty="0"/>
                  <a:t>(49)</a:t>
                </a:r>
              </a:p>
              <a:p>
                <a:pPr lvl="2"/>
                <a:r>
                  <a:rPr lang="en-US" dirty="0"/>
                  <a:t>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represents the </a:t>
                </a:r>
                <a:r>
                  <a:rPr lang="en-US" dirty="0">
                    <a:solidFill>
                      <a:srgbClr val="7030A0"/>
                    </a:solidFill>
                  </a:rPr>
                  <a:t>predicted MSE matrix </a:t>
                </a:r>
                <a:r>
                  <a:rPr lang="en-US" dirty="0"/>
                  <a:t>before receiving the current measurement.</a:t>
                </a:r>
              </a:p>
              <a:p>
                <a:pPr lvl="2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represents the previous tracking uncertainty propagated through the motion model.</a:t>
                </a:r>
              </a:p>
              <a:p>
                <a:pPr lvl="2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represents the additional uncertainty caused by process noise.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predicted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uncertainty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propagated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previous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motion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CEA9D5C-7CB9-35CD-06F8-E2C0232AD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4E1A1-7750-E437-D8A5-5D956FCA4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40190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C12D2-DD74-EFBA-7B30-11C697FF4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F431-8C78-704F-EC07-E9DD5C0EA6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Resource Allocation Step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3: Resource Allocation</a:t>
                </a:r>
              </a:p>
              <a:p>
                <a:pPr lvl="2"/>
                <a:r>
                  <a:rPr lang="en-US" dirty="0"/>
                  <a:t>After prediction, the BS allocates resources by solving the tracking RA problem: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trace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(47)</a:t>
                </a:r>
              </a:p>
              <a:p>
                <a:pPr lvl="2"/>
                <a:r>
                  <a:rPr lang="en-US" dirty="0"/>
                  <a:t>subject to communication QoS and resource constraints.</a:t>
                </a:r>
              </a:p>
              <a:p>
                <a:pPr lvl="2"/>
                <a:r>
                  <a:rPr lang="en-US" dirty="0"/>
                  <a:t>The allocated resources are: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Prediction gives expected tracking uncertainty, and RA chooses power and bandwidth to reduce it.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F431-8C78-704F-EC07-E9DD5C0EA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A830E-47B3-F2DB-3DCF-A38272ABA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58304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3362-D80D-4950-D0E7-182E2E146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9B330D-7BF4-4C99-1A0F-780D5B9474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Kalman Gain Calculation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4: Kalman Gain</a:t>
                </a:r>
              </a:p>
              <a:p>
                <a:pPr lvl="2"/>
                <a:r>
                  <a:rPr lang="en-US" dirty="0"/>
                  <a:t>The Kalman gain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(50)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: </a:t>
                </a:r>
              </a:p>
              <a:p>
                <a:pPr lvl="3"/>
                <a:r>
                  <a:rPr lang="en-US" dirty="0"/>
                  <a:t>controls how much the filter trusts the new measurement.</a:t>
                </a:r>
              </a:p>
              <a:p>
                <a:pPr lvl="3"/>
                <a:r>
                  <a:rPr lang="en-US" dirty="0"/>
                  <a:t>large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→ smaller correction </a:t>
                </a:r>
              </a:p>
              <a:p>
                <a:pPr lvl="3"/>
                <a:r>
                  <a:rPr lang="en-US" dirty="0"/>
                  <a:t>small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→ stronger correction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9B330D-7BF4-4C99-1A0F-780D5B9474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4F2D2-B81A-5759-4D66-230525EB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44827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BA56A-F9AE-68CB-3D05-09D132D72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6D6562-E2CD-7891-E51B-F5841D50E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EKF Step 5: State Update</a:t>
                </a:r>
              </a:p>
              <a:p>
                <a:pPr lvl="1"/>
                <a:r>
                  <a:rPr lang="en-US" dirty="0"/>
                  <a:t>The updated state estimate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  </a:t>
                </a:r>
                <a:r>
                  <a:rPr lang="en-US" dirty="0"/>
                  <a:t>(51)</a:t>
                </a:r>
              </a:p>
              <a:p>
                <a:pPr lvl="1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is the measurement innovation.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updated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state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Kalman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gain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6D6562-E2CD-7891-E51B-F5841D50E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4EBB8-A6A0-4317-44B5-9EFA7F65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38392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FBDB5-17F3-B6DE-565E-D62AE703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FF580-53F7-5E82-9472-93DEB6CEB9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EKF Step 6: Uncertainty Update</a:t>
                </a:r>
              </a:p>
              <a:p>
                <a:pPr lvl="1"/>
                <a:r>
                  <a:rPr lang="en-US" dirty="0"/>
                  <a:t>The MSE matrix is updated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</a:t>
                </a:r>
                <a:r>
                  <a:rPr lang="en-US" dirty="0"/>
                  <a:t>(52)</a:t>
                </a:r>
              </a:p>
              <a:p>
                <a:pPr lvl="1"/>
                <a:r>
                  <a:rPr lang="en-US" dirty="0"/>
                  <a:t>After receiving the measurement, uncertainty decreases: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 better measurement gives a stronger reduction in MSE.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FF580-53F7-5E82-9472-93DEB6CEB9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B287D-D5C6-A98B-6F2D-F34AC7DFA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05759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B5045-2D0A-1B84-A454-15AAC862D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60B06-8E79-D63A-7531-D0B25748F2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Complete Tracking Procedure with RA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The closed-loop process is: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(48)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             </a:t>
                </a:r>
                <a:r>
                  <a:rPr lang="en-US" dirty="0"/>
                  <a:t>(49)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←</m:t>
                    </m:r>
                    <m:r>
                      <m:rPr>
                        <m:nor/>
                      </m:rPr>
                      <a:rPr lang="en-US" i="1"/>
                      <m:t>solve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tracking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RA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problem</m:t>
                    </m:r>
                  </m:oMath>
                </a14:m>
                <a:r>
                  <a:rPr lang="en-US" b="0" dirty="0"/>
                  <a:t>   (47)</a:t>
                </a:r>
                <a:endParaRPr lang="en-US" dirty="0"/>
              </a:p>
              <a:p>
                <a:pPr lvl="2"/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(50)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</a:t>
                </a:r>
                <a:r>
                  <a:rPr lang="en-US" dirty="0"/>
                  <a:t>(51)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</a:t>
                </a:r>
                <a:r>
                  <a:rPr lang="en-US" dirty="0"/>
                  <a:t>(52)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60B06-8E79-D63A-7531-D0B25748F2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BBDAA-5187-8013-C593-EF12E61E2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34094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ABBC7-A1A7-F532-7E99-6C66D296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411538-B1DA-147F-F61D-7A947DE6C1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 RA Summary</a:t>
                </a:r>
              </a:p>
              <a:p>
                <a:pPr lvl="1"/>
                <a:r>
                  <a:rPr lang="en-US" dirty="0"/>
                  <a:t>The BS provides tracking and communication services by repeatedly performing: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prediction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resource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allocation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Tracking QoS is measured by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 (46)</a:t>
                </a:r>
              </a:p>
              <a:p>
                <a:pPr lvl="1"/>
                <a:r>
                  <a:rPr lang="en-US" dirty="0"/>
                  <a:t>The optimization problem minimizes total tracking error: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(47)</a:t>
                </a:r>
              </a:p>
              <a:p>
                <a:pPr lvl="1"/>
                <a:r>
                  <a:rPr lang="en-US" dirty="0"/>
                  <a:t>Power and bandwidth are allocated at each epoch to reduce PCRB while satisfying communication QoS.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411538-B1DA-147F-F61D-7A947DE6C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B97C8-8864-7508-1EA2-D4B7CC31C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730532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74A39-D1FF-2CE0-3074-A97FE0F03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AD352A-BCEA-D976-5D01-DC10C8D69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Appendix Proof Idea</a:t>
                </a:r>
              </a:p>
              <a:p>
                <a:pPr lvl="1"/>
                <a:r>
                  <a:rPr lang="en-US" dirty="0"/>
                  <a:t>Appendix: Separate Convexity Proof</a:t>
                </a:r>
              </a:p>
              <a:p>
                <a:pPr lvl="1"/>
                <a:r>
                  <a:rPr lang="en-US" dirty="0"/>
                  <a:t>The appendix proves that the objective is convex with respect to one variable when the other is fixed.</a:t>
                </a:r>
              </a:p>
              <a:p>
                <a:pPr lvl="1"/>
                <a:r>
                  <a:rPr lang="en-US" dirty="0"/>
                  <a:t>The FIM can be written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b="1">
                        <a:latin typeface="Cambria Math" panose="02040503050406030204" pitchFamily="18" charset="0"/>
                      </a:rPr>
                      <m:t>𝐇</m:t>
                    </m:r>
                  </m:oMath>
                </a14:m>
                <a:r>
                  <a:rPr lang="en-US" b="1" dirty="0"/>
                  <a:t>              </a:t>
                </a:r>
                <a:r>
                  <a:rPr lang="en-US" dirty="0"/>
                  <a:t>(53)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</m:oMath>
                </a14:m>
                <a:r>
                  <a:rPr lang="en-US" dirty="0"/>
                  <a:t> is constant from the previous epoch information.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AD352A-BCEA-D976-5D01-DC10C8D69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EE12F-1E1F-7919-A97C-DA7B63FEC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36149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27C98-C77B-B006-A6AC-358CE981D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228146-E807-2E15-36D1-3BD6BFBA6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Fixed Bandwidth Case</a:t>
                </a:r>
              </a:p>
              <a:p>
                <a:pPr lvl="1"/>
                <a:r>
                  <a:rPr lang="en-US" dirty="0"/>
                  <a:t>Convexity with Respect to Power</a:t>
                </a:r>
              </a:p>
              <a:p>
                <a:pPr lvl="2"/>
                <a:r>
                  <a:rPr lang="en-US" dirty="0"/>
                  <a:t>For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the FIM becomes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1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dirty="0"/>
                  <a:t> is constant.</a:t>
                </a:r>
              </a:p>
              <a:p>
                <a:pPr lvl="2"/>
                <a:r>
                  <a:rPr lang="en-US" dirty="0"/>
                  <a:t>The objective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𝐄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Using eigenvalue decomposition, it can be rewritten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0" dirty="0"/>
                  <a:t>     (54)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is convex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nary>
                          <m:naryPr>
                            <m:chr m:val="∑"/>
                            <m:limLoc m:val="undOvr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</m:e>
                    </m:nary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0" dirty="0"/>
                  <a:t>                                                      (55)</a:t>
                </a:r>
              </a:p>
              <a:p>
                <a:pPr lvl="3"/>
                <a:r>
                  <a:rPr lang="en-US" dirty="0"/>
                  <a:t>is convex in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228146-E807-2E15-36D1-3BD6BFBA6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02D05-AC33-E73B-8260-DD6CE317A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pPr/>
              <a:t>119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797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2357</TotalTime>
  <Words>7662</Words>
  <Application>Microsoft Office PowerPoint</Application>
  <PresentationFormat>Widescreen</PresentationFormat>
  <Paragraphs>1581</Paragraphs>
  <Slides>119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5" baseType="lpstr">
      <vt:lpstr>맑은 고딕</vt:lpstr>
      <vt:lpstr>Arial</vt:lpstr>
      <vt:lpstr>Arial Black</vt:lpstr>
      <vt:lpstr>Cambria Math</vt:lpstr>
      <vt:lpstr>Tahoma</vt:lpstr>
      <vt:lpstr>Office 테마</vt:lpstr>
      <vt:lpstr>Sensing as a Service in 6G Perceptive Networks: A Unified Framework for ISAC Resource Allocation</vt:lpstr>
      <vt:lpstr>Table of Contents</vt:lpstr>
      <vt:lpstr>Abstract</vt:lpstr>
      <vt:lpstr>Abstract</vt:lpstr>
      <vt:lpstr>Abstract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Localization</vt:lpstr>
      <vt:lpstr>Target Localization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16</cp:revision>
  <dcterms:created xsi:type="dcterms:W3CDTF">2018-05-20T06:28:16Z</dcterms:created>
  <dcterms:modified xsi:type="dcterms:W3CDTF">2026-06-26T13:13:16Z</dcterms:modified>
</cp:coreProperties>
</file>