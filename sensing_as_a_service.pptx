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1420" r:id="rId2"/>
    <p:sldId id="1557" r:id="rId3"/>
    <p:sldId id="1536" r:id="rId4"/>
    <p:sldId id="1537" r:id="rId5"/>
    <p:sldId id="1538" r:id="rId6"/>
    <p:sldId id="1539" r:id="rId7"/>
    <p:sldId id="1540" r:id="rId8"/>
    <p:sldId id="1541" r:id="rId9"/>
    <p:sldId id="1543" r:id="rId10"/>
    <p:sldId id="1544" r:id="rId11"/>
    <p:sldId id="1545" r:id="rId12"/>
    <p:sldId id="1546" r:id="rId13"/>
    <p:sldId id="1547" r:id="rId14"/>
    <p:sldId id="1548" r:id="rId15"/>
    <p:sldId id="1549" r:id="rId16"/>
    <p:sldId id="1550" r:id="rId17"/>
    <p:sldId id="1551" r:id="rId18"/>
    <p:sldId id="1553" r:id="rId19"/>
    <p:sldId id="1554" r:id="rId20"/>
    <p:sldId id="1555" r:id="rId21"/>
    <p:sldId id="1556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193C43-86CB-4E59-B1EB-ADE4B892B60F}" v="3" dt="2026-03-09T01:02:53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K MD GULAM" userId="3629686c-1963-4ad0-9d90-f64896f145bd" providerId="ADAL" clId="{C1066301-46E8-4A63-ABD9-64A0D5EA0B02}"/>
    <pc:docChg chg="custSel modSld">
      <pc:chgData name="ISHAK MD GULAM" userId="3629686c-1963-4ad0-9d90-f64896f145bd" providerId="ADAL" clId="{C1066301-46E8-4A63-ABD9-64A0D5EA0B02}" dt="2026-03-09T01:06:44.258" v="194" actId="20577"/>
      <pc:docMkLst>
        <pc:docMk/>
      </pc:docMkLst>
      <pc:sldChg chg="modSp mod">
        <pc:chgData name="ISHAK MD GULAM" userId="3629686c-1963-4ad0-9d90-f64896f145bd" providerId="ADAL" clId="{C1066301-46E8-4A63-ABD9-64A0D5EA0B02}" dt="2026-03-09T01:06:44.258" v="194" actId="20577"/>
        <pc:sldMkLst>
          <pc:docMk/>
          <pc:sldMk cId="1157537709" sldId="1420"/>
        </pc:sldMkLst>
        <pc:spChg chg="mod">
          <ac:chgData name="ISHAK MD GULAM" userId="3629686c-1963-4ad0-9d90-f64896f145bd" providerId="ADAL" clId="{C1066301-46E8-4A63-ABD9-64A0D5EA0B02}" dt="2026-03-09T01:03:37.255" v="185" actId="27636"/>
          <ac:spMkLst>
            <pc:docMk/>
            <pc:sldMk cId="1157537709" sldId="1420"/>
            <ac:spMk id="2" creationId="{773E81F8-418E-46B0-BF79-A9E5C85CC220}"/>
          </ac:spMkLst>
        </pc:spChg>
        <pc:spChg chg="mod">
          <ac:chgData name="ISHAK MD GULAM" userId="3629686c-1963-4ad0-9d90-f64896f145bd" providerId="ADAL" clId="{C1066301-46E8-4A63-ABD9-64A0D5EA0B02}" dt="2026-03-09T01:06:44.258" v="194" actId="20577"/>
          <ac:spMkLst>
            <pc:docMk/>
            <pc:sldMk cId="1157537709" sldId="1420"/>
            <ac:spMk id="3" creationId="{9B30F031-E57C-4418-8811-D07BEE7C11F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7A80AD-75C0-4139-8349-D7A56AAE3422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06930-2FBF-4BDF-BB7A-ED0F3C0B85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361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BAEBA-F25F-4473-80C2-25CDA93B21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5EA62A-FC14-43A6-9DFC-64DD0EA5E6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73821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4FBF63-6BE2-44A2-9B92-27824B375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EF48-9CCD-4EE9-BB40-4739D0DAE972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98BBDE-AC92-4490-AADC-B4FE998E9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7C4298-2A89-4F0A-B1C0-77A88295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8C916F-6552-480F-893B-32796E62A980}"/>
              </a:ext>
            </a:extLst>
          </p:cNvPr>
          <p:cNvSpPr/>
          <p:nvPr userDrawn="1"/>
        </p:nvSpPr>
        <p:spPr>
          <a:xfrm>
            <a:off x="838200" y="3599357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5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21520A-C81E-4CF1-AECD-A61D6660DB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8E0C27-FA2C-4144-B7E7-505744E575A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FB215-C15F-4E74-86DC-78FAD0147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4ADD3-F434-478C-876A-1D3933DF4707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1EAFA9-F342-4D37-B503-8DFA950A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22012F-5023-43D1-B1CF-BFE3A893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5CEF90-2A69-4F23-93AB-B8D6AADF74CD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896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8F93D-390F-465E-B0D5-72A75C273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70026"/>
            <a:ext cx="10515600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01743D-6833-4A7C-B35A-0BDDB635A98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2845C-3C54-4151-820C-12503D6F2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F26BB-6A75-410D-A6B0-8FD34915C10D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55650C-CE10-43E1-AA00-22EE20BAA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FE2F95-697E-490C-9C4D-A59E0F91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1879A5-E33B-484A-B193-FE66531AACAC}"/>
              </a:ext>
            </a:extLst>
          </p:cNvPr>
          <p:cNvSpPr/>
          <p:nvPr userDrawn="1"/>
        </p:nvSpPr>
        <p:spPr>
          <a:xfrm>
            <a:off x="838200" y="4413578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86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7D261-400F-43CD-95C8-FE0DF8044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346026-ED45-448B-8D67-475453B7B9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649691"/>
            <a:ext cx="5104598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86C6A5-08D8-440E-B258-B881C64EC21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649691"/>
            <a:ext cx="5181600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9FDB51-62F3-4D1B-B8F7-D40284A70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CDF8-1723-475A-8393-34F016E9B184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744B04-D686-4DE2-BDDC-A3B4F371D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FBE183-4474-4131-AEA4-9ADE4020A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208725-7285-4D04-9690-A0DD84547197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4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BF73A-35E0-4388-AE26-587E20896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9F70A1-A021-4782-95A0-99F4C3203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0FFB53-257A-4315-A28C-9FE12D4C9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A17D5D-46C0-4878-B7E2-BD08FCD075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C2F3F9-8CCB-4F5B-85A6-D7470170D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47C80F-A4FC-4C78-89AB-B072C5C0E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CCD4A-1F8C-4D3E-BDD6-84C4090AF0D6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AD4C5CE-D7DE-4C43-8F9E-7EA5847ED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1C2CFA-CB2F-4476-8491-FBDAB29C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163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B9CC5-A2AF-47C1-8376-B695DF82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A6AA3E-6C10-4BA8-AF8D-ECF436F9C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73545-46C1-49FB-A041-5415163523D0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DE3192-439D-4BEF-8848-4DF7C36D1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05EAAA-CE1A-4578-A8FD-BDB3D530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670823-6C59-4996-843F-A4B8E1292D69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351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FA01BA-2C19-4BC8-9D08-60CC0DEE3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BC6A4-6274-4803-89FF-1DA18D4FE7AA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C921DE2-A0F7-482E-898F-C86B8C830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96F57A-5DCA-4541-B19A-1752D1A3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119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04372-0C6C-4F44-86AB-8DDAF142F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88709-254A-4ED6-9188-74666615F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5872FF-AC9A-49BF-AC6E-F9EA1A406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7015C5-8E89-4986-AA3C-42A3F8FB6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A353D-6971-4305-AB04-6AEE4DD0E048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82C019-EAA8-4CD6-BD5A-68BA9842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776716-556D-4628-94B1-7BC9A3454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15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E144E-AA68-4DFD-9736-416AF8EE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C731A3-5F0D-4649-AF33-2F2F12D18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0070ED-93CE-4C5B-9A13-47766D18C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C3E617-2B4B-4C49-B34C-F13496F5B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5523-461B-44DB-AD97-7C06B206BE7B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88F62D-BB02-4585-B0DB-6C572478F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DA3767-C6FA-46EE-B82E-E441B3360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994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A2004-1E3B-4055-8772-F325E519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9AC7F-90CD-432E-AFBA-09A312E26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CBBB0-BA78-4216-B318-AF5F69D9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620A-9A66-47B0-9218-43F171A33458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AE3B40-907A-49D6-9FA8-D643E4B4A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417526-857D-45AD-9891-D1359E79B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E34BDA-8046-4B35-A748-33A5A9C8C415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787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286F9E-ABB1-47D9-BCD5-5FE077BEA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4F122D-472C-4176-9045-BF5B3ED41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40FC9-5A0B-483C-BEC0-6349DDDF1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86D9-B5F3-454A-8918-B4C99ED5AEDE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FF7ACB-A377-4E38-BF13-4CE4A72C6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E2AD96-62E9-4856-8C7D-4FC6FA78D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34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0155A6-5E23-4681-A0F6-D6378107C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3357F3-390C-49AE-BB15-6F8F57DC0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49691"/>
            <a:ext cx="10515600" cy="45272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9027F-305A-4270-8200-1B8B6B4B7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38399" y="6356350"/>
            <a:ext cx="13331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9D1D2423-15C0-4D7C-B759-40ACCC100800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1B4A95-7775-4330-B809-DA1B22478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F4CA50-4832-40EE-82BE-A431AAD80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13331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A439D109-9F59-4B0B-8E20-D6D3A384B1F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EB3B3E-F3B6-4A77-8CE1-CA270A7A296F}"/>
              </a:ext>
            </a:extLst>
          </p:cNvPr>
          <p:cNvSpPr/>
          <p:nvPr userDrawn="1"/>
        </p:nvSpPr>
        <p:spPr>
          <a:xfrm>
            <a:off x="0" y="0"/>
            <a:ext cx="12192000" cy="235670"/>
          </a:xfrm>
          <a:prstGeom prst="rect">
            <a:avLst/>
          </a:prstGeom>
          <a:gradFill>
            <a:gsLst>
              <a:gs pos="63000">
                <a:schemeClr val="tx1"/>
              </a:gs>
              <a:gs pos="0">
                <a:schemeClr val="tx1"/>
              </a:gs>
              <a:gs pos="8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4D56D-F798-41D4-B204-99B8E8DEAB5A}"/>
              </a:ext>
            </a:extLst>
          </p:cNvPr>
          <p:cNvSpPr txBox="1"/>
          <p:nvPr userDrawn="1"/>
        </p:nvSpPr>
        <p:spPr>
          <a:xfrm>
            <a:off x="8501826" y="6550223"/>
            <a:ext cx="3690174" cy="307777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ognitive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ommunications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ystems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aboratory</a:t>
            </a:r>
            <a:endParaRPr lang="en-US" altLang="ko-KR" sz="14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501637D-BAF8-43B2-A298-C5B3DAB223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077" b="34980"/>
          <a:stretch/>
        </p:blipFill>
        <p:spPr>
          <a:xfrm>
            <a:off x="9886511" y="17253"/>
            <a:ext cx="527404" cy="5262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0D9003C-FC42-4D68-ADBA-ADDEC8861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t="68955" b="6534"/>
          <a:stretch/>
        </p:blipFill>
        <p:spPr>
          <a:xfrm>
            <a:off x="10413915" y="17253"/>
            <a:ext cx="1760832" cy="52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4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E81F8-418E-46B0-BF79-A9E5C85CC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169878"/>
            <a:ext cx="10501993" cy="1418326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003366"/>
                </a:solidFill>
                <a:latin typeface="Arial Black"/>
              </a:rPr>
              <a:t>Sensing as a Service in 6G Perceptive Networks: A Unified Framework for ISAC Resource Allocation</a:t>
            </a:r>
            <a:endParaRPr lang="ko-KR" altLang="en-US" sz="3600" b="0" dirty="0">
              <a:solidFill>
                <a:srgbClr val="0000FF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30F031-E57C-4418-8811-D07BEE7C1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704436"/>
            <a:ext cx="10501993" cy="1418326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404040"/>
                </a:solidFill>
                <a:latin typeface="Arial"/>
              </a:rPr>
              <a:t>Authors: Fuwang Dong, Fan Liu, Yuanhao Cui, Wei Wang, Kaifeng Han, and Zhiqin Wang</a:t>
            </a:r>
            <a:endParaRPr lang="en-US" altLang="ko-KR" dirty="0">
              <a:latin typeface="Arial"/>
              <a:ea typeface="맑은 고딕"/>
              <a:cs typeface="Arial"/>
            </a:endParaRPr>
          </a:p>
          <a:p>
            <a:pPr algn="ctr"/>
            <a:r>
              <a:rPr sz="1600" i="1">
                <a:solidFill>
                  <a:srgbClr val="595959"/>
                </a:solidFill>
                <a:latin typeface="Arial"/>
              </a:rPr>
              <a:t>Published in: IEEE Transactions on Wireless Communications</a:t>
            </a:r>
          </a:p>
          <a:p>
            <a:pPr algn="ctr"/>
            <a:r>
              <a:rPr sz="1600">
                <a:solidFill>
                  <a:srgbClr val="595959"/>
                </a:solidFill>
                <a:latin typeface="Arial"/>
              </a:rPr>
              <a:t>Date of Publication: 10 November 2022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3469BC-9EBF-44CC-97A2-356DEFF55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537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6E06E-21EE-5FE5-38B2-5FD558FD9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F71F7-D60A-AD4F-0FAB-D5BD30D75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Abstract</a:t>
            </a:r>
          </a:p>
          <a:p>
            <a:r>
              <a:rPr dirty="0"/>
              <a:t>Background and motivation</a:t>
            </a:r>
          </a:p>
          <a:p>
            <a:r>
              <a:rPr dirty="0"/>
              <a:t>Sensing QoS metrics</a:t>
            </a:r>
          </a:p>
          <a:p>
            <a:r>
              <a:rPr dirty="0"/>
              <a:t>ISAC resource allocation framework</a:t>
            </a:r>
          </a:p>
          <a:p>
            <a:r>
              <a:rPr dirty="0"/>
              <a:t>Optimization and numerical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21570-056B-3187-35C1-02A9FFC95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936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35F11-E21C-2860-D101-1893C406E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CE45C-BBFE-4CD5-C0A0-0578454A4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>
                <a:solidFill>
                  <a:srgbClr val="0000FF"/>
                </a:solidFill>
              </a:rPr>
              <a:t>Background: Sensing as a Service in 6G</a:t>
            </a:r>
          </a:p>
          <a:p>
            <a:pPr lvl="1"/>
            <a:r>
              <a:rPr dirty="0"/>
              <a:t>5G-Advanced / 6G: communication + sensing</a:t>
            </a:r>
          </a:p>
          <a:p>
            <a:pPr lvl="1"/>
            <a:r>
              <a:rPr dirty="0"/>
              <a:t>Network functions: detect, localize, track</a:t>
            </a:r>
          </a:p>
          <a:p>
            <a:pPr lvl="1"/>
            <a:r>
              <a:rPr dirty="0"/>
              <a:t>Perceptive network: sensing + communication</a:t>
            </a:r>
          </a:p>
          <a:p>
            <a:pPr lvl="1"/>
            <a:r>
              <a:rPr dirty="0"/>
              <a:t>Enabling technology: ISAC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A285D-A9C2-B06E-A9E9-A8558ECF6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565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D2EDF-D567-20A5-992A-7FC14E4B7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Abstract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4CD65-487F-9244-A2F4-80380565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t>4</a:t>
            </a:r>
            <a:endParaRPr lang="ko-KR" alt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35CE942-7EA3-E344-4A83-01F2D98006E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28488622"/>
              </p:ext>
            </p:extLst>
          </p:nvPr>
        </p:nvGraphicFramePr>
        <p:xfrm>
          <a:off x="6379828" y="1732328"/>
          <a:ext cx="5754847" cy="50585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36755">
                  <a:extLst>
                    <a:ext uri="{9D8B030D-6E8A-4147-A177-3AD203B41FA5}">
                      <a16:colId xmlns:a16="http://schemas.microsoft.com/office/drawing/2014/main" val="100706769"/>
                    </a:ext>
                  </a:extLst>
                </a:gridCol>
                <a:gridCol w="2918092">
                  <a:extLst>
                    <a:ext uri="{9D8B030D-6E8A-4147-A177-3AD203B41FA5}">
                      <a16:colId xmlns:a16="http://schemas.microsoft.com/office/drawing/2014/main" val="556734914"/>
                    </a:ext>
                  </a:extLst>
                </a:gridCol>
              </a:tblGrid>
              <a:tr h="7721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Sensing Task</a:t>
                      </a:r>
                    </a:p>
                  </a:txBody>
                  <a:tcPr marL="288576" marR="173146" marT="173146" marB="173146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QoS Metric</a:t>
                      </a:r>
                    </a:p>
                  </a:txBody>
                  <a:tcPr marL="288576" marR="173146" marT="173146" marB="17314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491539"/>
                  </a:ext>
                </a:extLst>
              </a:tr>
              <a:tr h="1264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Target Detection</a:t>
                      </a:r>
                    </a:p>
                  </a:txBody>
                  <a:tcPr marL="288576" marR="173146" marT="173146" marB="173146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Probability of Detection</a:t>
                      </a:r>
                    </a:p>
                  </a:txBody>
                  <a:tcPr marL="288576" marR="173146" marT="173146" marB="17314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333095"/>
                  </a:ext>
                </a:extLst>
              </a:tr>
              <a:tr h="1264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Target Localization</a:t>
                      </a:r>
                    </a:p>
                  </a:txBody>
                  <a:tcPr marL="288576" marR="173146" marT="173146" marB="173146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Cramer-Rao Bound (CRB)</a:t>
                      </a:r>
                    </a:p>
                  </a:txBody>
                  <a:tcPr marL="288576" marR="173146" marT="173146" marB="17314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693169"/>
                  </a:ext>
                </a:extLst>
              </a:tr>
              <a:tr h="1757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Target Tracking</a:t>
                      </a:r>
                    </a:p>
                  </a:txBody>
                  <a:tcPr marL="288576" marR="173146" marT="173146" marB="173146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Posterior Cramer-Rao Bound (PCRB)</a:t>
                      </a:r>
                    </a:p>
                  </a:txBody>
                  <a:tcPr marL="288576" marR="173146" marT="173146" marB="17314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2319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7235392-C7AE-28E5-BAAD-ECC4C5481182}"/>
              </a:ext>
            </a:extLst>
          </p:cNvPr>
          <p:cNvSpPr txBox="1"/>
          <p:nvPr/>
        </p:nvSpPr>
        <p:spPr>
          <a:xfrm>
            <a:off x="830510" y="1665215"/>
            <a:ext cx="5545123" cy="5117284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0000FF"/>
                </a:solidFill>
              </a:rPr>
              <a:t>Sensing QoS Metrics for Different Applications</a:t>
            </a:r>
            <a:endParaRPr lang="en-US" dirty="0">
              <a:solidFill>
                <a:srgbClr val="0000FF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7030A0"/>
                </a:solidFill>
              </a:rPr>
              <a:t>Detection: </a:t>
            </a:r>
            <a:r>
              <a:rPr dirty="0"/>
              <a:t>probability of detection / false alarm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dirty="0">
              <a:solidFill>
                <a:srgbClr val="7030A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7030A0"/>
                </a:solidFill>
              </a:rPr>
              <a:t>Localization: </a:t>
            </a:r>
            <a:r>
              <a:rPr dirty="0"/>
              <a:t>CRB-based accuracy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7030A0"/>
                </a:solidFill>
              </a:rPr>
              <a:t>Tracking: </a:t>
            </a:r>
            <a:r>
              <a:rPr dirty="0"/>
              <a:t>PCRB-based state estimation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dirty="0">
              <a:solidFill>
                <a:srgbClr val="7030A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7030A0"/>
                </a:solidFill>
              </a:rPr>
              <a:t>Key idea: </a:t>
            </a:r>
            <a:r>
              <a:rPr dirty="0"/>
              <a:t>task-specific sensing QoS</a:t>
            </a:r>
          </a:p>
        </p:txBody>
      </p:sp>
    </p:spTree>
    <p:extLst>
      <p:ext uri="{BB962C8B-B14F-4D97-AF65-F5344CB8AC3E}">
        <p14:creationId xmlns:p14="http://schemas.microsoft.com/office/powerpoint/2010/main" val="384374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241C783-EE53-4F43-4EBB-31966E2A0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1D21FEA-D626-174E-8029-E7EA99DDA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>
                <a:solidFill>
                  <a:srgbClr val="0000FF"/>
                </a:solidFill>
              </a:rPr>
              <a:t>Unified ISAC Resource Allocation Framework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Resources</a:t>
            </a:r>
          </a:p>
          <a:p>
            <a:pPr lvl="2"/>
            <a:r>
              <a:rPr dirty="0"/>
              <a:t>Power</a:t>
            </a:r>
          </a:p>
          <a:p>
            <a:pPr lvl="2"/>
            <a:r>
              <a:rPr dirty="0">
                <a:solidFill>
                  <a:srgbClr val="7030A0"/>
                </a:solidFill>
              </a:rPr>
              <a:t>Bandwidth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Optimization criteria</a:t>
            </a:r>
          </a:p>
          <a:p>
            <a:pPr lvl="2"/>
            <a:r>
              <a:rPr dirty="0"/>
              <a:t>Fairness</a:t>
            </a:r>
          </a:p>
          <a:p>
            <a:pPr lvl="2"/>
            <a:r>
              <a:rPr dirty="0"/>
              <a:t>Comprehensiveness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Output: </a:t>
            </a:r>
            <a:r>
              <a:rPr dirty="0"/>
              <a:t>sensing-communication trade-off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920FE-2C53-5CC5-B57A-564D0F8D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5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167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982DB-7C01-9C7E-91E5-5E67BF459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87DE4-83C3-5F45-79B8-CCFB99999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>
                <a:solidFill>
                  <a:srgbClr val="0000FF"/>
                </a:solidFill>
              </a:rPr>
              <a:t>Motivation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Traditional focus: </a:t>
            </a:r>
            <a:r>
              <a:rPr dirty="0"/>
              <a:t>communication QoS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6G requirement: </a:t>
            </a:r>
            <a:r>
              <a:rPr dirty="0"/>
              <a:t>environment-aware services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Example applications</a:t>
            </a:r>
          </a:p>
          <a:p>
            <a:pPr lvl="2"/>
            <a:r>
              <a:rPr dirty="0">
                <a:solidFill>
                  <a:srgbClr val="002060"/>
                </a:solidFill>
              </a:rPr>
              <a:t>Connected vehicles</a:t>
            </a:r>
          </a:p>
          <a:p>
            <a:pPr lvl="2"/>
            <a:r>
              <a:rPr dirty="0">
                <a:solidFill>
                  <a:srgbClr val="002060"/>
                </a:solidFill>
              </a:rPr>
              <a:t>Drone monitoring</a:t>
            </a:r>
          </a:p>
          <a:p>
            <a:pPr lvl="2"/>
            <a:r>
              <a:rPr dirty="0">
                <a:solidFill>
                  <a:srgbClr val="002060"/>
                </a:solidFill>
              </a:rPr>
              <a:t>Smart manufacturing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Current limitation: </a:t>
            </a:r>
            <a:endParaRPr lang="en-US" dirty="0">
              <a:solidFill>
                <a:srgbClr val="7030A0"/>
              </a:solidFill>
            </a:endParaRPr>
          </a:p>
          <a:p>
            <a:pPr lvl="2"/>
            <a:r>
              <a:rPr dirty="0">
                <a:solidFill>
                  <a:srgbClr val="002060"/>
                </a:solidFill>
              </a:rPr>
              <a:t>device-based, low-resolution sensing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DA106-92B2-692C-968B-9B84F8DAE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6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814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95DDA-428A-50DB-5046-E23EA68B8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8E5DE-222D-0AD5-3283-10982A94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45920"/>
            <a:ext cx="4617720" cy="4114800"/>
          </a:xfrm>
        </p:spPr>
        <p:txBody>
          <a:bodyPr wrap="square"/>
          <a:lstStyle/>
          <a:p>
            <a:r>
              <a:rPr dirty="0">
                <a:solidFill>
                  <a:srgbClr val="0000FF"/>
                </a:solidFill>
              </a:rPr>
              <a:t>Perceptive Network and ISAC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Perceptive network services</a:t>
            </a:r>
          </a:p>
          <a:p>
            <a:pPr lvl="2"/>
            <a:r>
              <a:rPr dirty="0"/>
              <a:t>Wireless communication</a:t>
            </a:r>
          </a:p>
          <a:p>
            <a:pPr lvl="2"/>
            <a:r>
              <a:rPr dirty="0"/>
              <a:t>Networked sensing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ISAC role: </a:t>
            </a:r>
            <a:endParaRPr lang="en-US" dirty="0">
              <a:solidFill>
                <a:srgbClr val="7030A0"/>
              </a:solidFill>
            </a:endParaRPr>
          </a:p>
          <a:p>
            <a:pPr lvl="2"/>
            <a:r>
              <a:rPr lang="en-US" dirty="0"/>
              <a:t>S</a:t>
            </a:r>
            <a:r>
              <a:rPr dirty="0"/>
              <a:t>hared cellular infrastructure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Sensing functions: </a:t>
            </a:r>
            <a:endParaRPr lang="en-US" dirty="0">
              <a:solidFill>
                <a:srgbClr val="7030A0"/>
              </a:solidFill>
            </a:endParaRPr>
          </a:p>
          <a:p>
            <a:pPr lvl="2"/>
            <a:r>
              <a:rPr lang="en-US" dirty="0"/>
              <a:t>D</a:t>
            </a:r>
            <a:r>
              <a:rPr dirty="0"/>
              <a:t>etect, </a:t>
            </a:r>
            <a:r>
              <a:rPr lang="en-US" dirty="0"/>
              <a:t>L</a:t>
            </a:r>
            <a:r>
              <a:rPr dirty="0"/>
              <a:t>ocalize, </a:t>
            </a:r>
            <a:r>
              <a:rPr lang="en-US" dirty="0"/>
              <a:t>T</a:t>
            </a:r>
            <a:r>
              <a:rPr dirty="0"/>
              <a:t>rack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A5072-B149-45C9-09BF-81F0E3F58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7</a:t>
            </a: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308521" y="1690382"/>
            <a:ext cx="4106412" cy="3103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600" b="1" dirty="0">
                <a:solidFill>
                  <a:srgbClr val="1F4E79"/>
                </a:solidFill>
              </a:rPr>
              <a:t>ISAC </a:t>
            </a:r>
            <a:r>
              <a:rPr lang="en-US" sz="1600" b="1" dirty="0">
                <a:solidFill>
                  <a:srgbClr val="1F4E79"/>
                </a:solidFill>
              </a:rPr>
              <a:t>C</a:t>
            </a:r>
            <a:r>
              <a:rPr sz="1600" b="1" dirty="0">
                <a:solidFill>
                  <a:srgbClr val="1F4E79"/>
                </a:solidFill>
              </a:rPr>
              <a:t>oncept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17872" y="2863163"/>
            <a:ext cx="914400" cy="530352"/>
          </a:xfrm>
          <a:prstGeom prst="roundRect">
            <a:avLst/>
          </a:prstGeom>
          <a:solidFill>
            <a:srgbClr val="E4DFEC"/>
          </a:solidFill>
          <a:ln w="1143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1100" b="1" dirty="0">
                <a:solidFill>
                  <a:srgbClr val="1F4E79"/>
                </a:solidFill>
              </a:rPr>
              <a:t>BS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9133" y="2020908"/>
            <a:ext cx="960120" cy="384048"/>
          </a:xfrm>
          <a:prstGeom prst="roundRect">
            <a:avLst/>
          </a:prstGeom>
          <a:solidFill>
            <a:srgbClr val="D9EAF7"/>
          </a:solidFill>
          <a:ln w="1143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740" b="1">
                <a:solidFill>
                  <a:srgbClr val="1F4E79"/>
                </a:solidFill>
              </a:rPr>
              <a:t>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88384" y="2016714"/>
            <a:ext cx="960120" cy="384048"/>
          </a:xfrm>
          <a:prstGeom prst="roundRect">
            <a:avLst/>
          </a:prstGeom>
          <a:solidFill>
            <a:srgbClr val="D9EAF7"/>
          </a:solidFill>
          <a:ln w="1143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740" b="1">
                <a:solidFill>
                  <a:srgbClr val="1F4E79"/>
                </a:solidFill>
              </a:rPr>
              <a:t>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44671" y="4051463"/>
            <a:ext cx="960120" cy="384048"/>
          </a:xfrm>
          <a:prstGeom prst="roundRect">
            <a:avLst/>
          </a:prstGeom>
          <a:solidFill>
            <a:srgbClr val="E2F0D9"/>
          </a:solidFill>
          <a:ln w="1143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740" b="1">
                <a:solidFill>
                  <a:srgbClr val="1F4E79"/>
                </a:solidFill>
              </a:rPr>
              <a:t>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1569" y="4013713"/>
            <a:ext cx="960120" cy="384048"/>
          </a:xfrm>
          <a:prstGeom prst="roundRect">
            <a:avLst/>
          </a:prstGeom>
          <a:solidFill>
            <a:srgbClr val="E2F0D9"/>
          </a:solidFill>
          <a:ln w="1143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740" b="1" dirty="0">
                <a:solidFill>
                  <a:srgbClr val="1F4E79"/>
                </a:solidFill>
              </a:rPr>
              <a:t>Target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7549252" y="2284238"/>
            <a:ext cx="365760" cy="566928"/>
          </a:xfrm>
          <a:prstGeom prst="line">
            <a:avLst/>
          </a:prstGeom>
          <a:ln w="127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493853" y="2301017"/>
            <a:ext cx="502920" cy="566928"/>
          </a:xfrm>
          <a:prstGeom prst="line">
            <a:avLst/>
          </a:prstGeom>
          <a:ln w="127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978969" y="3311554"/>
            <a:ext cx="768096" cy="731520"/>
          </a:xfrm>
          <a:prstGeom prst="line">
            <a:avLst/>
          </a:prstGeom>
          <a:ln w="1270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642758" y="3298970"/>
            <a:ext cx="941832" cy="731520"/>
          </a:xfrm>
          <a:prstGeom prst="line">
            <a:avLst/>
          </a:prstGeom>
          <a:ln w="1270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17393" y="4617720"/>
            <a:ext cx="3098733" cy="270843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ctr"/>
            <a:r>
              <a:rPr lang="en-US" sz="1400" dirty="0">
                <a:solidFill>
                  <a:srgbClr val="666666"/>
                </a:solidFill>
              </a:rPr>
              <a:t>C</a:t>
            </a:r>
            <a:r>
              <a:rPr sz="1400" b="0" dirty="0">
                <a:solidFill>
                  <a:srgbClr val="666666"/>
                </a:solidFill>
              </a:rPr>
              <a:t>ommunication links + </a:t>
            </a:r>
            <a:r>
              <a:rPr lang="en-US" sz="1400" b="0" dirty="0">
                <a:solidFill>
                  <a:srgbClr val="666666"/>
                </a:solidFill>
              </a:rPr>
              <a:t>S</a:t>
            </a:r>
            <a:r>
              <a:rPr sz="1400" b="0" dirty="0">
                <a:solidFill>
                  <a:srgbClr val="666666"/>
                </a:solidFill>
              </a:rPr>
              <a:t>ensing links</a:t>
            </a:r>
          </a:p>
        </p:txBody>
      </p:sp>
    </p:spTree>
    <p:extLst>
      <p:ext uri="{BB962C8B-B14F-4D97-AF65-F5344CB8AC3E}">
        <p14:creationId xmlns:p14="http://schemas.microsoft.com/office/powerpoint/2010/main" val="3874187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0B41F-71D3-5D28-33B4-2F12C6E5D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4BD19-CCDC-0912-F26F-7A8E6DA30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>
                <a:solidFill>
                  <a:srgbClr val="0000FF"/>
                </a:solidFill>
              </a:rPr>
              <a:t>Main Gains of ISAC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Integration gain</a:t>
            </a:r>
          </a:p>
          <a:p>
            <a:pPr lvl="2"/>
            <a:r>
              <a:rPr dirty="0">
                <a:solidFill>
                  <a:srgbClr val="002060"/>
                </a:solidFill>
              </a:rPr>
              <a:t>Shared spectrum</a:t>
            </a:r>
          </a:p>
          <a:p>
            <a:pPr lvl="2"/>
            <a:r>
              <a:rPr dirty="0">
                <a:solidFill>
                  <a:srgbClr val="002060"/>
                </a:solidFill>
              </a:rPr>
              <a:t>Shared energy</a:t>
            </a:r>
          </a:p>
          <a:p>
            <a:pPr lvl="2"/>
            <a:r>
              <a:rPr dirty="0">
                <a:solidFill>
                  <a:srgbClr val="002060"/>
                </a:solidFill>
              </a:rPr>
              <a:t>Shared hardware platforms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Coordination gain</a:t>
            </a:r>
          </a:p>
          <a:p>
            <a:pPr lvl="2"/>
            <a:r>
              <a:rPr dirty="0">
                <a:solidFill>
                  <a:srgbClr val="0070C0"/>
                </a:solidFill>
              </a:rPr>
              <a:t>Mutual assistance </a:t>
            </a:r>
            <a:r>
              <a:rPr dirty="0"/>
              <a:t>between sensing and communication</a:t>
            </a:r>
          </a:p>
          <a:p>
            <a:pPr lvl="1"/>
            <a:r>
              <a:rPr dirty="0"/>
              <a:t>Open issue: </a:t>
            </a:r>
            <a:endParaRPr lang="en-US" dirty="0"/>
          </a:p>
          <a:p>
            <a:pPr lvl="2"/>
            <a:r>
              <a:rPr lang="en-US" dirty="0"/>
              <a:t>S</a:t>
            </a:r>
            <a:r>
              <a:rPr dirty="0"/>
              <a:t>ensing QoS is less mature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1E116-C153-0E23-20B9-9D4CB499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8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4524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1B36D-E49E-2FE3-D992-9C39B3D55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8041D-EA68-986C-5D46-22336702C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45920"/>
            <a:ext cx="4617720" cy="4114800"/>
          </a:xfrm>
        </p:spPr>
        <p:txBody>
          <a:bodyPr wrap="square"/>
          <a:lstStyle/>
          <a:p>
            <a:r>
              <a:rPr dirty="0">
                <a:solidFill>
                  <a:srgbClr val="0000FF"/>
                </a:solidFill>
              </a:rPr>
              <a:t>Localization QoS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Target parameters</a:t>
            </a:r>
          </a:p>
          <a:p>
            <a:pPr lvl="2"/>
            <a:r>
              <a:rPr dirty="0">
                <a:solidFill>
                  <a:srgbClr val="002060"/>
                </a:solidFill>
              </a:rPr>
              <a:t>Time delay</a:t>
            </a:r>
          </a:p>
          <a:p>
            <a:pPr lvl="2"/>
            <a:r>
              <a:rPr dirty="0">
                <a:solidFill>
                  <a:srgbClr val="002060"/>
                </a:solidFill>
              </a:rPr>
              <a:t>Angle of arrival</a:t>
            </a:r>
          </a:p>
          <a:p>
            <a:pPr lvl="2"/>
            <a:r>
              <a:rPr dirty="0">
                <a:solidFill>
                  <a:srgbClr val="002060"/>
                </a:solidFill>
              </a:rPr>
              <a:t>Range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Metric: </a:t>
            </a:r>
            <a:endParaRPr lang="en-US" dirty="0">
              <a:solidFill>
                <a:srgbClr val="7030A0"/>
              </a:solidFill>
            </a:endParaRPr>
          </a:p>
          <a:p>
            <a:pPr lvl="2"/>
            <a:r>
              <a:rPr dirty="0">
                <a:solidFill>
                  <a:srgbClr val="002060"/>
                </a:solidFill>
              </a:rPr>
              <a:t>CRB</a:t>
            </a:r>
          </a:p>
          <a:p>
            <a:r>
              <a:rPr dirty="0">
                <a:solidFill>
                  <a:srgbClr val="7030A0"/>
                </a:solidFill>
              </a:rPr>
              <a:t>Tracking QoS</a:t>
            </a:r>
          </a:p>
          <a:p>
            <a:pPr lvl="1"/>
            <a:r>
              <a:rPr dirty="0">
                <a:solidFill>
                  <a:srgbClr val="002060"/>
                </a:solidFill>
              </a:rPr>
              <a:t>Metric: </a:t>
            </a:r>
            <a:endParaRPr lang="en-US" dirty="0">
              <a:solidFill>
                <a:srgbClr val="002060"/>
              </a:solidFill>
            </a:endParaRPr>
          </a:p>
          <a:p>
            <a:pPr lvl="2"/>
            <a:r>
              <a:rPr dirty="0">
                <a:solidFill>
                  <a:srgbClr val="0070C0"/>
                </a:solidFill>
              </a:rPr>
              <a:t>PCRB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A8897-D39B-D9BC-B078-83BD6D24F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9</a:t>
            </a: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014906" y="1824605"/>
            <a:ext cx="4274191" cy="301621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600" b="1" dirty="0">
                <a:solidFill>
                  <a:srgbClr val="1F4E79"/>
                </a:solidFill>
              </a:rPr>
              <a:t>Localization </a:t>
            </a:r>
            <a:r>
              <a:rPr lang="en-US" sz="1600" b="1" dirty="0">
                <a:solidFill>
                  <a:srgbClr val="1F4E79"/>
                </a:solidFill>
              </a:rPr>
              <a:t>C</a:t>
            </a:r>
            <a:r>
              <a:rPr sz="1600" b="1" dirty="0">
                <a:solidFill>
                  <a:srgbClr val="1F4E79"/>
                </a:solidFill>
              </a:rPr>
              <a:t>oncept</a:t>
            </a:r>
          </a:p>
        </p:txBody>
      </p:sp>
      <p:sp>
        <p:nvSpPr>
          <p:cNvPr id="6" name="Oval 5"/>
          <p:cNvSpPr/>
          <p:nvPr/>
        </p:nvSpPr>
        <p:spPr>
          <a:xfrm>
            <a:off x="6933921" y="2201690"/>
            <a:ext cx="2743200" cy="27432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70147" y="2658890"/>
            <a:ext cx="1828800" cy="18288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818958" y="3149646"/>
            <a:ext cx="914400" cy="9144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991183" y="3435123"/>
            <a:ext cx="594360" cy="310896"/>
          </a:xfrm>
          <a:prstGeom prst="roundRect">
            <a:avLst/>
          </a:prstGeom>
          <a:solidFill>
            <a:srgbClr val="D9EAF7"/>
          </a:solidFill>
          <a:ln w="1143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740" b="1">
                <a:solidFill>
                  <a:srgbClr val="1F4E79"/>
                </a:solidFill>
              </a:rPr>
              <a:t>BS</a:t>
            </a:r>
          </a:p>
        </p:txBody>
      </p:sp>
      <p:sp>
        <p:nvSpPr>
          <p:cNvPr id="10" name="Oval 9"/>
          <p:cNvSpPr/>
          <p:nvPr/>
        </p:nvSpPr>
        <p:spPr>
          <a:xfrm>
            <a:off x="9520834" y="2603439"/>
            <a:ext cx="256032" cy="256032"/>
          </a:xfrm>
          <a:prstGeom prst="ellipse">
            <a:avLst/>
          </a:prstGeom>
          <a:solidFill>
            <a:srgbClr val="E2F0D9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31416" y="2327945"/>
            <a:ext cx="700481" cy="16927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740" b="1" dirty="0">
                <a:solidFill>
                  <a:srgbClr val="70AD47"/>
                </a:solidFill>
              </a:rPr>
              <a:t>Target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8552994" y="2806956"/>
            <a:ext cx="978409" cy="448056"/>
          </a:xfrm>
          <a:prstGeom prst="line">
            <a:avLst/>
          </a:prstGeom>
          <a:ln w="1270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765720" y="5100506"/>
            <a:ext cx="3800213" cy="33239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lang="en-US" dirty="0">
                <a:solidFill>
                  <a:srgbClr val="666666"/>
                </a:solidFill>
              </a:rPr>
              <a:t>P</a:t>
            </a:r>
            <a:r>
              <a:rPr b="0" dirty="0">
                <a:solidFill>
                  <a:srgbClr val="666666"/>
                </a:solidFill>
              </a:rPr>
              <a:t>osition from range / angle</a:t>
            </a:r>
          </a:p>
        </p:txBody>
      </p:sp>
    </p:spTree>
    <p:extLst>
      <p:ext uri="{BB962C8B-B14F-4D97-AF65-F5344CB8AC3E}">
        <p14:creationId xmlns:p14="http://schemas.microsoft.com/office/powerpoint/2010/main" val="26098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DE7FE-22BF-FE9A-23A9-348C30698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A7230-DCC3-8305-2C8C-54CAF447C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>
                <a:solidFill>
                  <a:srgbClr val="0000FF"/>
                </a:solidFill>
              </a:rPr>
              <a:t>Different Sensing QoS Requirements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High sensing QoS</a:t>
            </a:r>
          </a:p>
          <a:p>
            <a:pPr lvl="2"/>
            <a:r>
              <a:rPr dirty="0"/>
              <a:t>Pedestrians</a:t>
            </a:r>
          </a:p>
          <a:p>
            <a:pPr lvl="2"/>
            <a:r>
              <a:rPr dirty="0"/>
              <a:t>Fast-moving vehicles</a:t>
            </a:r>
          </a:p>
          <a:p>
            <a:pPr lvl="2"/>
            <a:r>
              <a:rPr dirty="0"/>
              <a:t>Safety-critical targets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Lower sensing QoS</a:t>
            </a:r>
          </a:p>
          <a:p>
            <a:pPr lvl="2"/>
            <a:r>
              <a:rPr dirty="0"/>
              <a:t>Static objects</a:t>
            </a:r>
          </a:p>
          <a:p>
            <a:pPr lvl="2"/>
            <a:r>
              <a:rPr dirty="0"/>
              <a:t>Low-risk objects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Allocation principle: </a:t>
            </a:r>
            <a:endParaRPr lang="en-US" dirty="0">
              <a:solidFill>
                <a:srgbClr val="7030A0"/>
              </a:solidFill>
            </a:endParaRPr>
          </a:p>
          <a:p>
            <a:pPr lvl="2"/>
            <a:r>
              <a:rPr lang="en-US" dirty="0"/>
              <a:t>U</a:t>
            </a:r>
            <a:r>
              <a:rPr dirty="0"/>
              <a:t>ser-specific S&amp;C needs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E6F24-EDEE-8C37-AAB2-8F1BC8F5A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10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1322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BA00D-CCA5-98D5-2A56-5405DE5C4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55A48-A527-09E2-4B7A-403312442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45920"/>
            <a:ext cx="4617720" cy="4114800"/>
          </a:xfrm>
        </p:spPr>
        <p:txBody>
          <a:bodyPr wrap="square"/>
          <a:lstStyle/>
          <a:p>
            <a:r>
              <a:rPr dirty="0">
                <a:solidFill>
                  <a:srgbClr val="0000FF"/>
                </a:solidFill>
              </a:rPr>
              <a:t>Need for Resource Allocation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More resources: </a:t>
            </a:r>
            <a:endParaRPr lang="en-US" dirty="0">
              <a:solidFill>
                <a:srgbClr val="7030A0"/>
              </a:solidFill>
            </a:endParaRPr>
          </a:p>
          <a:p>
            <a:pPr lvl="2"/>
            <a:r>
              <a:rPr lang="en-US" dirty="0">
                <a:solidFill>
                  <a:srgbClr val="002060"/>
                </a:solidFill>
              </a:rPr>
              <a:t>B</a:t>
            </a:r>
            <a:r>
              <a:rPr dirty="0">
                <a:solidFill>
                  <a:srgbClr val="002060"/>
                </a:solidFill>
              </a:rPr>
              <a:t>etter QoS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Practical constraint:</a:t>
            </a:r>
            <a:endParaRPr lang="en-US" dirty="0">
              <a:solidFill>
                <a:srgbClr val="7030A0"/>
              </a:solidFill>
            </a:endParaRPr>
          </a:p>
          <a:p>
            <a:pPr lvl="2"/>
            <a:r>
              <a:rPr lang="en-US" dirty="0">
                <a:solidFill>
                  <a:srgbClr val="002060"/>
                </a:solidFill>
              </a:rPr>
              <a:t>L</a:t>
            </a:r>
            <a:r>
              <a:rPr dirty="0">
                <a:solidFill>
                  <a:srgbClr val="002060"/>
                </a:solidFill>
              </a:rPr>
              <a:t>imited resources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Key resources</a:t>
            </a:r>
            <a:r>
              <a:rPr lang="en-US" dirty="0">
                <a:solidFill>
                  <a:srgbClr val="7030A0"/>
                </a:solidFill>
              </a:rPr>
              <a:t>:</a:t>
            </a:r>
            <a:endParaRPr dirty="0">
              <a:solidFill>
                <a:srgbClr val="7030A0"/>
              </a:solidFill>
            </a:endParaRPr>
          </a:p>
          <a:p>
            <a:pPr lvl="2"/>
            <a:r>
              <a:rPr dirty="0">
                <a:solidFill>
                  <a:srgbClr val="7030A0"/>
                </a:solidFill>
              </a:rPr>
              <a:t>Transmit power</a:t>
            </a:r>
          </a:p>
          <a:p>
            <a:pPr lvl="2"/>
            <a:r>
              <a:rPr dirty="0">
                <a:solidFill>
                  <a:srgbClr val="7030A0"/>
                </a:solidFill>
              </a:rPr>
              <a:t>Bandwidth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Result: </a:t>
            </a:r>
            <a:endParaRPr lang="en-US" dirty="0">
              <a:solidFill>
                <a:srgbClr val="7030A0"/>
              </a:solidFill>
            </a:endParaRPr>
          </a:p>
          <a:p>
            <a:pPr lvl="2"/>
            <a:r>
              <a:rPr lang="en-US" dirty="0">
                <a:solidFill>
                  <a:srgbClr val="002060"/>
                </a:solidFill>
              </a:rPr>
              <a:t>S</a:t>
            </a:r>
            <a:r>
              <a:rPr dirty="0">
                <a:solidFill>
                  <a:srgbClr val="002060"/>
                </a:solidFill>
              </a:rPr>
              <a:t>ervice trade-offs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01686-6D0B-E07D-07AB-C1DC558C5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11</a:t>
            </a: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597940" y="1828800"/>
            <a:ext cx="4408416" cy="301621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600" b="1" dirty="0">
                <a:solidFill>
                  <a:srgbClr val="1F4E79"/>
                </a:solidFill>
              </a:rPr>
              <a:t>Resource </a:t>
            </a:r>
            <a:r>
              <a:rPr lang="en-US" sz="1600" b="1" dirty="0">
                <a:solidFill>
                  <a:srgbClr val="1F4E79"/>
                </a:solidFill>
              </a:rPr>
              <a:t>A</a:t>
            </a:r>
            <a:r>
              <a:rPr sz="1600" b="1" dirty="0">
                <a:solidFill>
                  <a:srgbClr val="1F4E79"/>
                </a:solidFill>
              </a:rPr>
              <a:t>llocation </a:t>
            </a:r>
            <a:r>
              <a:rPr lang="en-US" sz="1600" b="1" dirty="0">
                <a:solidFill>
                  <a:srgbClr val="1F4E79"/>
                </a:solidFill>
              </a:rPr>
              <a:t>C</a:t>
            </a:r>
            <a:r>
              <a:rPr sz="1600" b="1" dirty="0">
                <a:solidFill>
                  <a:srgbClr val="1F4E79"/>
                </a:solidFill>
              </a:rPr>
              <a:t>oncept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31156" y="2367373"/>
            <a:ext cx="1024128" cy="457200"/>
          </a:xfrm>
          <a:prstGeom prst="roundRect">
            <a:avLst/>
          </a:prstGeom>
          <a:solidFill>
            <a:srgbClr val="D9EAF7"/>
          </a:solidFill>
          <a:ln w="1143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780" b="1">
                <a:solidFill>
                  <a:srgbClr val="1F4E79"/>
                </a:solidFill>
              </a:rPr>
              <a:t>Power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1764" y="3741070"/>
            <a:ext cx="1024128" cy="457200"/>
          </a:xfrm>
          <a:prstGeom prst="roundRect">
            <a:avLst/>
          </a:prstGeom>
          <a:solidFill>
            <a:srgbClr val="D9EAF7"/>
          </a:solidFill>
          <a:ln w="1143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780" b="1" dirty="0">
                <a:solidFill>
                  <a:srgbClr val="1F4E79"/>
                </a:solidFill>
              </a:rPr>
              <a:t>Bandwidth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59551" y="3107618"/>
            <a:ext cx="1005840" cy="530352"/>
          </a:xfrm>
          <a:prstGeom prst="roundRect">
            <a:avLst/>
          </a:prstGeom>
          <a:solidFill>
            <a:srgbClr val="E4DFEC"/>
          </a:solidFill>
          <a:ln w="1143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800" b="1">
                <a:solidFill>
                  <a:srgbClr val="1F4E79"/>
                </a:solidFill>
              </a:rPr>
              <a:t>Allocator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30116" y="2780531"/>
            <a:ext cx="484632" cy="301752"/>
          </a:xfrm>
          <a:prstGeom prst="line">
            <a:avLst/>
          </a:prstGeom>
          <a:ln w="1143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7691698" y="3564902"/>
            <a:ext cx="484632" cy="228600"/>
          </a:xfrm>
          <a:prstGeom prst="line">
            <a:avLst/>
          </a:prstGeom>
          <a:ln w="1143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450618" y="2321653"/>
            <a:ext cx="960120" cy="438912"/>
          </a:xfrm>
          <a:prstGeom prst="roundRect">
            <a:avLst/>
          </a:prstGeom>
          <a:solidFill>
            <a:srgbClr val="E2F0D9"/>
          </a:solidFill>
          <a:ln w="1143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750" b="1" dirty="0">
                <a:solidFill>
                  <a:srgbClr val="1F4E79"/>
                </a:solidFill>
              </a:rPr>
              <a:t>Sensing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97424" y="3861452"/>
            <a:ext cx="960120" cy="438912"/>
          </a:xfrm>
          <a:prstGeom prst="roundRect">
            <a:avLst/>
          </a:prstGeom>
          <a:solidFill>
            <a:srgbClr val="FCE4D6"/>
          </a:solidFill>
          <a:ln w="1143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750" b="1">
                <a:solidFill>
                  <a:srgbClr val="1F4E79"/>
                </a:solidFill>
              </a:rPr>
              <a:t>Comm.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9001807" y="2721473"/>
            <a:ext cx="457200" cy="374904"/>
          </a:xfrm>
          <a:prstGeom prst="line">
            <a:avLst/>
          </a:prstGeom>
          <a:ln w="1143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57003" y="3509618"/>
            <a:ext cx="457200" cy="365760"/>
          </a:xfrm>
          <a:prstGeom prst="line">
            <a:avLst/>
          </a:prstGeom>
          <a:ln w="1143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66390" y="4681058"/>
            <a:ext cx="3917658" cy="60939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lang="en-US" dirty="0">
                <a:solidFill>
                  <a:srgbClr val="666666"/>
                </a:solidFill>
              </a:rPr>
              <a:t>S</a:t>
            </a:r>
            <a:r>
              <a:rPr b="0" dirty="0">
                <a:solidFill>
                  <a:srgbClr val="666666"/>
                </a:solidFill>
              </a:rPr>
              <a:t>plit scarce resources by QoS priority</a:t>
            </a:r>
          </a:p>
        </p:txBody>
      </p:sp>
    </p:spTree>
    <p:extLst>
      <p:ext uri="{BB962C8B-B14F-4D97-AF65-F5344CB8AC3E}">
        <p14:creationId xmlns:p14="http://schemas.microsoft.com/office/powerpoint/2010/main" val="2652865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3860-EC41-5415-42DF-78EDC7983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30CC8-C7B2-FA7A-918C-3C9F5506B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>
                <a:solidFill>
                  <a:srgbClr val="0000FF"/>
                </a:solidFill>
              </a:rPr>
              <a:t>Communication Resource Allocation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Communication rate: </a:t>
            </a:r>
            <a:endParaRPr lang="en-US" dirty="0">
              <a:solidFill>
                <a:srgbClr val="7030A0"/>
              </a:solidFill>
            </a:endParaRPr>
          </a:p>
          <a:p>
            <a:pPr lvl="2"/>
            <a:r>
              <a:rPr lang="en-US" dirty="0">
                <a:solidFill>
                  <a:srgbClr val="002060"/>
                </a:solidFill>
              </a:rPr>
              <a:t>P</a:t>
            </a:r>
            <a:r>
              <a:rPr dirty="0">
                <a:solidFill>
                  <a:srgbClr val="002060"/>
                </a:solidFill>
              </a:rPr>
              <a:t>ower + </a:t>
            </a:r>
            <a:r>
              <a:rPr lang="en-US" dirty="0">
                <a:solidFill>
                  <a:srgbClr val="002060"/>
                </a:solidFill>
              </a:rPr>
              <a:t>B</a:t>
            </a:r>
            <a:r>
              <a:rPr dirty="0">
                <a:solidFill>
                  <a:srgbClr val="002060"/>
                </a:solidFill>
              </a:rPr>
              <a:t>andwidth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Existing communication RA domains</a:t>
            </a:r>
          </a:p>
          <a:p>
            <a:pPr lvl="2"/>
            <a:r>
              <a:rPr dirty="0"/>
              <a:t>OFDM</a:t>
            </a:r>
          </a:p>
          <a:p>
            <a:pPr lvl="2"/>
            <a:r>
              <a:rPr dirty="0"/>
              <a:t>LTE-Advanced D2D</a:t>
            </a:r>
          </a:p>
          <a:p>
            <a:pPr lvl="2"/>
            <a:r>
              <a:rPr dirty="0"/>
              <a:t>5G network slicing</a:t>
            </a:r>
          </a:p>
          <a:p>
            <a:pPr lvl="2"/>
            <a:r>
              <a:rPr dirty="0"/>
              <a:t>NOMA</a:t>
            </a:r>
            <a:endParaRPr lang="en-US" dirty="0"/>
          </a:p>
          <a:p>
            <a:pPr lvl="2"/>
            <a:r>
              <a:rPr lang="en-US" dirty="0"/>
              <a:t>Achievable rate</a:t>
            </a:r>
          </a:p>
          <a:p>
            <a:pPr lvl="2"/>
            <a:r>
              <a:rPr lang="en-US" dirty="0"/>
              <a:t>Spectral efficiency </a:t>
            </a:r>
          </a:p>
          <a:p>
            <a:pPr lvl="2"/>
            <a:r>
              <a:rPr lang="en-US" dirty="0"/>
              <a:t>Energy efficiency </a:t>
            </a:r>
          </a:p>
          <a:p>
            <a:pPr lvl="2"/>
            <a:r>
              <a:rPr lang="en-US" dirty="0"/>
              <a:t>Reliability</a:t>
            </a:r>
            <a:endParaRPr dirty="0"/>
          </a:p>
          <a:p>
            <a:r>
              <a:rPr dirty="0">
                <a:solidFill>
                  <a:srgbClr val="0000FF"/>
                </a:solidFill>
              </a:rPr>
              <a:t>Sensing Resource Allocation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Less explored than communication RA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Also strongly affected by power and bandwidth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BDF7B-BA31-E0A5-630D-26BBB8114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12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786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9B513-DCFF-DCF9-D775-445C26963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016AD-1EA6-D7AB-6652-FC1742F8A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>
                <a:solidFill>
                  <a:srgbClr val="0000FF"/>
                </a:solidFill>
              </a:rPr>
              <a:t>ISAC Resource Allocation Gap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Existing ISAC RA studies</a:t>
            </a:r>
          </a:p>
          <a:p>
            <a:pPr lvl="2"/>
            <a:r>
              <a:rPr dirty="0">
                <a:solidFill>
                  <a:srgbClr val="002060"/>
                </a:solidFill>
              </a:rPr>
              <a:t>Radar / information-signal power allocation</a:t>
            </a:r>
          </a:p>
          <a:p>
            <a:pPr lvl="2"/>
            <a:r>
              <a:rPr dirty="0">
                <a:solidFill>
                  <a:srgbClr val="002060"/>
                </a:solidFill>
              </a:rPr>
              <a:t>OFDM-ISAC power allocation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Main limitations</a:t>
            </a:r>
          </a:p>
          <a:p>
            <a:pPr lvl="2"/>
            <a:r>
              <a:rPr dirty="0">
                <a:solidFill>
                  <a:srgbClr val="002060"/>
                </a:solidFill>
              </a:rPr>
              <a:t>Scenario-specific formulations</a:t>
            </a:r>
          </a:p>
          <a:p>
            <a:pPr lvl="2"/>
            <a:r>
              <a:rPr dirty="0">
                <a:solidFill>
                  <a:srgbClr val="002060"/>
                </a:solidFill>
              </a:rPr>
              <a:t>Power-only focus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Gap: </a:t>
            </a:r>
            <a:endParaRPr lang="en-US" dirty="0">
              <a:solidFill>
                <a:srgbClr val="7030A0"/>
              </a:solidFill>
            </a:endParaRPr>
          </a:p>
          <a:p>
            <a:pPr lvl="2"/>
            <a:r>
              <a:rPr lang="en-US" dirty="0"/>
              <a:t>N</a:t>
            </a:r>
            <a:r>
              <a:rPr dirty="0"/>
              <a:t>etwork-level power + bandwidth allocation</a:t>
            </a:r>
            <a:endParaRPr lang="en-US" dirty="0"/>
          </a:p>
          <a:p>
            <a:pPr lvl="2"/>
            <a:r>
              <a:rPr lang="en-US" dirty="0"/>
              <a:t>Existing works do not fully address the </a:t>
            </a:r>
            <a:r>
              <a:rPr lang="en-US" dirty="0">
                <a:solidFill>
                  <a:srgbClr val="002060"/>
                </a:solidFill>
              </a:rPr>
              <a:t>trade-off between communication QoS and different sensing QoS metrics.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E3D91-AAD3-2470-B459-F3F50857E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805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2C922-2A8C-AE0F-86C1-7D896B36F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BD85E-EA43-693D-374F-CA5B2090B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>
                <a:solidFill>
                  <a:srgbClr val="0000FF"/>
                </a:solidFill>
              </a:rPr>
              <a:t>Motivation of This Work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Conventional RA trade-offs</a:t>
            </a:r>
          </a:p>
          <a:p>
            <a:pPr lvl="2"/>
            <a:r>
              <a:rPr dirty="0">
                <a:solidFill>
                  <a:srgbClr val="002060"/>
                </a:solidFill>
              </a:rPr>
              <a:t>Among communication users</a:t>
            </a:r>
          </a:p>
          <a:p>
            <a:pPr lvl="2"/>
            <a:r>
              <a:rPr dirty="0">
                <a:solidFill>
                  <a:srgbClr val="002060"/>
                </a:solidFill>
              </a:rPr>
              <a:t>Among radar / sensing targets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New ISAC trade-off</a:t>
            </a:r>
          </a:p>
          <a:p>
            <a:pPr lvl="2"/>
            <a:r>
              <a:rPr dirty="0">
                <a:solidFill>
                  <a:srgbClr val="002060"/>
                </a:solidFill>
              </a:rPr>
              <a:t>Sensing service vs. communication service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Challenge: </a:t>
            </a:r>
            <a:endParaRPr lang="en-US" dirty="0">
              <a:solidFill>
                <a:srgbClr val="7030A0"/>
              </a:solidFill>
            </a:endParaRPr>
          </a:p>
          <a:p>
            <a:pPr lvl="2"/>
            <a:r>
              <a:rPr lang="en-US" dirty="0">
                <a:solidFill>
                  <a:srgbClr val="002060"/>
                </a:solidFill>
              </a:rPr>
              <a:t>S</a:t>
            </a:r>
            <a:r>
              <a:rPr dirty="0">
                <a:solidFill>
                  <a:srgbClr val="002060"/>
                </a:solidFill>
              </a:rPr>
              <a:t>ame resource has different value for each service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884C4-5603-0553-1FE6-61CC7C118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200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53725-D769-724B-971C-D7A6B2084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B459E-F6CC-89A4-7154-997C8FEA8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>
                <a:solidFill>
                  <a:srgbClr val="0000FF"/>
                </a:solidFill>
              </a:rPr>
              <a:t>Considered System Model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Scenario: </a:t>
            </a:r>
            <a:endParaRPr lang="en-US" dirty="0">
              <a:solidFill>
                <a:srgbClr val="7030A0"/>
              </a:solidFill>
            </a:endParaRPr>
          </a:p>
          <a:p>
            <a:pPr lvl="2"/>
            <a:r>
              <a:rPr lang="en-US" dirty="0">
                <a:solidFill>
                  <a:srgbClr val="002060"/>
                </a:solidFill>
              </a:rPr>
              <a:t>S</a:t>
            </a:r>
            <a:r>
              <a:rPr dirty="0">
                <a:solidFill>
                  <a:srgbClr val="002060"/>
                </a:solidFill>
              </a:rPr>
              <a:t>ingle-cell ISAC system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Base station: </a:t>
            </a:r>
            <a:endParaRPr lang="en-US" dirty="0">
              <a:solidFill>
                <a:srgbClr val="7030A0"/>
              </a:solidFill>
            </a:endParaRPr>
          </a:p>
          <a:p>
            <a:pPr lvl="2"/>
            <a:r>
              <a:rPr dirty="0">
                <a:solidFill>
                  <a:srgbClr val="002060"/>
                </a:solidFill>
              </a:rPr>
              <a:t>MIMO BS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Provided services</a:t>
            </a:r>
            <a:r>
              <a:rPr lang="en-US" dirty="0">
                <a:solidFill>
                  <a:srgbClr val="7030A0"/>
                </a:solidFill>
              </a:rPr>
              <a:t>:</a:t>
            </a:r>
            <a:endParaRPr dirty="0">
              <a:solidFill>
                <a:srgbClr val="7030A0"/>
              </a:solidFill>
            </a:endParaRPr>
          </a:p>
          <a:p>
            <a:pPr lvl="2"/>
            <a:r>
              <a:rPr dirty="0"/>
              <a:t>Communication service</a:t>
            </a:r>
          </a:p>
          <a:p>
            <a:pPr lvl="2"/>
            <a:r>
              <a:rPr dirty="0"/>
              <a:t>Device-free sensing service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Allocation variables: </a:t>
            </a:r>
            <a:endParaRPr lang="en-US" dirty="0">
              <a:solidFill>
                <a:srgbClr val="7030A0"/>
              </a:solidFill>
            </a:endParaRPr>
          </a:p>
          <a:p>
            <a:pPr lvl="2"/>
            <a:r>
              <a:rPr lang="en-US" dirty="0">
                <a:solidFill>
                  <a:srgbClr val="002060"/>
                </a:solidFill>
              </a:rPr>
              <a:t>T</a:t>
            </a:r>
            <a:r>
              <a:rPr dirty="0">
                <a:solidFill>
                  <a:srgbClr val="002060"/>
                </a:solidFill>
              </a:rPr>
              <a:t>ransmit power and bandwidth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Future work: </a:t>
            </a:r>
            <a:endParaRPr lang="en-US" dirty="0">
              <a:solidFill>
                <a:srgbClr val="7030A0"/>
              </a:solidFill>
            </a:endParaRPr>
          </a:p>
          <a:p>
            <a:pPr lvl="2"/>
            <a:r>
              <a:rPr lang="en-US" dirty="0"/>
              <a:t>C</a:t>
            </a:r>
            <a:r>
              <a:rPr dirty="0"/>
              <a:t>ooperative multi-cell sensing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76C43-0830-54CB-6E0E-F7334524F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15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685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5CF89-3196-7D29-51D8-7A527036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61666-FADF-09E8-347D-DE7536F09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>
                <a:solidFill>
                  <a:srgbClr val="0000FF"/>
                </a:solidFill>
              </a:rPr>
              <a:t>Contribution 1: Unified ISAC RA Framework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General RA framework for 6G perceptive networks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Service trade-off</a:t>
            </a:r>
          </a:p>
          <a:p>
            <a:pPr lvl="2"/>
            <a:r>
              <a:rPr dirty="0"/>
              <a:t>Communication service</a:t>
            </a:r>
          </a:p>
          <a:p>
            <a:pPr lvl="2"/>
            <a:r>
              <a:rPr dirty="0"/>
              <a:t>Sensing service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Supported sensing services</a:t>
            </a:r>
          </a:p>
          <a:p>
            <a:pPr lvl="2"/>
            <a:r>
              <a:rPr dirty="0"/>
              <a:t>Target detection</a:t>
            </a:r>
          </a:p>
          <a:p>
            <a:pPr lvl="2"/>
            <a:r>
              <a:rPr dirty="0"/>
              <a:t>Target localization</a:t>
            </a:r>
          </a:p>
          <a:p>
            <a:pPr lvl="2"/>
            <a:r>
              <a:rPr dirty="0"/>
              <a:t>Target tracking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User-specific QoS requirements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40B19-5586-74D0-8E61-382A62353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16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422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37064E7A-40BE-A3A6-1110-D726B4214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45E22-A97B-A64A-10DC-E443B663B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t>17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ADD8EE2C-427B-F540-16DA-8433BC3BA4C2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750368835"/>
                  </p:ext>
                </p:extLst>
              </p:nvPr>
            </p:nvGraphicFramePr>
            <p:xfrm>
              <a:off x="6270771" y="1815353"/>
              <a:ext cx="4932725" cy="342772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117475">
                      <a:extLst>
                        <a:ext uri="{9D8B030D-6E8A-4147-A177-3AD203B41FA5}">
                          <a16:colId xmlns:a16="http://schemas.microsoft.com/office/drawing/2014/main" val="2270746042"/>
                        </a:ext>
                      </a:extLst>
                    </a:gridCol>
                    <a:gridCol w="2815250">
                      <a:extLst>
                        <a:ext uri="{9D8B030D-6E8A-4147-A177-3AD203B41FA5}">
                          <a16:colId xmlns:a16="http://schemas.microsoft.com/office/drawing/2014/main" val="3786276296"/>
                        </a:ext>
                      </a:extLst>
                    </a:gridCol>
                  </a:tblGrid>
                  <a:tr h="56699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/>
                            <a:t>Sensing Task</a:t>
                          </a:r>
                        </a:p>
                      </a:txBody>
                      <a:tcPr marL="99981" marR="99981" marT="49991" marB="4999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/>
                            <a:t>QoS Metric</a:t>
                          </a:r>
                        </a:p>
                      </a:txBody>
                      <a:tcPr marL="99981" marR="99981" marT="49991" marB="49991" anchor="ctr"/>
                    </a:tc>
                    <a:extLst>
                      <a:ext uri="{0D108BD9-81ED-4DB2-BD59-A6C34878D82A}">
                        <a16:rowId xmlns:a16="http://schemas.microsoft.com/office/drawing/2014/main" val="3500575354"/>
                      </a:ext>
                    </a:extLst>
                  </a:tr>
                  <a:tr h="95357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/>
                            <a:t>Target Detection</a:t>
                          </a:r>
                        </a:p>
                      </a:txBody>
                      <a:tcPr marL="99981" marR="99981" marT="49991" marB="4999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/>
                            <a:t>Probability of Detection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endParaRPr lang="en-US" sz="2000" dirty="0"/>
                        </a:p>
                      </a:txBody>
                      <a:tcPr marL="99981" marR="99981" marT="49991" marB="49991" anchor="ctr"/>
                    </a:tc>
                    <a:extLst>
                      <a:ext uri="{0D108BD9-81ED-4DB2-BD59-A6C34878D82A}">
                        <a16:rowId xmlns:a16="http://schemas.microsoft.com/office/drawing/2014/main" val="886118662"/>
                      </a:ext>
                    </a:extLst>
                  </a:tr>
                  <a:tr h="95357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/>
                            <a:t>Target Localization</a:t>
                          </a:r>
                        </a:p>
                      </a:txBody>
                      <a:tcPr marL="99981" marR="99981" marT="49991" marB="4999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/>
                            <a:t>Cramér-Rao Bound (CRB)</a:t>
                          </a:r>
                        </a:p>
                      </a:txBody>
                      <a:tcPr marL="99981" marR="99981" marT="49991" marB="49991" anchor="ctr"/>
                    </a:tc>
                    <a:extLst>
                      <a:ext uri="{0D108BD9-81ED-4DB2-BD59-A6C34878D82A}">
                        <a16:rowId xmlns:a16="http://schemas.microsoft.com/office/drawing/2014/main" val="3456772828"/>
                      </a:ext>
                    </a:extLst>
                  </a:tr>
                  <a:tr h="95357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/>
                            <a:t>Target Tracking</a:t>
                          </a:r>
                        </a:p>
                      </a:txBody>
                      <a:tcPr marL="99981" marR="99981" marT="49991" marB="4999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/>
                            <a:t>Posterior Cramér-Rao Bound (PCRB)</a:t>
                          </a:r>
                        </a:p>
                      </a:txBody>
                      <a:tcPr marL="99981" marR="99981" marT="49991" marB="49991" anchor="ctr"/>
                    </a:tc>
                    <a:extLst>
                      <a:ext uri="{0D108BD9-81ED-4DB2-BD59-A6C34878D82A}">
                        <a16:rowId xmlns:a16="http://schemas.microsoft.com/office/drawing/2014/main" val="9764249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ADD8EE2C-427B-F540-16DA-8433BC3BA4C2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750368835"/>
                  </p:ext>
                </p:extLst>
              </p:nvPr>
            </p:nvGraphicFramePr>
            <p:xfrm>
              <a:off x="6270771" y="1815353"/>
              <a:ext cx="4932725" cy="342772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117475">
                      <a:extLst>
                        <a:ext uri="{9D8B030D-6E8A-4147-A177-3AD203B41FA5}">
                          <a16:colId xmlns:a16="http://schemas.microsoft.com/office/drawing/2014/main" val="2270746042"/>
                        </a:ext>
                      </a:extLst>
                    </a:gridCol>
                    <a:gridCol w="2815250">
                      <a:extLst>
                        <a:ext uri="{9D8B030D-6E8A-4147-A177-3AD203B41FA5}">
                          <a16:colId xmlns:a16="http://schemas.microsoft.com/office/drawing/2014/main" val="3786276296"/>
                        </a:ext>
                      </a:extLst>
                    </a:gridCol>
                  </a:tblGrid>
                  <a:tr h="56699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/>
                            <a:t>Sensing Task</a:t>
                          </a:r>
                        </a:p>
                      </a:txBody>
                      <a:tcPr marL="99981" marR="99981" marT="49991" marB="4999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/>
                            <a:t>QoS Metric</a:t>
                          </a:r>
                        </a:p>
                      </a:txBody>
                      <a:tcPr marL="99981" marR="99981" marT="49991" marB="49991" anchor="ctr"/>
                    </a:tc>
                    <a:extLst>
                      <a:ext uri="{0D108BD9-81ED-4DB2-BD59-A6C34878D82A}">
                        <a16:rowId xmlns:a16="http://schemas.microsoft.com/office/drawing/2014/main" val="3500575354"/>
                      </a:ext>
                    </a:extLst>
                  </a:tr>
                  <a:tr h="95357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/>
                            <a:t>Target Detection</a:t>
                          </a:r>
                        </a:p>
                      </a:txBody>
                      <a:tcPr marL="99981" marR="99981" marT="49991" marB="49991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981" marR="99981" marT="49991" marB="49991" anchor="ctr">
                        <a:blipFill>
                          <a:blip r:embed="rId2"/>
                          <a:stretch>
                            <a:fillRect l="-75541" t="-59873" r="-433" b="-2012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6118662"/>
                      </a:ext>
                    </a:extLst>
                  </a:tr>
                  <a:tr h="95357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/>
                            <a:t>Target Localization</a:t>
                          </a:r>
                        </a:p>
                      </a:txBody>
                      <a:tcPr marL="99981" marR="99981" marT="49991" marB="4999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/>
                            <a:t>Cramér-Rao Bound (CRB)</a:t>
                          </a:r>
                        </a:p>
                      </a:txBody>
                      <a:tcPr marL="99981" marR="99981" marT="49991" marB="49991" anchor="ctr"/>
                    </a:tc>
                    <a:extLst>
                      <a:ext uri="{0D108BD9-81ED-4DB2-BD59-A6C34878D82A}">
                        <a16:rowId xmlns:a16="http://schemas.microsoft.com/office/drawing/2014/main" val="3456772828"/>
                      </a:ext>
                    </a:extLst>
                  </a:tr>
                  <a:tr h="95357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/>
                            <a:t>Target Tracking</a:t>
                          </a:r>
                        </a:p>
                      </a:txBody>
                      <a:tcPr marL="99981" marR="99981" marT="49991" marB="4999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/>
                            <a:t>Posterior Cramér-Rao Bound (PCRB)</a:t>
                          </a:r>
                        </a:p>
                      </a:txBody>
                      <a:tcPr marL="99981" marR="99981" marT="49991" marB="49991" anchor="ctr"/>
                    </a:tc>
                    <a:extLst>
                      <a:ext uri="{0D108BD9-81ED-4DB2-BD59-A6C34878D82A}">
                        <a16:rowId xmlns:a16="http://schemas.microsoft.com/office/drawing/2014/main" val="97642491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86BF253-D5E2-AE62-26E8-84288F6616EF}"/>
              </a:ext>
            </a:extLst>
          </p:cNvPr>
          <p:cNvSpPr txBox="1"/>
          <p:nvPr/>
        </p:nvSpPr>
        <p:spPr>
          <a:xfrm>
            <a:off x="939566" y="1711353"/>
            <a:ext cx="5297649" cy="446560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marL="228600" indent="-2286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0000FF"/>
                </a:solidFill>
              </a:rPr>
              <a:t>Contribution 2 : Sensing QoS Definition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>
                <a:solidFill>
                  <a:srgbClr val="7030A0"/>
                </a:solidFill>
              </a:rPr>
              <a:t>Task-specific sensing QoS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>
                <a:solidFill>
                  <a:srgbClr val="7030A0"/>
                </a:solidFill>
              </a:rPr>
              <a:t>Detection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>
                <a:solidFill>
                  <a:srgbClr val="002060"/>
                </a:solidFill>
              </a:rPr>
              <a:t>Probability of detection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>
                <a:solidFill>
                  <a:srgbClr val="002060"/>
                </a:solidFill>
              </a:rPr>
              <a:t>Probability of false alarm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>
                <a:solidFill>
                  <a:srgbClr val="7030A0"/>
                </a:solidFill>
              </a:rPr>
              <a:t>Localization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>
                <a:solidFill>
                  <a:srgbClr val="7030A0"/>
                </a:solidFill>
              </a:rPr>
              <a:t>CRB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>
                <a:solidFill>
                  <a:srgbClr val="7030A0"/>
                </a:solidFill>
              </a:rPr>
              <a:t>Tracking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>
                <a:solidFill>
                  <a:srgbClr val="7030A0"/>
                </a:solidFill>
              </a:rPr>
              <a:t>PCRB</a:t>
            </a:r>
          </a:p>
        </p:txBody>
      </p:sp>
    </p:spTree>
    <p:extLst>
      <p:ext uri="{BB962C8B-B14F-4D97-AF65-F5344CB8AC3E}">
        <p14:creationId xmlns:p14="http://schemas.microsoft.com/office/powerpoint/2010/main" val="2176935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5C643-80C4-4D8A-AE29-680F1608D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4E6BC-EAFF-600D-AEF0-DD611C36A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45920"/>
            <a:ext cx="4617720" cy="4114800"/>
          </a:xfrm>
        </p:spPr>
        <p:txBody>
          <a:bodyPr wrap="square"/>
          <a:lstStyle/>
          <a:p>
            <a:r>
              <a:rPr dirty="0">
                <a:solidFill>
                  <a:srgbClr val="0000FF"/>
                </a:solidFill>
              </a:rPr>
              <a:t>Tracking QoS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Metric: </a:t>
            </a:r>
            <a:endParaRPr lang="en-US" dirty="0">
              <a:solidFill>
                <a:srgbClr val="7030A0"/>
              </a:solidFill>
            </a:endParaRPr>
          </a:p>
          <a:p>
            <a:pPr lvl="2"/>
            <a:r>
              <a:rPr dirty="0">
                <a:solidFill>
                  <a:srgbClr val="002060"/>
                </a:solidFill>
              </a:rPr>
              <a:t>PCRB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Target states</a:t>
            </a:r>
          </a:p>
          <a:p>
            <a:pPr lvl="2"/>
            <a:r>
              <a:rPr dirty="0">
                <a:solidFill>
                  <a:srgbClr val="002060"/>
                </a:solidFill>
              </a:rPr>
              <a:t>Range</a:t>
            </a:r>
          </a:p>
          <a:p>
            <a:pPr lvl="2"/>
            <a:r>
              <a:rPr dirty="0">
                <a:solidFill>
                  <a:srgbClr val="002060"/>
                </a:solidFill>
              </a:rPr>
              <a:t>Angle</a:t>
            </a:r>
          </a:p>
          <a:p>
            <a:pPr lvl="2"/>
            <a:r>
              <a:rPr dirty="0">
                <a:solidFill>
                  <a:srgbClr val="002060"/>
                </a:solidFill>
              </a:rPr>
              <a:t>Velocity</a:t>
            </a:r>
          </a:p>
          <a:p>
            <a:pPr lvl="2"/>
            <a:r>
              <a:rPr dirty="0">
                <a:solidFill>
                  <a:srgbClr val="002060"/>
                </a:solidFill>
              </a:rPr>
              <a:t>Position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Closed-loop tracking: </a:t>
            </a:r>
            <a:endParaRPr lang="en-US" dirty="0">
              <a:solidFill>
                <a:srgbClr val="7030A0"/>
              </a:solidFill>
            </a:endParaRPr>
          </a:p>
          <a:p>
            <a:pPr lvl="2"/>
            <a:r>
              <a:rPr dirty="0">
                <a:solidFill>
                  <a:srgbClr val="002060"/>
                </a:solidFill>
              </a:rPr>
              <a:t>EKF</a:t>
            </a:r>
            <a:r>
              <a:rPr lang="en-US" dirty="0">
                <a:solidFill>
                  <a:srgbClr val="002060"/>
                </a:solidFill>
              </a:rPr>
              <a:t>(Extended Kalman Filter)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C7B33-E863-15D3-C606-B5DE5549A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18</a:t>
            </a: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287548" y="1849771"/>
            <a:ext cx="4381570" cy="33239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b="1" dirty="0">
                <a:solidFill>
                  <a:srgbClr val="1F4E79"/>
                </a:solidFill>
              </a:rPr>
              <a:t>Moving-object tracking concept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6783758" y="4139547"/>
            <a:ext cx="594360" cy="320040"/>
          </a:xfrm>
          <a:prstGeom prst="line">
            <a:avLst/>
          </a:prstGeom>
          <a:ln w="1524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445229" y="3740232"/>
            <a:ext cx="594360" cy="365760"/>
          </a:xfrm>
          <a:prstGeom prst="line">
            <a:avLst/>
          </a:prstGeom>
          <a:ln w="1524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136063" y="3299390"/>
            <a:ext cx="548640" cy="411480"/>
          </a:xfrm>
          <a:prstGeom prst="line">
            <a:avLst/>
          </a:prstGeom>
          <a:ln w="1524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756010" y="2854354"/>
            <a:ext cx="548640" cy="411480"/>
          </a:xfrm>
          <a:prstGeom prst="line">
            <a:avLst/>
          </a:prstGeom>
          <a:ln w="1524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665977" y="4434085"/>
            <a:ext cx="109728" cy="109728"/>
          </a:xfrm>
          <a:prstGeom prst="ellipse">
            <a:avLst/>
          </a:prstGeom>
          <a:solidFill>
            <a:srgbClr val="E2F0D9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44226" y="4059517"/>
            <a:ext cx="109728" cy="109728"/>
          </a:xfrm>
          <a:prstGeom prst="ellipse">
            <a:avLst/>
          </a:prstGeom>
          <a:solidFill>
            <a:srgbClr val="E2F0D9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043448" y="3664395"/>
            <a:ext cx="109728" cy="109728"/>
          </a:xfrm>
          <a:prstGeom prst="ellipse">
            <a:avLst/>
          </a:prstGeom>
          <a:solidFill>
            <a:srgbClr val="E2F0D9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671783" y="3252915"/>
            <a:ext cx="109728" cy="109728"/>
          </a:xfrm>
          <a:prstGeom prst="ellipse">
            <a:avLst/>
          </a:prstGeom>
          <a:solidFill>
            <a:srgbClr val="E2F0D9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276126" y="2708385"/>
            <a:ext cx="182880" cy="1828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11967" y="2432807"/>
            <a:ext cx="805342" cy="270843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400" b="1" dirty="0">
                <a:solidFill>
                  <a:srgbClr val="ED7D31"/>
                </a:solidFill>
              </a:rPr>
              <a:t>current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9401122" y="2292291"/>
            <a:ext cx="914400" cy="457200"/>
          </a:xfrm>
          <a:prstGeom prst="line">
            <a:avLst/>
          </a:prstGeom>
          <a:ln w="127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0275171" y="2121911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83381" y="2004969"/>
            <a:ext cx="914398" cy="270843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400" b="1" dirty="0">
                <a:solidFill>
                  <a:srgbClr val="ED7D31"/>
                </a:solidFill>
              </a:rPr>
              <a:t>predicted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45417" y="2873230"/>
            <a:ext cx="887974" cy="344199"/>
          </a:xfrm>
          <a:prstGeom prst="roundRect">
            <a:avLst/>
          </a:prstGeom>
          <a:solidFill>
            <a:srgbClr val="E4DFEC"/>
          </a:solidFill>
          <a:ln w="1143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1400" b="1" dirty="0">
                <a:solidFill>
                  <a:srgbClr val="1F4E79"/>
                </a:solidFill>
              </a:rPr>
              <a:t>EKF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81539" y="4681057"/>
            <a:ext cx="3884101" cy="301621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lang="en-US" sz="1600" dirty="0">
                <a:solidFill>
                  <a:srgbClr val="666666"/>
                </a:solidFill>
              </a:rPr>
              <a:t>E</a:t>
            </a:r>
            <a:r>
              <a:rPr sz="1600" b="0" dirty="0">
                <a:solidFill>
                  <a:srgbClr val="666666"/>
                </a:solidFill>
              </a:rPr>
              <a:t>stimate target state over time</a:t>
            </a:r>
          </a:p>
        </p:txBody>
      </p:sp>
    </p:spTree>
    <p:extLst>
      <p:ext uri="{BB962C8B-B14F-4D97-AF65-F5344CB8AC3E}">
        <p14:creationId xmlns:p14="http://schemas.microsoft.com/office/powerpoint/2010/main" val="532580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ACEF9-83F1-FE2A-53E8-AAFCA51EF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33AE0-53E1-ED92-42A2-30FC47E96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>
                <a:solidFill>
                  <a:srgbClr val="0000FF"/>
                </a:solidFill>
              </a:rPr>
              <a:t>Contribution 3: Optimization Approach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Optimization criteria</a:t>
            </a:r>
          </a:p>
          <a:p>
            <a:pPr lvl="2"/>
            <a:r>
              <a:rPr dirty="0">
                <a:solidFill>
                  <a:srgbClr val="7030A0"/>
                </a:solidFill>
              </a:rPr>
              <a:t>Fairness: balance QoS</a:t>
            </a:r>
          </a:p>
          <a:p>
            <a:pPr lvl="2"/>
            <a:r>
              <a:rPr dirty="0">
                <a:solidFill>
                  <a:srgbClr val="7030A0"/>
                </a:solidFill>
              </a:rPr>
              <a:t>Comprehensiveness: maximize overall performance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Problem transformation</a:t>
            </a:r>
          </a:p>
          <a:p>
            <a:pPr lvl="2"/>
            <a:r>
              <a:rPr dirty="0"/>
              <a:t>Original formulation to convex form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Solver: </a:t>
            </a:r>
            <a:r>
              <a:rPr dirty="0"/>
              <a:t>Alternative Optimization (AO)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62107-7ABF-8733-FB9C-687BF8E1B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19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829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95405-A08B-2202-E21B-50D051690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7775C-49FF-1E00-8FFD-2470F43C1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>
                <a:solidFill>
                  <a:srgbClr val="0000FF"/>
                </a:solidFill>
              </a:rPr>
              <a:t>Alternative Optimization Method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Coupled variables</a:t>
            </a:r>
          </a:p>
          <a:p>
            <a:pPr lvl="2"/>
            <a:r>
              <a:rPr dirty="0">
                <a:solidFill>
                  <a:srgbClr val="002060"/>
                </a:solidFill>
              </a:rPr>
              <a:t>Power allocation</a:t>
            </a:r>
          </a:p>
          <a:p>
            <a:pPr lvl="2"/>
            <a:r>
              <a:rPr dirty="0">
                <a:solidFill>
                  <a:srgbClr val="002060"/>
                </a:solidFill>
              </a:rPr>
              <a:t>Bandwidth allocation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AO procedure</a:t>
            </a:r>
          </a:p>
          <a:p>
            <a:pPr lvl="2"/>
            <a:r>
              <a:rPr dirty="0">
                <a:solidFill>
                  <a:srgbClr val="002060"/>
                </a:solidFill>
              </a:rPr>
              <a:t>Fix bandwidth to optimize power</a:t>
            </a:r>
          </a:p>
          <a:p>
            <a:pPr lvl="2"/>
            <a:r>
              <a:rPr dirty="0">
                <a:solidFill>
                  <a:srgbClr val="002060"/>
                </a:solidFill>
              </a:rPr>
              <a:t>Fix power to optimize bandwidth</a:t>
            </a:r>
          </a:p>
          <a:p>
            <a:pPr lvl="2"/>
            <a:r>
              <a:rPr dirty="0">
                <a:solidFill>
                  <a:srgbClr val="002060"/>
                </a:solidFill>
              </a:rPr>
              <a:t>Repeat until convergence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29BE1-7845-37FA-D994-F5B150D8E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20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78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172FE-2291-76ED-9E98-1421DD77E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480B2-A724-827A-93DC-6841C9D0B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>
                <a:solidFill>
                  <a:srgbClr val="7030A0"/>
                </a:solidFill>
              </a:rPr>
              <a:t>Contribution 4 : </a:t>
            </a:r>
            <a:r>
              <a:rPr dirty="0"/>
              <a:t>Numerical Trade-off Analysis</a:t>
            </a:r>
          </a:p>
          <a:p>
            <a:pPr lvl="1"/>
            <a:r>
              <a:rPr dirty="0">
                <a:solidFill>
                  <a:srgbClr val="002060"/>
                </a:solidFill>
              </a:rPr>
              <a:t>Simulation focus</a:t>
            </a:r>
          </a:p>
          <a:p>
            <a:pPr lvl="2"/>
            <a:r>
              <a:rPr dirty="0">
                <a:solidFill>
                  <a:srgbClr val="002060"/>
                </a:solidFill>
              </a:rPr>
              <a:t>Sensing vs. communication services</a:t>
            </a:r>
          </a:p>
          <a:p>
            <a:pPr lvl="2"/>
            <a:r>
              <a:rPr dirty="0">
                <a:solidFill>
                  <a:srgbClr val="002060"/>
                </a:solidFill>
              </a:rPr>
              <a:t>Trade-offs among users</a:t>
            </a:r>
          </a:p>
          <a:p>
            <a:pPr lvl="2"/>
            <a:r>
              <a:rPr dirty="0">
                <a:solidFill>
                  <a:srgbClr val="002060"/>
                </a:solidFill>
              </a:rPr>
              <a:t>Impact of allocation schemes</a:t>
            </a:r>
          </a:p>
          <a:p>
            <a:pPr lvl="1"/>
            <a:r>
              <a:rPr dirty="0">
                <a:solidFill>
                  <a:srgbClr val="7030A0"/>
                </a:solidFill>
              </a:rPr>
              <a:t>Main insight</a:t>
            </a:r>
          </a:p>
          <a:p>
            <a:pPr lvl="2"/>
            <a:r>
              <a:rPr dirty="0">
                <a:solidFill>
                  <a:srgbClr val="002060"/>
                </a:solidFill>
              </a:rPr>
              <a:t>Limited power and bandwidth must follow QoS priorities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CD6FB-927E-4507-BC8E-8EF44B128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21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8770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771</Words>
  <Application>Microsoft Office PowerPoint</Application>
  <PresentationFormat>Widescreen</PresentationFormat>
  <Paragraphs>263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맑은 고딕</vt:lpstr>
      <vt:lpstr>Arial</vt:lpstr>
      <vt:lpstr>Arial Black</vt:lpstr>
      <vt:lpstr>Cambria Math</vt:lpstr>
      <vt:lpstr>Tahoma</vt:lpstr>
      <vt:lpstr>Office 테마</vt:lpstr>
      <vt:lpstr>Sensing as a Service in 6G Perceptive Networks: A Unified Framework for ISAC Resource Allocation</vt:lpstr>
      <vt:lpstr>Table of Contents</vt:lpstr>
      <vt:lpstr>Abstract</vt:lpstr>
      <vt:lpstr>Abstract</vt:lpstr>
      <vt:lpstr>Abstract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Jihwan Moon</dc:creator>
  <cp:lastModifiedBy>Refat Khan</cp:lastModifiedBy>
  <cp:revision>6</cp:revision>
  <dcterms:created xsi:type="dcterms:W3CDTF">2018-05-20T06:28:16Z</dcterms:created>
  <dcterms:modified xsi:type="dcterms:W3CDTF">2026-06-07T23:29:15Z</dcterms:modified>
</cp:coreProperties>
</file>