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1420" r:id="rId2"/>
    <p:sldId id="1557" r:id="rId3"/>
    <p:sldId id="1536" r:id="rId4"/>
    <p:sldId id="1537" r:id="rId5"/>
    <p:sldId id="1538" r:id="rId6"/>
    <p:sldId id="1539" r:id="rId7"/>
    <p:sldId id="1540" r:id="rId8"/>
    <p:sldId id="1541" r:id="rId9"/>
    <p:sldId id="1542" r:id="rId10"/>
    <p:sldId id="1543" r:id="rId11"/>
    <p:sldId id="1544" r:id="rId12"/>
    <p:sldId id="1545" r:id="rId13"/>
    <p:sldId id="1546" r:id="rId14"/>
    <p:sldId id="1547" r:id="rId15"/>
    <p:sldId id="1548" r:id="rId16"/>
    <p:sldId id="1549" r:id="rId17"/>
    <p:sldId id="1550" r:id="rId18"/>
    <p:sldId id="1551" r:id="rId19"/>
    <p:sldId id="1552" r:id="rId20"/>
    <p:sldId id="1553" r:id="rId21"/>
    <p:sldId id="1554" r:id="rId22"/>
    <p:sldId id="1555" r:id="rId23"/>
    <p:sldId id="1556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93C43-86CB-4E59-B1EB-ADE4B892B60F}" v="3" dt="2026-03-09T01:02:53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K MD GULAM" userId="3629686c-1963-4ad0-9d90-f64896f145bd" providerId="ADAL" clId="{C1066301-46E8-4A63-ABD9-64A0D5EA0B02}"/>
    <pc:docChg chg="custSel modSld">
      <pc:chgData name="ISHAK MD GULAM" userId="3629686c-1963-4ad0-9d90-f64896f145bd" providerId="ADAL" clId="{C1066301-46E8-4A63-ABD9-64A0D5EA0B02}" dt="2026-03-09T01:06:44.258" v="194" actId="20577"/>
      <pc:docMkLst>
        <pc:docMk/>
      </pc:docMkLst>
      <pc:sldChg chg="modSp mod">
        <pc:chgData name="ISHAK MD GULAM" userId="3629686c-1963-4ad0-9d90-f64896f145bd" providerId="ADAL" clId="{C1066301-46E8-4A63-ABD9-64A0D5EA0B02}" dt="2026-03-09T01:06:44.258" v="194" actId="20577"/>
        <pc:sldMkLst>
          <pc:docMk/>
          <pc:sldMk cId="1157537709" sldId="1420"/>
        </pc:sldMkLst>
        <pc:spChg chg="mod">
          <ac:chgData name="ISHAK MD GULAM" userId="3629686c-1963-4ad0-9d90-f64896f145bd" providerId="ADAL" clId="{C1066301-46E8-4A63-ABD9-64A0D5EA0B02}" dt="2026-03-09T01:03:37.255" v="185" actId="27636"/>
          <ac:spMkLst>
            <pc:docMk/>
            <pc:sldMk cId="1157537709" sldId="1420"/>
            <ac:spMk id="2" creationId="{773E81F8-418E-46B0-BF79-A9E5C85CC220}"/>
          </ac:spMkLst>
        </pc:spChg>
        <pc:spChg chg="mod">
          <ac:chgData name="ISHAK MD GULAM" userId="3629686c-1963-4ad0-9d90-f64896f145bd" providerId="ADAL" clId="{C1066301-46E8-4A63-ABD9-64A0D5EA0B02}" dt="2026-03-09T01:06:44.258" v="194" actId="20577"/>
          <ac:spMkLst>
            <pc:docMk/>
            <pc:sldMk cId="1157537709" sldId="1420"/>
            <ac:spMk id="3" creationId="{9B30F031-E57C-4418-8811-D07BEE7C11F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81F8-418E-46B0-BF79-A9E5C85C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69878"/>
            <a:ext cx="10501993" cy="1418326"/>
          </a:xfrm>
        </p:spPr>
        <p:txBody>
          <a:bodyPr>
            <a:normAutofit fontScale="90000"/>
          </a:bodyPr>
          <a:lstStyle/>
          <a:p>
            <a:r>
              <a:rPr lang="en-US" b="1" dirty="0" sz="4000">
                <a:solidFill>
                  <a:srgbClr val="003366"/>
                </a:solidFill>
                <a:latin typeface="Arial Black"/>
              </a:rPr>
              <a:t>Sensing as a Service in 6G Perceptive Networks: A Unified Framework for ISAC Resource Allocation</a:t>
            </a:r>
            <a:endParaRPr lang="ko-KR" altLang="en-US" sz="3600" b="0" dirty="0">
              <a:solidFill>
                <a:srgbClr val="0000FF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30F031-E57C-4418-8811-D07BEE7C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704436"/>
            <a:ext cx="10501993" cy="1418326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404040"/>
                </a:solidFill>
                <a:latin typeface="Arial"/>
              </a:rPr>
              <a:t>Authors: Fuwang Dong, Fan Liu, Yuanhao Cui, Wei Wang, Kaifeng Han, and Zhiqin Wang</a:t>
            </a:r>
            <a:endParaRPr lang="en-US" altLang="ko-KR" dirty="0">
              <a:latin typeface="Arial"/>
              <a:ea typeface="맑은 고딕"/>
              <a:cs typeface="Arial"/>
            </a:endParaRPr>
          </a:p>
          <a:p>
            <a:pPr algn="ctr"/>
            <a:r>
              <a:rPr sz="1600" i="1">
                <a:solidFill>
                  <a:srgbClr val="595959"/>
                </a:solidFill>
                <a:latin typeface="Arial"/>
              </a:rPr>
              <a:t>Published in: IEEE Transactions on Wireless Communications</a:t>
            </a:r>
          </a:p>
          <a:p>
            <a:pPr algn="ctr"/>
            <a:r>
              <a:rPr sz="1600">
                <a:solidFill>
                  <a:srgbClr val="595959"/>
                </a:solidFill>
                <a:latin typeface="Arial"/>
              </a:rPr>
              <a:t>Date of Publication: 10 November 2022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3469BC-9EBF-44CC-97A2-356DEFF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3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E06E-21EE-5FE5-38B2-5FD558FD9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F71F7-D60A-AD4F-0FAB-D5BD30D75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21570-056B-3187-35C1-02A9FFC9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936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5F11-E21C-2860-D101-1893C406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CE45C-BBFE-4CD5-C0A0-0578454A4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Background Sensing as a Service in 6G</a:t>
            </a:r>
          </a:p>
          <a:p>
            <a:pPr lvl="1"/>
            <a:r>
              <a:rPr lang="en-US" dirty="0"/>
              <a:t>Future </a:t>
            </a:r>
            <a:r>
              <a:rPr lang="en-US" dirty="0">
                <a:solidFill>
                  <a:srgbClr val="7030A0"/>
                </a:solidFill>
              </a:rPr>
              <a:t>5G-Advanced and 6G networks </a:t>
            </a:r>
            <a:r>
              <a:rPr lang="en-US" dirty="0"/>
              <a:t>are expected to provide not only communication services but also sensing services.</a:t>
            </a:r>
          </a:p>
          <a:p>
            <a:pPr lvl="1"/>
            <a:r>
              <a:rPr lang="en-US" dirty="0"/>
              <a:t>This new concept is known as </a:t>
            </a:r>
            <a:r>
              <a:rPr lang="en-US" dirty="0">
                <a:solidFill>
                  <a:srgbClr val="7030A0"/>
                </a:solidFill>
              </a:rPr>
              <a:t>Sensing as a Service</a:t>
            </a:r>
            <a:r>
              <a:rPr lang="en-US" dirty="0"/>
              <a:t>, where the network can detect, localize, and track targets.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7030A0"/>
                </a:solidFill>
              </a:rPr>
              <a:t>perceptive network </a:t>
            </a:r>
            <a:r>
              <a:rPr lang="en-US" dirty="0"/>
              <a:t>is introduced as a new paradigm that jointly supports: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Sensing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Communication</a:t>
            </a:r>
          </a:p>
          <a:p>
            <a:pPr lvl="1"/>
            <a:r>
              <a:rPr lang="en-US" dirty="0"/>
              <a:t>This joint technology is commonly referred to as </a:t>
            </a:r>
            <a:r>
              <a:rPr lang="en-US" dirty="0">
                <a:solidFill>
                  <a:srgbClr val="7030A0"/>
                </a:solidFill>
              </a:rPr>
              <a:t>Integrated Sensing and Communications (ISAC).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A285D-A9C2-B06E-A9E9-A8558ECF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565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D2EDF-D567-20A5-992A-7FC14E4B7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Abstract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4CD65-487F-9244-A2F4-80380565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4</a:t>
            </a:fld>
            <a:endParaRPr lang="ko-KR" alt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35CE942-7EA3-E344-4A83-01F2D98006E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28488622"/>
              </p:ext>
            </p:extLst>
          </p:nvPr>
        </p:nvGraphicFramePr>
        <p:xfrm>
          <a:off x="6379828" y="1732328"/>
          <a:ext cx="5754847" cy="50585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36755">
                  <a:extLst>
                    <a:ext uri="{9D8B030D-6E8A-4147-A177-3AD203B41FA5}">
                      <a16:colId xmlns:a16="http://schemas.microsoft.com/office/drawing/2014/main" val="100706769"/>
                    </a:ext>
                  </a:extLst>
                </a:gridCol>
                <a:gridCol w="2918092">
                  <a:extLst>
                    <a:ext uri="{9D8B030D-6E8A-4147-A177-3AD203B41FA5}">
                      <a16:colId xmlns:a16="http://schemas.microsoft.com/office/drawing/2014/main" val="556734914"/>
                    </a:ext>
                  </a:extLst>
                </a:gridCol>
              </a:tblGrid>
              <a:tr h="772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Sensing Task</a:t>
                      </a:r>
                    </a:p>
                  </a:txBody>
                  <a:tcPr marL="288576" marR="173146" marT="173146" marB="17314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QoS Metric</a:t>
                      </a:r>
                    </a:p>
                  </a:txBody>
                  <a:tcPr marL="288576" marR="173146" marT="173146" marB="17314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491539"/>
                  </a:ext>
                </a:extLst>
              </a:tr>
              <a:tr h="1264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Target Detection</a:t>
                      </a:r>
                    </a:p>
                  </a:txBody>
                  <a:tcPr marL="288576" marR="173146" marT="173146" marB="17314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Probability of Detection</a:t>
                      </a:r>
                    </a:p>
                  </a:txBody>
                  <a:tcPr marL="288576" marR="173146" marT="173146" marB="17314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333095"/>
                  </a:ext>
                </a:extLst>
              </a:tr>
              <a:tr h="1264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Target Localization</a:t>
                      </a:r>
                    </a:p>
                  </a:txBody>
                  <a:tcPr marL="288576" marR="173146" marT="173146" marB="17314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Cramer-Rao Bound (CRB)</a:t>
                      </a:r>
                    </a:p>
                  </a:txBody>
                  <a:tcPr marL="288576" marR="173146" marT="173146" marB="17314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693169"/>
                  </a:ext>
                </a:extLst>
              </a:tr>
              <a:tr h="1757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Target Tracking</a:t>
                      </a:r>
                    </a:p>
                  </a:txBody>
                  <a:tcPr marL="288576" marR="173146" marT="173146" marB="173146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Posterior Cramer-Rao Bound (PCRB)</a:t>
                      </a:r>
                    </a:p>
                  </a:txBody>
                  <a:tcPr marL="288576" marR="173146" marT="173146" marB="173146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2319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7235392-C7AE-28E5-BAAD-ECC4C5481182}"/>
              </a:ext>
            </a:extLst>
          </p:cNvPr>
          <p:cNvSpPr txBox="1"/>
          <p:nvPr/>
        </p:nvSpPr>
        <p:spPr>
          <a:xfrm>
            <a:off x="830510" y="1665215"/>
            <a:ext cx="5545123" cy="51172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Sensing QoS Metrics for Different Applications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paper introduces the concept of </a:t>
            </a: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sensing Quality of Service (QoS)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different sensing tasks.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Different sensing applications require different performance metrics: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These metrics allow the network to evaluate sensing performance in a more application-specific way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374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241C783-EE53-4F43-4EBB-31966E2A0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1D21FEA-D626-174E-8029-E7EA99DDA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Unified ISAC Resource Allocation Framework</a:t>
            </a:r>
          </a:p>
          <a:p>
            <a:pPr lvl="1"/>
            <a:r>
              <a:rPr lang="en-US" dirty="0"/>
              <a:t>The paper proposes a </a:t>
            </a:r>
            <a:r>
              <a:rPr lang="en-US" dirty="0">
                <a:solidFill>
                  <a:srgbClr val="7030A0"/>
                </a:solidFill>
              </a:rPr>
              <a:t>unified resource allocation framework </a:t>
            </a:r>
            <a:r>
              <a:rPr lang="en-US" dirty="0"/>
              <a:t>for ISAC networks.</a:t>
            </a:r>
          </a:p>
          <a:p>
            <a:pPr lvl="1"/>
            <a:r>
              <a:rPr lang="en-US" dirty="0"/>
              <a:t>The framework allocates limited network resources such as: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Power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Bandwidth</a:t>
            </a:r>
          </a:p>
          <a:p>
            <a:pPr lvl="1"/>
            <a:r>
              <a:rPr lang="en-US" dirty="0"/>
              <a:t>Two optimization criteria are considered: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Fairness optimization: </a:t>
            </a:r>
            <a:r>
              <a:rPr lang="en-US" dirty="0"/>
              <a:t>balances performance among different sensing and communication services.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Comprehensiveness optimization: </a:t>
            </a:r>
            <a:r>
              <a:rPr lang="en-US" dirty="0"/>
              <a:t>improves the overall performance of sensing and communication.</a:t>
            </a:r>
          </a:p>
          <a:p>
            <a:pPr lvl="1"/>
            <a:r>
              <a:rPr lang="en-US" dirty="0"/>
              <a:t>Simulation results show the </a:t>
            </a:r>
            <a:r>
              <a:rPr lang="en-US" dirty="0">
                <a:solidFill>
                  <a:srgbClr val="7030A0"/>
                </a:solidFill>
              </a:rPr>
              <a:t>trade-off between sensing and communication services </a:t>
            </a:r>
            <a:r>
              <a:rPr lang="en-US" dirty="0"/>
              <a:t>under different resource allocation schemes.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920FE-2C53-5CC5-B57A-564D0F8D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167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982DB-7C01-9C7E-91E5-5E67BF459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87DE4-83C3-5F45-79B8-CCFB99999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Motivation</a:t>
            </a:r>
          </a:p>
          <a:p>
            <a:pPr lvl="1"/>
            <a:r>
              <a:rPr lang="en-US" dirty="0"/>
              <a:t>Traditionally, wireless cellular networks focused mainly on </a:t>
            </a:r>
            <a:r>
              <a:rPr lang="en-US" dirty="0">
                <a:solidFill>
                  <a:srgbClr val="7030A0"/>
                </a:solidFill>
              </a:rPr>
              <a:t>communication QoS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In </a:t>
            </a:r>
            <a:r>
              <a:rPr lang="en-US" dirty="0">
                <a:solidFill>
                  <a:srgbClr val="7030A0"/>
                </a:solidFill>
              </a:rPr>
              <a:t>5G-Advanced and 6G</a:t>
            </a:r>
            <a:r>
              <a:rPr lang="en-US" dirty="0"/>
              <a:t>, sensing services will become highly important. </a:t>
            </a:r>
          </a:p>
          <a:p>
            <a:pPr lvl="1"/>
            <a:r>
              <a:rPr lang="en-US" dirty="0"/>
              <a:t>Future networks must support </a:t>
            </a:r>
            <a:r>
              <a:rPr lang="en-US" dirty="0">
                <a:solidFill>
                  <a:srgbClr val="7030A0"/>
                </a:solidFill>
              </a:rPr>
              <a:t>environment-aware applications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Examples: </a:t>
            </a:r>
          </a:p>
          <a:p>
            <a:pPr lvl="2"/>
            <a:r>
              <a:rPr lang="en-US" dirty="0"/>
              <a:t>Connected vehicles </a:t>
            </a:r>
          </a:p>
          <a:p>
            <a:pPr lvl="2"/>
            <a:r>
              <a:rPr lang="en-US" dirty="0"/>
              <a:t>Drone monitoring </a:t>
            </a:r>
          </a:p>
          <a:p>
            <a:pPr lvl="2"/>
            <a:r>
              <a:rPr lang="en-US" dirty="0"/>
              <a:t>Smart manufacturing</a:t>
            </a:r>
          </a:p>
          <a:p>
            <a:r>
              <a:rPr lang="en-US" dirty="0">
                <a:solidFill>
                  <a:srgbClr val="0000FF"/>
                </a:solidFill>
              </a:rPr>
              <a:t>Limitations of Current Cellular Sensing</a:t>
            </a:r>
          </a:p>
          <a:p>
            <a:pPr lvl="1"/>
            <a:r>
              <a:rPr lang="en-US" dirty="0"/>
              <a:t>Current cellular networks can provide limited sensing functions such as localization. </a:t>
            </a:r>
          </a:p>
          <a:p>
            <a:pPr lvl="1"/>
            <a:r>
              <a:rPr lang="en-US" dirty="0"/>
              <a:t>However, two major limitations exist: 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Low sensing accuracy and resolution </a:t>
            </a:r>
          </a:p>
          <a:p>
            <a:pPr lvl="2"/>
            <a:r>
              <a:rPr lang="en-US" dirty="0"/>
              <a:t>Mostly </a:t>
            </a:r>
            <a:r>
              <a:rPr lang="en-US" dirty="0">
                <a:solidFill>
                  <a:srgbClr val="7030A0"/>
                </a:solidFill>
              </a:rPr>
              <a:t>device-based localization </a:t>
            </a:r>
          </a:p>
          <a:p>
            <a:pPr lvl="1"/>
            <a:r>
              <a:rPr lang="en-US" dirty="0"/>
              <a:t>Device-based sensing requires the target to carry a signaling device. </a:t>
            </a:r>
          </a:p>
          <a:p>
            <a:pPr lvl="1"/>
            <a:r>
              <a:rPr lang="en-US" dirty="0"/>
              <a:t>Future networks need to sense </a:t>
            </a:r>
            <a:r>
              <a:rPr lang="en-US" dirty="0">
                <a:solidFill>
                  <a:srgbClr val="7030A0"/>
                </a:solidFill>
              </a:rPr>
              <a:t>device-free objects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DA106-92B2-692C-968B-9B84F8DA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814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5DDA-428A-50DB-5046-E23EA68B8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8E5DE-222D-0AD5-3283-10982A946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Perceptive Network and ISAC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7030A0"/>
                </a:solidFill>
              </a:rPr>
              <a:t>perceptive network </a:t>
            </a:r>
            <a:r>
              <a:rPr lang="en-US" dirty="0"/>
              <a:t>provides both: </a:t>
            </a:r>
          </a:p>
          <a:p>
            <a:pPr lvl="2"/>
            <a:r>
              <a:rPr lang="en-US" dirty="0"/>
              <a:t>Wireless communication </a:t>
            </a:r>
          </a:p>
          <a:p>
            <a:pPr lvl="2"/>
            <a:r>
              <a:rPr lang="en-US" dirty="0"/>
              <a:t>Networked sensing </a:t>
            </a:r>
          </a:p>
          <a:p>
            <a:pPr lvl="1"/>
            <a:r>
              <a:rPr lang="en-US" dirty="0"/>
              <a:t>This is enabled by </a:t>
            </a:r>
            <a:r>
              <a:rPr lang="en-US" dirty="0">
                <a:solidFill>
                  <a:srgbClr val="7030A0"/>
                </a:solidFill>
              </a:rPr>
              <a:t>Integrated Sensing and Communication (ISAC). </a:t>
            </a:r>
          </a:p>
          <a:p>
            <a:pPr lvl="1"/>
            <a:r>
              <a:rPr lang="en-US" dirty="0"/>
              <a:t>ISAC allows the cellular infrastructure to detect, localize, and track objects. </a:t>
            </a:r>
          </a:p>
          <a:p>
            <a:pPr lvl="1"/>
            <a:r>
              <a:rPr lang="en-US" dirty="0"/>
              <a:t>It supports emerging 6G applications requiring both connectivity and sensing</a:t>
            </a:r>
          </a:p>
          <a:p>
            <a:r>
              <a:rPr lang="en-US" dirty="0">
                <a:solidFill>
                  <a:srgbClr val="0000FF"/>
                </a:solidFill>
              </a:rPr>
              <a:t>Evolution of ISAC</a:t>
            </a:r>
          </a:p>
          <a:p>
            <a:pPr lvl="1"/>
            <a:r>
              <a:rPr lang="en-US" dirty="0"/>
              <a:t>ISAC was initially motivated by the need for additional spectrum resources. </a:t>
            </a:r>
          </a:p>
          <a:p>
            <a:pPr lvl="1"/>
            <a:r>
              <a:rPr lang="en-US" dirty="0"/>
              <a:t>It enables shared use of frequency bands between radar and communication systems. </a:t>
            </a:r>
          </a:p>
          <a:p>
            <a:pPr lvl="1"/>
            <a:r>
              <a:rPr lang="en-US" dirty="0"/>
              <a:t>Research has evolved through: </a:t>
            </a:r>
          </a:p>
          <a:p>
            <a:pPr lvl="2"/>
            <a:r>
              <a:rPr lang="en-US" dirty="0"/>
              <a:t>Radar-communication spectral coexistence </a:t>
            </a:r>
          </a:p>
          <a:p>
            <a:pPr lvl="2"/>
            <a:r>
              <a:rPr lang="en-US" dirty="0"/>
              <a:t>Radar-communication cooperation </a:t>
            </a:r>
          </a:p>
          <a:p>
            <a:pPr lvl="2"/>
            <a:r>
              <a:rPr lang="en-US" dirty="0"/>
              <a:t>Dual-functional radar-communication design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A5072-B149-45C9-09BF-81F0E3F5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187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0B41F-71D3-5D28-33B4-2F12C6E5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4BD19-CCDC-0912-F26F-7A8E6DA30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Main Gains of ISAC</a:t>
            </a:r>
          </a:p>
          <a:p>
            <a:pPr lvl="1"/>
            <a:r>
              <a:rPr lang="en-US" dirty="0"/>
              <a:t>ISAC provides two major gains: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1. Integration Gain</a:t>
            </a:r>
          </a:p>
          <a:p>
            <a:pPr lvl="2"/>
            <a:r>
              <a:rPr lang="en-US" dirty="0"/>
              <a:t>Shared use of limited resources: </a:t>
            </a:r>
          </a:p>
          <a:p>
            <a:pPr lvl="3"/>
            <a:r>
              <a:rPr lang="en-US" dirty="0"/>
              <a:t>Spectrum </a:t>
            </a:r>
          </a:p>
          <a:p>
            <a:pPr lvl="3"/>
            <a:r>
              <a:rPr lang="en-US" dirty="0"/>
              <a:t>Energy </a:t>
            </a:r>
          </a:p>
          <a:p>
            <a:pPr lvl="3"/>
            <a:r>
              <a:rPr lang="en-US" dirty="0"/>
              <a:t>Hardware platforms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2. Coordination Gain</a:t>
            </a:r>
          </a:p>
          <a:p>
            <a:pPr lvl="2"/>
            <a:r>
              <a:rPr lang="en-US" dirty="0"/>
              <a:t>Sensing and communication can mutually assist each other. </a:t>
            </a:r>
          </a:p>
          <a:p>
            <a:pPr lvl="2"/>
            <a:r>
              <a:rPr lang="en-US" dirty="0"/>
              <a:t>This can improve the overall performance of both services.</a:t>
            </a:r>
          </a:p>
          <a:p>
            <a:r>
              <a:rPr lang="en-US" dirty="0">
                <a:solidFill>
                  <a:srgbClr val="0000FF"/>
                </a:solidFill>
              </a:rPr>
              <a:t>Sensing QoS Concept</a:t>
            </a:r>
          </a:p>
          <a:p>
            <a:pPr lvl="1"/>
            <a:r>
              <a:rPr lang="en-US" dirty="0"/>
              <a:t>Communication QoS is already well studied. </a:t>
            </a:r>
          </a:p>
          <a:p>
            <a:pPr lvl="1"/>
            <a:r>
              <a:rPr lang="en-US" dirty="0"/>
              <a:t>Common communication QoS metrics include: </a:t>
            </a:r>
          </a:p>
          <a:p>
            <a:pPr lvl="2"/>
            <a:r>
              <a:rPr lang="en-US" dirty="0"/>
              <a:t>Spectral efficiency </a:t>
            </a:r>
          </a:p>
          <a:p>
            <a:pPr lvl="2"/>
            <a:r>
              <a:rPr lang="en-US" dirty="0"/>
              <a:t>Energy efficiency </a:t>
            </a:r>
          </a:p>
          <a:p>
            <a:pPr lvl="2"/>
            <a:r>
              <a:rPr lang="en-US" dirty="0"/>
              <a:t>Bit error rate </a:t>
            </a:r>
          </a:p>
          <a:p>
            <a:pPr lvl="2"/>
            <a:r>
              <a:rPr lang="en-US" dirty="0"/>
              <a:t>Symbol error rate </a:t>
            </a:r>
          </a:p>
          <a:p>
            <a:pPr lvl="1"/>
            <a:r>
              <a:rPr lang="en-US" dirty="0"/>
              <a:t>However, sensing QoS is still relatively unexplored. </a:t>
            </a:r>
          </a:p>
          <a:p>
            <a:pPr lvl="1"/>
            <a:r>
              <a:rPr lang="en-US" dirty="0"/>
              <a:t>This paper defines sensing QoS for different sensing applications.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1E116-C153-0E23-20B9-9D4CB499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524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B299-CEAF-F0A6-EB3F-82FD8A76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61894-E869-3FC0-8C9D-D076B5F9F5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Types of Sensing Tasks</a:t>
                </a:r>
              </a:p>
              <a:p>
                <a:pPr lvl="1"/>
                <a:r>
                  <a:rPr lang="en-US" dirty="0"/>
                  <a:t>Sensing tasks can be classified into: </a:t>
                </a:r>
              </a:p>
              <a:p>
                <a:pPr lvl="2"/>
                <a:r>
                  <a:rPr lang="en-US" dirty="0"/>
                  <a:t>Detection </a:t>
                </a:r>
              </a:p>
              <a:p>
                <a:pPr lvl="2"/>
                <a:r>
                  <a:rPr lang="en-US" dirty="0"/>
                  <a:t>Localization and tracking </a:t>
                </a:r>
              </a:p>
              <a:p>
                <a:pPr lvl="2"/>
                <a:r>
                  <a:rPr lang="en-US" dirty="0"/>
                  <a:t>Imaging </a:t>
                </a:r>
              </a:p>
              <a:p>
                <a:pPr lvl="2"/>
                <a:r>
                  <a:rPr lang="en-US" dirty="0"/>
                  <a:t>Recognition </a:t>
                </a:r>
              </a:p>
              <a:p>
                <a:pPr lvl="1"/>
                <a:r>
                  <a:rPr lang="en-US" dirty="0"/>
                  <a:t>This paper focuses on three fundamental sensing services: </a:t>
                </a:r>
              </a:p>
              <a:p>
                <a:pPr lvl="2"/>
                <a:r>
                  <a:rPr lang="en-US" dirty="0"/>
                  <a:t>Target detection </a:t>
                </a:r>
              </a:p>
              <a:p>
                <a:pPr lvl="2"/>
                <a:r>
                  <a:rPr lang="en-US" dirty="0"/>
                  <a:t>Target localization </a:t>
                </a:r>
              </a:p>
              <a:p>
                <a:pPr lvl="2"/>
                <a:r>
                  <a:rPr lang="en-US" dirty="0"/>
                  <a:t>Target tracking</a:t>
                </a:r>
              </a:p>
              <a:p>
                <a:r>
                  <a:rPr lang="en-US" dirty="0">
                    <a:solidFill>
                      <a:srgbClr val="0000FF"/>
                    </a:solidFill>
                  </a:rPr>
                  <a:t>Detection QoS</a:t>
                </a:r>
              </a:p>
              <a:p>
                <a:pPr lvl="1"/>
                <a:r>
                  <a:rPr lang="en-US" dirty="0"/>
                  <a:t>Target detection determines whether a target is present or absent. </a:t>
                </a:r>
              </a:p>
              <a:p>
                <a:pPr lvl="2"/>
                <a:r>
                  <a:rPr lang="en-US" dirty="0"/>
                  <a:t>Main metrics: </a:t>
                </a:r>
              </a:p>
              <a:p>
                <a:pPr lvl="3"/>
                <a:r>
                  <a:rPr lang="en-US" dirty="0">
                    <a:solidFill>
                      <a:srgbClr val="7030A0"/>
                    </a:solidFill>
                  </a:rPr>
                  <a:t>Probability of Detection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𝐷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r>
                  <a:rPr lang="en-US" dirty="0">
                    <a:solidFill>
                      <a:srgbClr val="7030A0"/>
                    </a:solidFill>
                  </a:rPr>
                  <a:t>Probability of False Alarm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𝐹𝐴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In radar systems, the goal is usually: </a:t>
                </a:r>
              </a:p>
              <a:p>
                <a:pPr lvl="3"/>
                <a:r>
                  <a:rPr lang="en-US" dirty="0"/>
                  <a:t>Keep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𝐹𝐴</m:t>
                        </m:r>
                      </m:sub>
                    </m:sSub>
                  </m:oMath>
                </a14:m>
                <a:r>
                  <a:rPr lang="en-US" dirty="0"/>
                  <a:t> below a threshold </a:t>
                </a:r>
              </a:p>
              <a:p>
                <a:pPr lvl="3"/>
                <a:r>
                  <a:rPr lang="en-US" dirty="0"/>
                  <a:t>Maximize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3"/>
                <a:r>
                  <a:rPr lang="en-US" dirty="0"/>
                  <a:t>This follows the </a:t>
                </a:r>
                <a:r>
                  <a:rPr lang="en-US" dirty="0">
                    <a:solidFill>
                      <a:srgbClr val="7030A0"/>
                    </a:solidFill>
                  </a:rPr>
                  <a:t>Neyman-Pearson criterion.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61894-E869-3FC0-8C9D-D076B5F9F5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6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AA571-119E-35E3-A192-7279F462F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156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1B36D-E49E-2FE3-D992-9C39B3D55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8041D-EA68-986C-5D46-22336702C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Localization QoS</a:t>
            </a:r>
          </a:p>
          <a:p>
            <a:pPr lvl="1"/>
            <a:r>
              <a:rPr lang="en-US" dirty="0"/>
              <a:t>Localization estimates the position or parameters of a static target. </a:t>
            </a:r>
          </a:p>
          <a:p>
            <a:pPr lvl="1"/>
            <a:r>
              <a:rPr lang="en-US" dirty="0"/>
              <a:t>Important parameters include: </a:t>
            </a:r>
          </a:p>
          <a:p>
            <a:pPr marL="1200150" lvl="2" indent="-285750"/>
            <a:r>
              <a:rPr lang="en-US" dirty="0"/>
              <a:t>Time delay </a:t>
            </a:r>
          </a:p>
          <a:p>
            <a:pPr marL="1200150" lvl="2" indent="-285750"/>
            <a:r>
              <a:rPr lang="en-US" dirty="0"/>
              <a:t>Angle of arrival </a:t>
            </a:r>
          </a:p>
          <a:p>
            <a:pPr marL="1200150" lvl="2" indent="-285750"/>
            <a:r>
              <a:rPr lang="en-US" dirty="0"/>
              <a:t>Range </a:t>
            </a:r>
          </a:p>
          <a:p>
            <a:pPr lvl="1"/>
            <a:r>
              <a:rPr lang="en-US" dirty="0"/>
              <a:t>The direct metric is MSE, but it is often difficult to characterize. </a:t>
            </a:r>
          </a:p>
          <a:p>
            <a:pPr lvl="1"/>
            <a:r>
              <a:rPr lang="en-US" dirty="0"/>
              <a:t>Therefore, the paper uses </a:t>
            </a:r>
            <a:r>
              <a:rPr lang="en-US" dirty="0">
                <a:solidFill>
                  <a:srgbClr val="7030A0"/>
                </a:solidFill>
              </a:rPr>
              <a:t>Cramer-Rao Bound (CRB). </a:t>
            </a:r>
          </a:p>
          <a:p>
            <a:pPr lvl="1"/>
            <a:r>
              <a:rPr lang="en-US" dirty="0"/>
              <a:t>Lower CRB means better localization accuracy.</a:t>
            </a:r>
          </a:p>
          <a:p>
            <a:r>
              <a:rPr lang="en-US" dirty="0">
                <a:solidFill>
                  <a:srgbClr val="0000FF"/>
                </a:solidFill>
              </a:rPr>
              <a:t>Tracking QoS</a:t>
            </a:r>
          </a:p>
          <a:p>
            <a:pPr lvl="1"/>
            <a:r>
              <a:rPr lang="en-US" dirty="0"/>
              <a:t>Target tracking estimates the state variation of a moving target. </a:t>
            </a:r>
          </a:p>
          <a:p>
            <a:pPr lvl="1"/>
            <a:r>
              <a:rPr lang="en-US" dirty="0"/>
              <a:t>Target states may include: </a:t>
            </a:r>
          </a:p>
          <a:p>
            <a:pPr lvl="2"/>
            <a:r>
              <a:rPr lang="en-US" dirty="0"/>
              <a:t>Range </a:t>
            </a:r>
          </a:p>
          <a:p>
            <a:pPr lvl="2"/>
            <a:r>
              <a:rPr lang="en-US" dirty="0"/>
              <a:t>Angle </a:t>
            </a:r>
          </a:p>
          <a:p>
            <a:pPr lvl="2"/>
            <a:r>
              <a:rPr lang="en-US" dirty="0"/>
              <a:t>Velocity </a:t>
            </a:r>
          </a:p>
          <a:p>
            <a:pPr lvl="2"/>
            <a:r>
              <a:rPr lang="en-US" dirty="0"/>
              <a:t>Position </a:t>
            </a:r>
          </a:p>
          <a:p>
            <a:pPr lvl="1"/>
            <a:r>
              <a:rPr lang="en-US" dirty="0"/>
              <a:t>Tracking is important in high-mobility scenarios such as V2X. </a:t>
            </a:r>
          </a:p>
          <a:p>
            <a:pPr lvl="1"/>
            <a:r>
              <a:rPr lang="en-US" dirty="0"/>
              <a:t>The paper uses </a:t>
            </a:r>
            <a:r>
              <a:rPr lang="en-US" dirty="0">
                <a:solidFill>
                  <a:srgbClr val="7030A0"/>
                </a:solidFill>
              </a:rPr>
              <a:t>Posterior CRB (PCRB) </a:t>
            </a:r>
            <a:r>
              <a:rPr lang="en-US" dirty="0"/>
              <a:t>for tracking QoS. </a:t>
            </a:r>
          </a:p>
          <a:p>
            <a:pPr lvl="1"/>
            <a:r>
              <a:rPr lang="en-US" dirty="0"/>
              <a:t>PCRB uses both measurement data and prior state information.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A8897-D39B-D9BC-B078-83BD6D24F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8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DE7FE-22BF-FE9A-23A9-348C30698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A7230-DCC3-8305-2C8C-54CAF447C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Different Sensing QoS Requirements</a:t>
            </a:r>
          </a:p>
          <a:p>
            <a:pPr lvl="1"/>
            <a:r>
              <a:rPr lang="en-US" dirty="0"/>
              <a:t>Different users or targets may require different sensing QoS. </a:t>
            </a:r>
          </a:p>
          <a:p>
            <a:pPr lvl="1"/>
            <a:r>
              <a:rPr lang="en-US" dirty="0"/>
              <a:t>High sensing QoS is required for: </a:t>
            </a:r>
          </a:p>
          <a:p>
            <a:pPr lvl="2"/>
            <a:r>
              <a:rPr lang="en-US" dirty="0"/>
              <a:t>Pedestrians </a:t>
            </a:r>
          </a:p>
          <a:p>
            <a:pPr lvl="2"/>
            <a:r>
              <a:rPr lang="en-US" dirty="0"/>
              <a:t>Fast-moving vehicles </a:t>
            </a:r>
          </a:p>
          <a:p>
            <a:pPr lvl="2"/>
            <a:r>
              <a:rPr lang="en-US" dirty="0"/>
              <a:t>Sensitive or safety-critical targets </a:t>
            </a:r>
          </a:p>
          <a:p>
            <a:pPr lvl="1"/>
            <a:r>
              <a:rPr lang="en-US" dirty="0"/>
              <a:t>Lower sensing QoS may be acceptable for: </a:t>
            </a:r>
          </a:p>
          <a:p>
            <a:pPr lvl="2"/>
            <a:r>
              <a:rPr lang="en-US" dirty="0"/>
              <a:t>Static objects </a:t>
            </a:r>
          </a:p>
          <a:p>
            <a:pPr lvl="2"/>
            <a:r>
              <a:rPr lang="en-US" dirty="0"/>
              <a:t>Inanimate objects </a:t>
            </a:r>
          </a:p>
          <a:p>
            <a:pPr lvl="1"/>
            <a:r>
              <a:rPr lang="en-US" dirty="0"/>
              <a:t>The base station should </a:t>
            </a:r>
            <a:r>
              <a:rPr lang="en-US" dirty="0">
                <a:solidFill>
                  <a:srgbClr val="7030A0"/>
                </a:solidFill>
              </a:rPr>
              <a:t>allocate resources according to different S&amp;C needs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E6F24-EDEE-8C37-AAB2-8F1BC8F5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1322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BA00D-CCA5-98D5-2A56-5405DE5C4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5A48-A527-09E2-4B7A-403312442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Need for Resource Allocation</a:t>
            </a:r>
          </a:p>
          <a:p>
            <a:pPr lvl="1"/>
            <a:r>
              <a:rPr lang="en-US" dirty="0"/>
              <a:t>More transmit resources usually improve sensing and communication QoS. </a:t>
            </a:r>
          </a:p>
          <a:p>
            <a:pPr lvl="1"/>
            <a:r>
              <a:rPr lang="en-US" dirty="0"/>
              <a:t>However, practical resources are limited. </a:t>
            </a:r>
          </a:p>
          <a:p>
            <a:pPr lvl="1"/>
            <a:r>
              <a:rPr lang="en-US" dirty="0"/>
              <a:t>Important limited resources include: </a:t>
            </a:r>
          </a:p>
          <a:p>
            <a:pPr lvl="2"/>
            <a:r>
              <a:rPr lang="en-US" dirty="0"/>
              <a:t>Transmit power </a:t>
            </a:r>
          </a:p>
          <a:p>
            <a:pPr lvl="2"/>
            <a:r>
              <a:rPr lang="en-US" dirty="0"/>
              <a:t>Bandwidth </a:t>
            </a:r>
          </a:p>
          <a:p>
            <a:pPr lvl="1"/>
            <a:r>
              <a:rPr lang="en-US" dirty="0"/>
              <a:t>Limited resources create performance trade-offs among users. </a:t>
            </a:r>
          </a:p>
          <a:p>
            <a:pPr lvl="1"/>
            <a:r>
              <a:rPr lang="en-US" dirty="0"/>
              <a:t>Efficient resource allocation is necessary to optimize QoS performance.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01686-6D0B-E07D-07AB-C1DC558C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865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3860-EC41-5415-42DF-78EDC7983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30CC8-C7B2-FA7A-918C-3C9F5506B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Communication Resource Allocation</a:t>
            </a:r>
          </a:p>
          <a:p>
            <a:pPr lvl="1"/>
            <a:r>
              <a:rPr lang="en-US" dirty="0"/>
              <a:t>Communication achievable rate depends on power and bandwidth. </a:t>
            </a:r>
          </a:p>
          <a:p>
            <a:pPr lvl="1"/>
            <a:r>
              <a:rPr lang="en-US" dirty="0"/>
              <a:t>This follows Shannon’s theorem. </a:t>
            </a:r>
          </a:p>
          <a:p>
            <a:pPr lvl="2"/>
            <a:r>
              <a:rPr lang="en-US" dirty="0"/>
              <a:t>Resource allocation has been widely studied in: </a:t>
            </a:r>
          </a:p>
          <a:p>
            <a:pPr lvl="3"/>
            <a:r>
              <a:rPr lang="en-US" dirty="0"/>
              <a:t>OFDM systems </a:t>
            </a:r>
          </a:p>
          <a:p>
            <a:pPr lvl="3"/>
            <a:r>
              <a:rPr lang="en-US" dirty="0"/>
              <a:t>LTE-Advanced D2D communication </a:t>
            </a:r>
          </a:p>
          <a:p>
            <a:pPr lvl="3"/>
            <a:r>
              <a:rPr lang="en-US" dirty="0"/>
              <a:t>5G network slicing </a:t>
            </a:r>
          </a:p>
          <a:p>
            <a:pPr lvl="3"/>
            <a:r>
              <a:rPr lang="en-US" dirty="0"/>
              <a:t>NOMA systems </a:t>
            </a:r>
          </a:p>
          <a:p>
            <a:pPr lvl="2"/>
            <a:r>
              <a:rPr lang="en-US" dirty="0"/>
              <a:t>In OFDM, water-filling can optimally allocate power among subcarriers.</a:t>
            </a:r>
          </a:p>
          <a:p>
            <a:r>
              <a:rPr lang="en-US" dirty="0">
                <a:solidFill>
                  <a:srgbClr val="0000FF"/>
                </a:solidFill>
              </a:rPr>
              <a:t>Sensing Resource Allocation</a:t>
            </a:r>
          </a:p>
          <a:p>
            <a:pPr lvl="1"/>
            <a:r>
              <a:rPr lang="en-US" dirty="0"/>
              <a:t>Compared with communication, sensing resource allocation is less explored. </a:t>
            </a:r>
          </a:p>
          <a:p>
            <a:pPr lvl="1"/>
            <a:r>
              <a:rPr lang="en-US" dirty="0"/>
              <a:t>Existing sensing RA studies include: </a:t>
            </a:r>
          </a:p>
          <a:p>
            <a:pPr lvl="2"/>
            <a:r>
              <a:rPr lang="en-US" dirty="0"/>
              <a:t>Multibeam and power allocation for tracking </a:t>
            </a:r>
          </a:p>
          <a:p>
            <a:pPr lvl="2"/>
            <a:r>
              <a:rPr lang="en-US" dirty="0"/>
              <a:t>Dwell time allocation in phased-array radar </a:t>
            </a:r>
          </a:p>
          <a:p>
            <a:pPr lvl="2"/>
            <a:r>
              <a:rPr lang="en-US" dirty="0"/>
              <a:t>Power and bandwidth allocation to minimize PCRB </a:t>
            </a:r>
          </a:p>
          <a:p>
            <a:pPr lvl="1"/>
            <a:r>
              <a:rPr lang="en-US" dirty="0"/>
              <a:t>These works show that sensing performance also depends strongly on resource allocation.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3BDF7B-BA31-E0A5-630D-26BBB8114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786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9B513-DCFF-DCF9-D775-445C26963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016AD-1EA6-D7AB-6652-FC1742F8A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ISAC Resource Allocation Gap</a:t>
            </a:r>
          </a:p>
          <a:p>
            <a:pPr lvl="1"/>
            <a:r>
              <a:rPr lang="en-US" dirty="0"/>
              <a:t>Some ISAC resource allocation works already exist. </a:t>
            </a:r>
          </a:p>
          <a:p>
            <a:pPr lvl="1"/>
            <a:r>
              <a:rPr lang="en-US" dirty="0"/>
              <a:t>Examples include: </a:t>
            </a:r>
          </a:p>
          <a:p>
            <a:pPr lvl="2"/>
            <a:r>
              <a:rPr lang="en-US" dirty="0"/>
              <a:t>Power allocation between radar waveform and information signal </a:t>
            </a:r>
          </a:p>
          <a:p>
            <a:pPr lvl="2"/>
            <a:r>
              <a:rPr lang="en-US" dirty="0"/>
              <a:t>OFDM-ISAC power allocation using mutual information </a:t>
            </a:r>
          </a:p>
          <a:p>
            <a:pPr lvl="1"/>
            <a:r>
              <a:rPr lang="en-US" dirty="0"/>
              <a:t>However, previous works mainly focus on specific scenarios. </a:t>
            </a:r>
          </a:p>
          <a:p>
            <a:pPr lvl="1"/>
            <a:r>
              <a:rPr lang="en-US" dirty="0"/>
              <a:t>Most works focus only on power allocation. </a:t>
            </a:r>
          </a:p>
          <a:p>
            <a:pPr lvl="1"/>
            <a:r>
              <a:rPr lang="en-US" dirty="0"/>
              <a:t>A general network-level joint allocation of power and bandwidth for ISAC remains underexplored.</a:t>
            </a:r>
          </a:p>
          <a:p>
            <a:r>
              <a:rPr lang="en-US" dirty="0">
                <a:solidFill>
                  <a:srgbClr val="0000FF"/>
                </a:solidFill>
              </a:rPr>
              <a:t>Main Research Gap</a:t>
            </a:r>
          </a:p>
          <a:p>
            <a:pPr lvl="1"/>
            <a:r>
              <a:rPr lang="en-US" dirty="0"/>
              <a:t>Communication RA is well developed. </a:t>
            </a:r>
          </a:p>
          <a:p>
            <a:pPr lvl="1"/>
            <a:r>
              <a:rPr lang="en-US" dirty="0"/>
              <a:t>Sensing RA is still limited. </a:t>
            </a:r>
          </a:p>
          <a:p>
            <a:pPr lvl="1"/>
            <a:r>
              <a:rPr lang="en-US" dirty="0"/>
              <a:t>ISAC RA is not yet fully generalized. </a:t>
            </a:r>
          </a:p>
          <a:p>
            <a:pPr lvl="1"/>
            <a:r>
              <a:rPr lang="en-US" dirty="0"/>
              <a:t>Joint allocation of different resources, such as power and bandwidth, is still an open problem. </a:t>
            </a:r>
          </a:p>
          <a:p>
            <a:pPr lvl="1"/>
            <a:r>
              <a:rPr lang="en-US" dirty="0"/>
              <a:t>This motivates a unified ISAC resource allocation framework considering both sensing QoS and communication QoS.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E3D91-AAD3-2470-B459-F3F50857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805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C922-2A8C-AE0F-86C1-7D896B36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BD85E-EA43-693D-374F-CA5B2090B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Motivation of This Work</a:t>
            </a:r>
          </a:p>
          <a:p>
            <a:pPr lvl="1"/>
            <a:r>
              <a:rPr lang="en-US" dirty="0"/>
              <a:t>Conventional resource allocation schemes mainly focus on:</a:t>
            </a:r>
          </a:p>
          <a:p>
            <a:pPr lvl="2"/>
            <a:r>
              <a:rPr lang="en-US" dirty="0"/>
              <a:t>Performance trade-off among communication users</a:t>
            </a:r>
          </a:p>
          <a:p>
            <a:pPr lvl="2"/>
            <a:r>
              <a:rPr lang="en-US" dirty="0"/>
              <a:t>Performance trade-off among radar/sensing targets</a:t>
            </a:r>
          </a:p>
          <a:p>
            <a:pPr lvl="1"/>
            <a:r>
              <a:rPr lang="en-US" dirty="0"/>
              <a:t>However, in a </a:t>
            </a:r>
            <a:r>
              <a:rPr lang="en-US" dirty="0">
                <a:solidFill>
                  <a:srgbClr val="7030A0"/>
                </a:solidFill>
              </a:rPr>
              <a:t>perceptive network</a:t>
            </a:r>
            <a:r>
              <a:rPr lang="en-US" dirty="0"/>
              <a:t>, another important trade-off must be considered:</a:t>
            </a:r>
          </a:p>
          <a:p>
            <a:pPr lvl="2"/>
            <a:r>
              <a:rPr lang="en-US" dirty="0">
                <a:solidFill>
                  <a:srgbClr val="002060"/>
                </a:solidFill>
              </a:rPr>
              <a:t>Sensing service vs. Communication service</a:t>
            </a:r>
          </a:p>
          <a:p>
            <a:pPr lvl="2"/>
            <a:r>
              <a:rPr lang="en-US" dirty="0"/>
              <a:t>Different users may require different sensing and communication QoS levels.</a:t>
            </a:r>
          </a:p>
          <a:p>
            <a:pPr lvl="2"/>
            <a:r>
              <a:rPr lang="en-US" dirty="0"/>
              <a:t>Therefore, resource allocation should be designed according to </a:t>
            </a:r>
            <a:r>
              <a:rPr lang="en-US" dirty="0">
                <a:solidFill>
                  <a:srgbClr val="7030A0"/>
                </a:solidFill>
              </a:rPr>
              <a:t>user-specific QoS demands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0000FF"/>
                </a:solidFill>
              </a:rPr>
              <a:t>Unique Challenge in ISAC Resource Allocation</a:t>
            </a:r>
          </a:p>
          <a:p>
            <a:pPr lvl="1"/>
            <a:r>
              <a:rPr lang="en-US" dirty="0"/>
              <a:t>The same resource may have different importance for sensing and communication services.</a:t>
            </a:r>
          </a:p>
          <a:p>
            <a:pPr lvl="2"/>
            <a:r>
              <a:rPr lang="en-US" dirty="0"/>
              <a:t>For communication:</a:t>
            </a:r>
          </a:p>
          <a:p>
            <a:pPr lvl="3"/>
            <a:r>
              <a:rPr lang="en-US" dirty="0"/>
              <a:t>More power can improve SINR and achievable rate.</a:t>
            </a:r>
          </a:p>
          <a:p>
            <a:pPr lvl="3"/>
            <a:r>
              <a:rPr lang="en-US" dirty="0"/>
              <a:t>More bandwidth can improve data transmission rate.</a:t>
            </a:r>
          </a:p>
          <a:p>
            <a:pPr lvl="2"/>
            <a:r>
              <a:rPr lang="en-US" dirty="0"/>
              <a:t>For sensing:</a:t>
            </a:r>
          </a:p>
          <a:p>
            <a:pPr lvl="3"/>
            <a:r>
              <a:rPr lang="en-US" dirty="0"/>
              <a:t>More power can improve detection and estimation accuracy.</a:t>
            </a:r>
          </a:p>
          <a:p>
            <a:pPr lvl="3"/>
            <a:r>
              <a:rPr lang="en-US" dirty="0"/>
              <a:t>More bandwidth can improve sensing resolution and localization/tracking accuracy.</a:t>
            </a:r>
          </a:p>
          <a:p>
            <a:pPr lvl="1"/>
            <a:r>
              <a:rPr lang="en-US" dirty="0"/>
              <a:t>Therefore, ISAC resource allocation creates new challenges and opportunities for 6G network design.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884C4-5603-0553-1FE6-61CC7C11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200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53725-D769-724B-971C-D7A6B2084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B459E-F6CC-89A4-7154-997C8FEA8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Considered System Model</a:t>
            </a:r>
          </a:p>
          <a:p>
            <a:pPr lvl="1"/>
            <a:r>
              <a:rPr lang="en-US" dirty="0"/>
              <a:t>This paper considers a </a:t>
            </a:r>
            <a:r>
              <a:rPr lang="en-US" dirty="0">
                <a:solidFill>
                  <a:srgbClr val="7030A0"/>
                </a:solidFill>
              </a:rPr>
              <a:t>single-cell ISAC system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7030A0"/>
                </a:solidFill>
              </a:rPr>
              <a:t>MIMO base station (BS) </a:t>
            </a:r>
            <a:r>
              <a:rPr lang="en-US" dirty="0"/>
              <a:t>provides:</a:t>
            </a:r>
          </a:p>
          <a:p>
            <a:pPr lvl="2"/>
            <a:r>
              <a:rPr lang="en-US" dirty="0"/>
              <a:t>Communication service</a:t>
            </a:r>
          </a:p>
          <a:p>
            <a:pPr lvl="2"/>
            <a:r>
              <a:rPr lang="en-US" dirty="0"/>
              <a:t>Device-free sensing service</a:t>
            </a:r>
          </a:p>
          <a:p>
            <a:pPr lvl="1"/>
            <a:r>
              <a:rPr lang="en-US" dirty="0"/>
              <a:t>The BS simultaneously serves communication users and senses objects/targets.</a:t>
            </a:r>
          </a:p>
          <a:p>
            <a:pPr lvl="1"/>
            <a:r>
              <a:rPr lang="en-US" dirty="0"/>
              <a:t>The paper focuses on joint allocation of:</a:t>
            </a:r>
          </a:p>
          <a:p>
            <a:pPr lvl="2"/>
            <a:r>
              <a:rPr lang="en-US" dirty="0"/>
              <a:t>Transmit power</a:t>
            </a:r>
          </a:p>
          <a:p>
            <a:pPr lvl="2"/>
            <a:r>
              <a:rPr lang="en-US" dirty="0"/>
              <a:t>Bandwidth</a:t>
            </a:r>
          </a:p>
          <a:p>
            <a:pPr lvl="1"/>
            <a:r>
              <a:rPr lang="en-US" dirty="0"/>
              <a:t>Cooperative sensing in multi-cell ISAC systems is left for future work.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76C43-0830-54CB-6E0E-F7334524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685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5CF89-3196-7D29-51D8-7A527036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61666-FADF-09E8-347D-DE7536F09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Contribution 1: Unified ISAC RA Framework</a:t>
            </a:r>
          </a:p>
          <a:p>
            <a:pPr lvl="1"/>
            <a:r>
              <a:rPr lang="en-US" dirty="0"/>
              <a:t>The paper establishes a </a:t>
            </a:r>
            <a:r>
              <a:rPr lang="en-US" dirty="0">
                <a:solidFill>
                  <a:srgbClr val="7030A0"/>
                </a:solidFill>
              </a:rPr>
              <a:t>general resource allocation framework </a:t>
            </a:r>
            <a:r>
              <a:rPr lang="en-US" dirty="0"/>
              <a:t>for 6G perceptive networks. </a:t>
            </a:r>
          </a:p>
          <a:p>
            <a:pPr lvl="1"/>
            <a:r>
              <a:rPr lang="en-US" dirty="0"/>
              <a:t>The framework considers the trade-off between: </a:t>
            </a:r>
          </a:p>
          <a:p>
            <a:pPr lvl="2"/>
            <a:r>
              <a:rPr lang="en-US" dirty="0"/>
              <a:t>Communication service </a:t>
            </a:r>
          </a:p>
          <a:p>
            <a:pPr lvl="2"/>
            <a:r>
              <a:rPr lang="en-US" dirty="0"/>
              <a:t>Sensing service </a:t>
            </a:r>
          </a:p>
          <a:p>
            <a:pPr lvl="1"/>
            <a:r>
              <a:rPr lang="en-US" dirty="0"/>
              <a:t>Different sensing services are considered, including: </a:t>
            </a:r>
          </a:p>
          <a:p>
            <a:pPr lvl="2"/>
            <a:r>
              <a:rPr lang="en-US" dirty="0"/>
              <a:t>Target detection </a:t>
            </a:r>
          </a:p>
          <a:p>
            <a:pPr lvl="2"/>
            <a:r>
              <a:rPr lang="en-US" dirty="0"/>
              <a:t>Target localization </a:t>
            </a:r>
          </a:p>
          <a:p>
            <a:pPr lvl="2"/>
            <a:r>
              <a:rPr lang="en-US" dirty="0"/>
              <a:t>Target tracking </a:t>
            </a:r>
          </a:p>
          <a:p>
            <a:pPr lvl="1"/>
            <a:r>
              <a:rPr lang="en-US" dirty="0"/>
              <a:t>The BS can provide communication and device-free sensing services according to user-specific QoS requirements.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40B19-5586-74D0-8E61-382A6235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422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37064E7A-40BE-A3A6-1110-D726B4214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45E22-A97B-A64A-10DC-E443B663B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18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ADD8EE2C-427B-F540-16DA-8433BC3BA4C2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750368835"/>
                  </p:ext>
                </p:extLst>
              </p:nvPr>
            </p:nvGraphicFramePr>
            <p:xfrm>
              <a:off x="6270771" y="1815353"/>
              <a:ext cx="4932725" cy="342772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117475">
                      <a:extLst>
                        <a:ext uri="{9D8B030D-6E8A-4147-A177-3AD203B41FA5}">
                          <a16:colId xmlns:a16="http://schemas.microsoft.com/office/drawing/2014/main" val="2270746042"/>
                        </a:ext>
                      </a:extLst>
                    </a:gridCol>
                    <a:gridCol w="2815250">
                      <a:extLst>
                        <a:ext uri="{9D8B030D-6E8A-4147-A177-3AD203B41FA5}">
                          <a16:colId xmlns:a16="http://schemas.microsoft.com/office/drawing/2014/main" val="3786276296"/>
                        </a:ext>
                      </a:extLst>
                    </a:gridCol>
                  </a:tblGrid>
                  <a:tr h="5669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Sensing Task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/>
                            <a:t>QoS Metric</a:t>
                          </a:r>
                        </a:p>
                      </a:txBody>
                      <a:tcPr marL="99981" marR="99981" marT="49991" marB="49991" anchor="ctr"/>
                    </a:tc>
                    <a:extLst>
                      <a:ext uri="{0D108BD9-81ED-4DB2-BD59-A6C34878D82A}">
                        <a16:rowId xmlns:a16="http://schemas.microsoft.com/office/drawing/2014/main" val="3500575354"/>
                      </a:ext>
                    </a:extLst>
                  </a:tr>
                  <a:tr h="9535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/>
                            <a:t>Target Detection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Probability of Detection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</m:sSub>
                            </m:oMath>
                          </a14:m>
                          <a:endParaRPr lang="en-US" sz="2000" dirty="0"/>
                        </a:p>
                      </a:txBody>
                      <a:tcPr marL="99981" marR="99981" marT="49991" marB="49991" anchor="ctr"/>
                    </a:tc>
                    <a:extLst>
                      <a:ext uri="{0D108BD9-81ED-4DB2-BD59-A6C34878D82A}">
                        <a16:rowId xmlns:a16="http://schemas.microsoft.com/office/drawing/2014/main" val="886118662"/>
                      </a:ext>
                    </a:extLst>
                  </a:tr>
                  <a:tr h="9535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Target Localization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Cramér-Rao Bound (CRB)</a:t>
                          </a:r>
                        </a:p>
                      </a:txBody>
                      <a:tcPr marL="99981" marR="99981" marT="49991" marB="49991" anchor="ctr"/>
                    </a:tc>
                    <a:extLst>
                      <a:ext uri="{0D108BD9-81ED-4DB2-BD59-A6C34878D82A}">
                        <a16:rowId xmlns:a16="http://schemas.microsoft.com/office/drawing/2014/main" val="3456772828"/>
                      </a:ext>
                    </a:extLst>
                  </a:tr>
                  <a:tr h="9535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/>
                            <a:t>Target Tracking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Posterior Cramér-Rao Bound (PCRB)</a:t>
                          </a:r>
                        </a:p>
                      </a:txBody>
                      <a:tcPr marL="99981" marR="99981" marT="49991" marB="49991" anchor="ctr"/>
                    </a:tc>
                    <a:extLst>
                      <a:ext uri="{0D108BD9-81ED-4DB2-BD59-A6C34878D82A}">
                        <a16:rowId xmlns:a16="http://schemas.microsoft.com/office/drawing/2014/main" val="97642491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ADD8EE2C-427B-F540-16DA-8433BC3BA4C2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750368835"/>
                  </p:ext>
                </p:extLst>
              </p:nvPr>
            </p:nvGraphicFramePr>
            <p:xfrm>
              <a:off x="6270771" y="1815353"/>
              <a:ext cx="4932725" cy="3427726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117475">
                      <a:extLst>
                        <a:ext uri="{9D8B030D-6E8A-4147-A177-3AD203B41FA5}">
                          <a16:colId xmlns:a16="http://schemas.microsoft.com/office/drawing/2014/main" val="2270746042"/>
                        </a:ext>
                      </a:extLst>
                    </a:gridCol>
                    <a:gridCol w="2815250">
                      <a:extLst>
                        <a:ext uri="{9D8B030D-6E8A-4147-A177-3AD203B41FA5}">
                          <a16:colId xmlns:a16="http://schemas.microsoft.com/office/drawing/2014/main" val="3786276296"/>
                        </a:ext>
                      </a:extLst>
                    </a:gridCol>
                  </a:tblGrid>
                  <a:tr h="5669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Sensing Task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/>
                            <a:t>QoS Metric</a:t>
                          </a:r>
                        </a:p>
                      </a:txBody>
                      <a:tcPr marL="99981" marR="99981" marT="49991" marB="49991" anchor="ctr"/>
                    </a:tc>
                    <a:extLst>
                      <a:ext uri="{0D108BD9-81ED-4DB2-BD59-A6C34878D82A}">
                        <a16:rowId xmlns:a16="http://schemas.microsoft.com/office/drawing/2014/main" val="3500575354"/>
                      </a:ext>
                    </a:extLst>
                  </a:tr>
                  <a:tr h="9535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/>
                            <a:t>Target Detection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9981" marR="99981" marT="49991" marB="49991" anchor="ctr">
                        <a:blipFill>
                          <a:blip r:embed="rId2"/>
                          <a:stretch>
                            <a:fillRect l="-75541" t="-59873" r="-433" b="-2012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6118662"/>
                      </a:ext>
                    </a:extLst>
                  </a:tr>
                  <a:tr h="9535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Target Localization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Cramér-Rao Bound (CRB)</a:t>
                          </a:r>
                        </a:p>
                      </a:txBody>
                      <a:tcPr marL="99981" marR="99981" marT="49991" marB="49991" anchor="ctr"/>
                    </a:tc>
                    <a:extLst>
                      <a:ext uri="{0D108BD9-81ED-4DB2-BD59-A6C34878D82A}">
                        <a16:rowId xmlns:a16="http://schemas.microsoft.com/office/drawing/2014/main" val="3456772828"/>
                      </a:ext>
                    </a:extLst>
                  </a:tr>
                  <a:tr h="9535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/>
                            <a:t>Target Tracking</a:t>
                          </a:r>
                        </a:p>
                      </a:txBody>
                      <a:tcPr marL="99981" marR="99981" marT="49991" marB="4999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dirty="0"/>
                            <a:t>Posterior Cramér-Rao Bound (PCRB)</a:t>
                          </a:r>
                        </a:p>
                      </a:txBody>
                      <a:tcPr marL="99981" marR="99981" marT="49991" marB="49991" anchor="ctr"/>
                    </a:tc>
                    <a:extLst>
                      <a:ext uri="{0D108BD9-81ED-4DB2-BD59-A6C34878D82A}">
                        <a16:rowId xmlns:a16="http://schemas.microsoft.com/office/drawing/2014/main" val="97642491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86BF253-D5E2-AE62-26E8-84288F6616EF}"/>
              </a:ext>
            </a:extLst>
          </p:cNvPr>
          <p:cNvSpPr txBox="1"/>
          <p:nvPr/>
        </p:nvSpPr>
        <p:spPr>
          <a:xfrm>
            <a:off x="939566" y="1711353"/>
            <a:ext cx="5297649" cy="44656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 2 : Sensing QoS Definition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paper defines sensing QoS for different sensing tasks. 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Different metrics are used for different sensing services: 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metrics allow sensing performance to be evaluated in an application-specific manner.</a:t>
            </a:r>
          </a:p>
        </p:txBody>
      </p:sp>
    </p:spTree>
    <p:extLst>
      <p:ext uri="{BB962C8B-B14F-4D97-AF65-F5344CB8AC3E}">
        <p14:creationId xmlns:p14="http://schemas.microsoft.com/office/powerpoint/2010/main" val="2176935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9DC23F8-188A-49F1-CC5F-C55082502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9A2278F-438D-A757-C222-E36C5E7DE8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Detection and Localization QoS</a:t>
                </a:r>
              </a:p>
              <a:p>
                <a:pPr lvl="1"/>
                <a:r>
                  <a:rPr lang="en-US" dirty="0"/>
                  <a:t>For </a:t>
                </a:r>
                <a:r>
                  <a:rPr lang="en-US" dirty="0">
                    <a:solidFill>
                      <a:srgbClr val="7030A0"/>
                    </a:solidFill>
                  </a:rPr>
                  <a:t>target detection</a:t>
                </a:r>
                <a:r>
                  <a:rPr lang="en-US" dirty="0"/>
                  <a:t>, the sensing QoS is measured by: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Probability of Detection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𝐷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represents the probability that the system correctly detects a target when the target is actually present. </a:t>
                </a:r>
              </a:p>
              <a:p>
                <a:pPr lvl="2"/>
                <a:r>
                  <a:rPr lang="en-US" dirty="0"/>
                  <a:t>For </a:t>
                </a:r>
                <a:r>
                  <a:rPr lang="en-US" dirty="0">
                    <a:solidFill>
                      <a:srgbClr val="0070C0"/>
                    </a:solidFill>
                  </a:rPr>
                  <a:t>target localization</a:t>
                </a:r>
                <a:r>
                  <a:rPr lang="en-US" dirty="0"/>
                  <a:t>, the sensing QoS is measured by:</a:t>
                </a:r>
              </a:p>
              <a:p>
                <a:pPr lvl="3"/>
                <a:r>
                  <a:rPr lang="en-US" dirty="0">
                    <a:solidFill>
                      <a:srgbClr val="7030A0"/>
                    </a:solidFill>
                  </a:rPr>
                  <a:t>Cramer-Rao Bound (CRB)</a:t>
                </a:r>
              </a:p>
              <a:p>
                <a:pPr lvl="3"/>
                <a:r>
                  <a:rPr lang="en-US" dirty="0"/>
                  <a:t>CRB provides a theoretical lower bound on the estimation error variance. </a:t>
                </a:r>
              </a:p>
              <a:p>
                <a:pPr lvl="3"/>
                <a:r>
                  <a:rPr lang="en-US" dirty="0"/>
                  <a:t>Lower CRB indicates better localization accuracy.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49A2278F-438D-A757-C222-E36C5E7DE8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37827-C3EF-E3F3-8E2F-97EBCCA4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004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C643-80C4-4D8A-AE29-680F1608D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E6BC-EAFF-600D-AEF0-DD611C36A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Tracking QoS</a:t>
            </a:r>
          </a:p>
          <a:p>
            <a:pPr lvl="1"/>
            <a:r>
              <a:rPr lang="en-US" dirty="0"/>
              <a:t>For </a:t>
            </a:r>
            <a:r>
              <a:rPr lang="en-US" dirty="0">
                <a:solidFill>
                  <a:srgbClr val="7030A0"/>
                </a:solidFill>
              </a:rPr>
              <a:t>target tracking</a:t>
            </a:r>
            <a:r>
              <a:rPr lang="en-US" dirty="0"/>
              <a:t>, the paper uses: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Posterior Cramer-Rao Bound (PCRB)</a:t>
            </a:r>
          </a:p>
          <a:p>
            <a:pPr lvl="2"/>
            <a:r>
              <a:rPr lang="en-US" dirty="0"/>
              <a:t>Tracking is used to estimate the state variation of moving targets. </a:t>
            </a:r>
          </a:p>
          <a:p>
            <a:pPr lvl="2"/>
            <a:r>
              <a:rPr lang="en-US" dirty="0"/>
              <a:t>Target states may include: </a:t>
            </a:r>
          </a:p>
          <a:p>
            <a:pPr lvl="3"/>
            <a:r>
              <a:rPr lang="en-US" dirty="0"/>
              <a:t>Range </a:t>
            </a:r>
          </a:p>
          <a:p>
            <a:pPr lvl="3"/>
            <a:r>
              <a:rPr lang="en-US" dirty="0"/>
              <a:t>Angle </a:t>
            </a:r>
          </a:p>
          <a:p>
            <a:pPr lvl="3"/>
            <a:r>
              <a:rPr lang="en-US" dirty="0"/>
              <a:t>Velocity </a:t>
            </a:r>
          </a:p>
          <a:p>
            <a:pPr lvl="3"/>
            <a:r>
              <a:rPr lang="en-US" dirty="0"/>
              <a:t>Position </a:t>
            </a:r>
          </a:p>
          <a:p>
            <a:pPr lvl="2"/>
            <a:r>
              <a:rPr lang="en-US" dirty="0"/>
              <a:t>The paper establishes: </a:t>
            </a:r>
          </a:p>
          <a:p>
            <a:pPr lvl="3"/>
            <a:r>
              <a:rPr lang="en-US" dirty="0"/>
              <a:t>State model </a:t>
            </a:r>
          </a:p>
          <a:p>
            <a:pPr lvl="3"/>
            <a:r>
              <a:rPr lang="en-US" dirty="0"/>
              <a:t>Measurement model </a:t>
            </a:r>
          </a:p>
          <a:p>
            <a:pPr lvl="3"/>
            <a:r>
              <a:rPr lang="en-US" dirty="0"/>
              <a:t>PCRB expression </a:t>
            </a:r>
          </a:p>
          <a:p>
            <a:pPr lvl="2"/>
            <a:r>
              <a:rPr lang="en-US" dirty="0"/>
              <a:t>An </a:t>
            </a:r>
            <a:r>
              <a:rPr lang="en-US" dirty="0">
                <a:solidFill>
                  <a:srgbClr val="7030A0"/>
                </a:solidFill>
              </a:rPr>
              <a:t>Extended Kalman Filtering (EKF) </a:t>
            </a:r>
            <a:r>
              <a:rPr lang="en-US" dirty="0"/>
              <a:t>scheme is adopted to construct a closed tracking loop.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C7B33-E863-15D3-C606-B5DE5549A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580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ACEF9-83F1-FE2A-53E8-AAFCA51E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33AE0-53E1-ED92-42A2-30FC47E96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Contribution 3: Optimization Approach</a:t>
            </a:r>
          </a:p>
          <a:p>
            <a:pPr lvl="1"/>
            <a:r>
              <a:rPr lang="en-US" dirty="0"/>
              <a:t>The paper proposes effective approaches to solve the ISAC resource allocation problems. </a:t>
            </a:r>
          </a:p>
          <a:p>
            <a:pPr lvl="1"/>
            <a:r>
              <a:rPr lang="en-US" dirty="0"/>
              <a:t>Two optimization criteria are considered for each sensing task: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1. Fairness Criterion</a:t>
            </a:r>
          </a:p>
          <a:p>
            <a:pPr lvl="3"/>
            <a:r>
              <a:rPr lang="en-US" dirty="0"/>
              <a:t>Balances QoS among different users or services. </a:t>
            </a:r>
          </a:p>
          <a:p>
            <a:pPr lvl="2"/>
            <a:r>
              <a:rPr lang="en-US" dirty="0">
                <a:solidFill>
                  <a:srgbClr val="7030A0"/>
                </a:solidFill>
              </a:rPr>
              <a:t>2. Comprehensiveness Criterion</a:t>
            </a:r>
          </a:p>
          <a:p>
            <a:pPr lvl="3"/>
            <a:r>
              <a:rPr lang="en-US" dirty="0"/>
              <a:t>Improves the overall sensing and communication performance. </a:t>
            </a:r>
          </a:p>
          <a:p>
            <a:pPr lvl="2"/>
            <a:r>
              <a:rPr lang="en-US" dirty="0"/>
              <a:t>The original optimization problems are transformed into convex forms. </a:t>
            </a:r>
          </a:p>
          <a:p>
            <a:pPr lvl="2"/>
            <a:r>
              <a:rPr lang="en-US" dirty="0"/>
              <a:t>Then, an </a:t>
            </a:r>
            <a:r>
              <a:rPr lang="en-US" dirty="0">
                <a:solidFill>
                  <a:srgbClr val="7030A0"/>
                </a:solidFill>
              </a:rPr>
              <a:t>Alternative Optimization (AO) </a:t>
            </a:r>
            <a:r>
              <a:rPr lang="en-US" dirty="0"/>
              <a:t>method is adopted.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62107-7ABF-8733-FB9C-687BF8E1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829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5405-A08B-2202-E21B-50D051690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7775C-49FF-1E00-8FFD-2470F43C1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Alternative Optimization Method</a:t>
            </a:r>
          </a:p>
          <a:p>
            <a:pPr lvl="1"/>
            <a:r>
              <a:rPr lang="en-US" dirty="0"/>
              <a:t>The resource allocation problem involves coupled variables: </a:t>
            </a:r>
          </a:p>
          <a:p>
            <a:pPr lvl="2"/>
            <a:r>
              <a:rPr lang="en-US" dirty="0"/>
              <a:t>Power allocation </a:t>
            </a:r>
          </a:p>
          <a:p>
            <a:pPr lvl="2"/>
            <a:r>
              <a:rPr lang="en-US" dirty="0"/>
              <a:t>Bandwidth allocation </a:t>
            </a:r>
          </a:p>
          <a:p>
            <a:pPr lvl="1"/>
            <a:r>
              <a:rPr lang="en-US" dirty="0"/>
              <a:t>Directly solving the joint problem can be difficult. </a:t>
            </a:r>
          </a:p>
          <a:p>
            <a:pPr lvl="1"/>
            <a:r>
              <a:rPr lang="en-US" dirty="0"/>
              <a:t>The AO method decouples the variables and optimizes them alternatively. </a:t>
            </a:r>
          </a:p>
          <a:p>
            <a:pPr lvl="1"/>
            <a:r>
              <a:rPr lang="en-US" dirty="0"/>
              <a:t>Basic idea: </a:t>
            </a:r>
          </a:p>
          <a:p>
            <a:pPr lvl="2"/>
            <a:r>
              <a:rPr lang="en-US" dirty="0"/>
              <a:t>Fix bandwidth and optimize power </a:t>
            </a:r>
          </a:p>
          <a:p>
            <a:pPr lvl="2"/>
            <a:r>
              <a:rPr lang="en-US" dirty="0"/>
              <a:t>Fix power and optimize bandwidth </a:t>
            </a:r>
          </a:p>
          <a:p>
            <a:pPr lvl="2"/>
            <a:r>
              <a:rPr lang="en-US" dirty="0"/>
              <a:t>Repeat until convergence </a:t>
            </a:r>
          </a:p>
          <a:p>
            <a:pPr lvl="1"/>
            <a:r>
              <a:rPr lang="en-US" dirty="0"/>
              <a:t>This makes the problem easier to solve efficiently.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29BE1-7845-37FA-D994-F5B150D8E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78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72FE-2291-76ED-9E98-1421DD77E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480B2-A724-827A-93DC-6841C9D0B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Contribution 4 : Numerical Trade-off Analysis</a:t>
            </a:r>
          </a:p>
          <a:p>
            <a:pPr lvl="1"/>
            <a:r>
              <a:rPr lang="en-US" dirty="0"/>
              <a:t>The paper analyzes the performance trade-off through numerical simulations. </a:t>
            </a:r>
          </a:p>
          <a:p>
            <a:pPr lvl="1"/>
            <a:r>
              <a:rPr lang="en-US" dirty="0"/>
              <a:t>The simulations study: </a:t>
            </a:r>
          </a:p>
          <a:p>
            <a:pPr lvl="2"/>
            <a:r>
              <a:rPr lang="en-US" dirty="0"/>
              <a:t>Trade-off between sensing and communication services </a:t>
            </a:r>
          </a:p>
          <a:p>
            <a:pPr lvl="2"/>
            <a:r>
              <a:rPr lang="en-US" dirty="0"/>
              <a:t>Trade-off among different users </a:t>
            </a:r>
          </a:p>
          <a:p>
            <a:pPr lvl="2"/>
            <a:r>
              <a:rPr lang="en-US" dirty="0"/>
              <a:t>Impact of different resource allocation schemes </a:t>
            </a:r>
          </a:p>
          <a:p>
            <a:pPr lvl="1"/>
            <a:r>
              <a:rPr lang="en-US" dirty="0"/>
              <a:t>The results show how limited power and bandwidth should be allocated to satisfy both sensing and communication QoS.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CD6FB-927E-4507-BC8E-8EF44B12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770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1758</Words>
  <Application>Microsoft Office PowerPoint</Application>
  <PresentationFormat>Widescreen</PresentationFormat>
  <Paragraphs>309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맑은 고딕</vt:lpstr>
      <vt:lpstr>Arial</vt:lpstr>
      <vt:lpstr>Arial Black</vt:lpstr>
      <vt:lpstr>Cambria Math</vt:lpstr>
      <vt:lpstr>Tahoma</vt:lpstr>
      <vt:lpstr>Office 테마</vt:lpstr>
      <vt:lpstr>Sensing as a Service in 6G Perceptive Networks: A Unified Framework for ISAC Resource Allocation</vt:lpstr>
      <vt:lpstr>Table of Contents</vt:lpstr>
      <vt:lpstr>Abstract</vt:lpstr>
      <vt:lpstr>Abstract</vt:lpstr>
      <vt:lpstr>Abstract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5</cp:revision>
  <dcterms:created xsi:type="dcterms:W3CDTF">2018-05-20T06:28:16Z</dcterms:created>
  <dcterms:modified xsi:type="dcterms:W3CDTF">2026-06-04T11:40:20Z</dcterms:modified>
</cp:coreProperties>
</file>