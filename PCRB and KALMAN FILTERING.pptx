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1420" r:id="rId2"/>
    <p:sldId id="1535" r:id="rId3"/>
    <p:sldId id="1536" r:id="rId4"/>
    <p:sldId id="1537" r:id="rId5"/>
    <p:sldId id="1538" r:id="rId6"/>
    <p:sldId id="1539" r:id="rId7"/>
    <p:sldId id="1540" r:id="rId8"/>
    <p:sldId id="1541" r:id="rId9"/>
    <p:sldId id="1542" r:id="rId10"/>
    <p:sldId id="1543" r:id="rId11"/>
    <p:sldId id="1544" r:id="rId12"/>
    <p:sldId id="1545" r:id="rId13"/>
    <p:sldId id="1546" r:id="rId14"/>
    <p:sldId id="1547" r:id="rId15"/>
    <p:sldId id="1548" r:id="rId16"/>
    <p:sldId id="1549" r:id="rId17"/>
    <p:sldId id="1550" r:id="rId18"/>
    <p:sldId id="1551" r:id="rId19"/>
    <p:sldId id="1552" r:id="rId20"/>
    <p:sldId id="1553" r:id="rId21"/>
    <p:sldId id="1554" r:id="rId22"/>
    <p:sldId id="1555" r:id="rId23"/>
    <p:sldId id="1556" r:id="rId24"/>
    <p:sldId id="1557" r:id="rId25"/>
    <p:sldId id="1558" r:id="rId26"/>
    <p:sldId id="1559" r:id="rId27"/>
    <p:sldId id="1560" r:id="rId28"/>
    <p:sldId id="1561" r:id="rId29"/>
    <p:sldId id="1562" r:id="rId30"/>
    <p:sldId id="1563" r:id="rId31"/>
    <p:sldId id="1564" r:id="rId32"/>
    <p:sldId id="1576" r:id="rId33"/>
    <p:sldId id="1577" r:id="rId34"/>
    <p:sldId id="1578" r:id="rId35"/>
    <p:sldId id="1579" r:id="rId36"/>
    <p:sldId id="1580" r:id="rId37"/>
    <p:sldId id="1581" r:id="rId38"/>
    <p:sldId id="1582" r:id="rId39"/>
    <p:sldId id="1566" r:id="rId40"/>
    <p:sldId id="1567" r:id="rId41"/>
    <p:sldId id="1568" r:id="rId42"/>
    <p:sldId id="1569" r:id="rId43"/>
    <p:sldId id="1570" r:id="rId44"/>
    <p:sldId id="1571" r:id="rId45"/>
    <p:sldId id="1572" r:id="rId46"/>
    <p:sldId id="1573" r:id="rId47"/>
    <p:sldId id="1574" r:id="rId48"/>
    <p:sldId id="1575" r:id="rId49"/>
    <p:sldId id="1583" r:id="rId50"/>
    <p:sldId id="1584" r:id="rId51"/>
    <p:sldId id="1585" r:id="rId52"/>
    <p:sldId id="1586" r:id="rId53"/>
    <p:sldId id="1587" r:id="rId54"/>
    <p:sldId id="1588" r:id="rId55"/>
    <p:sldId id="1589" r:id="rId56"/>
    <p:sldId id="1590" r:id="rId57"/>
    <p:sldId id="1591" r:id="rId58"/>
    <p:sldId id="1592" r:id="rId59"/>
    <p:sldId id="1593" r:id="rId60"/>
    <p:sldId id="1594" r:id="rId61"/>
    <p:sldId id="1595" r:id="rId62"/>
    <p:sldId id="1596" r:id="rId63"/>
    <p:sldId id="1597" r:id="rId64"/>
    <p:sldId id="1598" r:id="rId65"/>
    <p:sldId id="1599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193C43-86CB-4E59-B1EB-ADE4B892B60F}" v="3" dt="2026-03-09T01:02:53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K MD GULAM" userId="3629686c-1963-4ad0-9d90-f64896f145bd" providerId="ADAL" clId="{C1066301-46E8-4A63-ABD9-64A0D5EA0B02}"/>
    <pc:docChg chg="custSel modSld">
      <pc:chgData name="ISHAK MD GULAM" userId="3629686c-1963-4ad0-9d90-f64896f145bd" providerId="ADAL" clId="{C1066301-46E8-4A63-ABD9-64A0D5EA0B02}" dt="2026-03-09T01:06:44.258" v="194" actId="20577"/>
      <pc:docMkLst>
        <pc:docMk/>
      </pc:docMkLst>
      <pc:sldChg chg="modSp mod">
        <pc:chgData name="ISHAK MD GULAM" userId="3629686c-1963-4ad0-9d90-f64896f145bd" providerId="ADAL" clId="{C1066301-46E8-4A63-ABD9-64A0D5EA0B02}" dt="2026-03-09T01:06:44.258" v="194" actId="20577"/>
        <pc:sldMkLst>
          <pc:docMk/>
          <pc:sldMk cId="1157537709" sldId="1420"/>
        </pc:sldMkLst>
        <pc:spChg chg="mod">
          <ac:chgData name="ISHAK MD GULAM" userId="3629686c-1963-4ad0-9d90-f64896f145bd" providerId="ADAL" clId="{C1066301-46E8-4A63-ABD9-64A0D5EA0B02}" dt="2026-03-09T01:03:37.255" v="185" actId="27636"/>
          <ac:spMkLst>
            <pc:docMk/>
            <pc:sldMk cId="1157537709" sldId="1420"/>
            <ac:spMk id="2" creationId="{773E81F8-418E-46B0-BF79-A9E5C85CC220}"/>
          </ac:spMkLst>
        </pc:spChg>
        <pc:spChg chg="mod">
          <ac:chgData name="ISHAK MD GULAM" userId="3629686c-1963-4ad0-9d90-f64896f145bd" providerId="ADAL" clId="{C1066301-46E8-4A63-ABD9-64A0D5EA0B02}" dt="2026-03-09T01:06:44.258" v="194" actId="20577"/>
          <ac:spMkLst>
            <pc:docMk/>
            <pc:sldMk cId="1157537709" sldId="1420"/>
            <ac:spMk id="3" creationId="{9B30F031-E57C-4418-8811-D07BEE7C11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A80AD-75C0-4139-8349-D7A56AAE3422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06930-2FBF-4BDF-BB7A-ED0F3C0B85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361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BAEBA-F25F-4473-80C2-25CDA93B21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5EA62A-FC14-43A6-9DFC-64DD0EA5E6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73821"/>
            <a:ext cx="9144000" cy="1655762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FBF63-6BE2-44A2-9B92-27824B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EF48-9CCD-4EE9-BB40-4739D0DAE972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98BBDE-AC92-4490-AADC-B4FE998E9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7C4298-2A89-4F0A-B1C0-77A88295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8C916F-6552-480F-893B-32796E62A980}"/>
              </a:ext>
            </a:extLst>
          </p:cNvPr>
          <p:cNvSpPr/>
          <p:nvPr userDrawn="1"/>
        </p:nvSpPr>
        <p:spPr>
          <a:xfrm>
            <a:off x="838200" y="3599357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21520A-C81E-4CF1-AECD-A61D6660DB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E0C27-FA2C-4144-B7E7-505744E575A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FB215-C15F-4E74-86DC-78FAD0147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4ADD3-F434-478C-876A-1D3933DF4707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EAFA9-F342-4D37-B503-8DFA950A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22012F-5023-43D1-B1CF-BFE3A893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5CEF90-2A69-4F23-93AB-B8D6AADF74CD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9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8F93D-390F-465E-B0D5-72A75C273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01743D-6833-4A7C-B35A-0BDDB635A98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Master Subtitle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2845C-3C54-4151-820C-12503D6F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26BB-6A75-410D-A6B0-8FD34915C10D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55650C-CE10-43E1-AA00-22EE20BAA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FE2F95-697E-490C-9C4D-A59E0F91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21879A5-E33B-484A-B193-FE66531AACAC}"/>
              </a:ext>
            </a:extLst>
          </p:cNvPr>
          <p:cNvSpPr/>
          <p:nvPr userDrawn="1"/>
        </p:nvSpPr>
        <p:spPr>
          <a:xfrm>
            <a:off x="838200" y="4413578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86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7D261-400F-43CD-95C8-FE0DF8044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346026-ED45-448B-8D67-475453B7B9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649691"/>
            <a:ext cx="5104598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6C6A5-08D8-440E-B258-B881C64EC21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649691"/>
            <a:ext cx="5181600" cy="45272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9FDB51-62F3-4D1B-B8F7-D40284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CDF8-1723-475A-8393-34F016E9B184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744B04-D686-4DE2-BDDC-A3B4F371D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FBE183-4474-4131-AEA4-9ADE4020A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208725-7285-4D04-9690-A0DD84547197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4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BF73A-35E0-4388-AE26-587E20896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9F70A1-A021-4782-95A0-99F4C3203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0FFB53-257A-4315-A28C-9FE12D4C9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A17D5D-46C0-4878-B7E2-BD08FCD0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C2F3F9-8CCB-4F5B-85A6-D7470170DC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47C80F-A4FC-4C78-89AB-B072C5C0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CD4A-1F8C-4D3E-BDD6-84C4090AF0D6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AD4C5CE-D7DE-4C43-8F9E-7EA5847E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81C2CFA-CB2F-4476-8491-FBDAB29C3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163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1B9CC5-A2AF-47C1-8376-B695DF82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A6AA3E-6C10-4BA8-AF8D-ECF436F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73545-46C1-49FB-A041-5415163523D0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DE3192-439D-4BEF-8848-4DF7C36D1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05EAAA-CE1A-4578-A8FD-BDB3D530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670823-6C59-4996-843F-A4B8E1292D69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5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FA01BA-2C19-4BC8-9D08-60CC0DEE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BC6A4-6274-4803-89FF-1DA18D4FE7AA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921DE2-A0F7-482E-898F-C86B8C83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96F57A-5DCA-4541-B19A-1752D1A3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11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04372-0C6C-4F44-86AB-8DDAF142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E88709-254A-4ED6-9188-74666615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5872FF-AC9A-49BF-AC6E-F9EA1A406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015C5-8E89-4986-AA3C-42A3F8F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A353D-6971-4305-AB04-6AEE4DD0E048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82C019-EAA8-4CD6-BD5A-68BA984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776716-556D-4628-94B1-7BC9A345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15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E144E-AA68-4DFD-9736-416AF8EE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C731A3-5F0D-4649-AF33-2F2F12D18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0070ED-93CE-4C5B-9A13-47766D18C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3E617-2B4B-4C49-B34C-F13496F5B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75523-461B-44DB-AD97-7C06B206BE7B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88F62D-BB02-4585-B0DB-6C572478F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DA3767-C6FA-46EE-B82E-E441B336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994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A2004-1E3B-4055-8772-F325E519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9AC7F-90CD-432E-AFBA-09A312E26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3CBBB0-BA78-4216-B318-AF5F69D9D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5620A-9A66-47B0-9218-43F171A33458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AE3B40-907A-49D6-9FA8-D643E4B4A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417526-857D-45AD-9891-D1359E79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E34BDA-8046-4B35-A748-33A5A9C8C415}"/>
              </a:ext>
            </a:extLst>
          </p:cNvPr>
          <p:cNvSpPr/>
          <p:nvPr userDrawn="1"/>
        </p:nvSpPr>
        <p:spPr>
          <a:xfrm>
            <a:off x="838200" y="1517439"/>
            <a:ext cx="10509570" cy="85070"/>
          </a:xfrm>
          <a:prstGeom prst="rect">
            <a:avLst/>
          </a:prstGeom>
          <a:gradFill flip="none" rotWithShape="1">
            <a:gsLst>
              <a:gs pos="51000">
                <a:schemeClr val="bg2">
                  <a:lumMod val="50000"/>
                </a:schemeClr>
              </a:gs>
              <a:gs pos="0">
                <a:schemeClr val="bg2">
                  <a:lumMod val="50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8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9286F9E-ABB1-47D9-BCD5-5FE077BEA2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F122D-472C-4176-9045-BF5B3ED41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40FC9-5A0B-483C-BEC0-6349DDDF1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586D9-B5F3-454A-8918-B4C99ED5AEDE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F7ACB-A377-4E38-BF13-4CE4A72C6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2AD96-62E9-4856-8C7D-4FC6FA78D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3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0155A6-5E23-4681-A0F6-D6378107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/>
              <a:t>Master Title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357F3-390C-49AE-BB15-6F8F57DC0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49691"/>
            <a:ext cx="10515600" cy="45272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ko-KR"/>
              <a:t>Master text</a:t>
            </a:r>
            <a:endParaRPr lang="ko-KR" altLang="en-US"/>
          </a:p>
          <a:p>
            <a:pPr lvl="1"/>
            <a:r>
              <a:rPr lang="en-US" altLang="ko-KR"/>
              <a:t>Second</a:t>
            </a:r>
            <a:endParaRPr lang="ko-KR" altLang="en-US"/>
          </a:p>
          <a:p>
            <a:pPr lvl="2"/>
            <a:r>
              <a:rPr lang="en-US" altLang="ko-KR"/>
              <a:t>Third</a:t>
            </a:r>
            <a:endParaRPr lang="ko-KR" altLang="en-US"/>
          </a:p>
          <a:p>
            <a:pPr lvl="3"/>
            <a:r>
              <a:rPr lang="en-US" altLang="ko-KR"/>
              <a:t>Fourth</a:t>
            </a:r>
            <a:endParaRPr lang="ko-KR" altLang="en-US"/>
          </a:p>
          <a:p>
            <a:pPr lvl="4"/>
            <a:r>
              <a:rPr lang="en-US" altLang="ko-KR"/>
              <a:t>Fifth</a:t>
            </a:r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9027F-305A-4270-8200-1B8B6B4B7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38399" y="6356350"/>
            <a:ext cx="13331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9D1D2423-15C0-4D7C-B759-40ACCC100800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1B4A95-7775-4330-B809-DA1B22478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4CA50-4832-40EE-82BE-A431AAD8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13331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A439D109-9F59-4B0B-8E20-D6D3A384B1F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EB3B3E-F3B6-4A77-8CE1-CA270A7A296F}"/>
              </a:ext>
            </a:extLst>
          </p:cNvPr>
          <p:cNvSpPr/>
          <p:nvPr userDrawn="1"/>
        </p:nvSpPr>
        <p:spPr>
          <a:xfrm>
            <a:off x="0" y="0"/>
            <a:ext cx="12192000" cy="235670"/>
          </a:xfrm>
          <a:prstGeom prst="rect">
            <a:avLst/>
          </a:prstGeom>
          <a:gradFill>
            <a:gsLst>
              <a:gs pos="63000">
                <a:schemeClr val="tx1"/>
              </a:gs>
              <a:gs pos="0">
                <a:schemeClr val="tx1"/>
              </a:gs>
              <a:gs pos="8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56D-F798-41D4-B204-99B8E8DEAB5A}"/>
              </a:ext>
            </a:extLst>
          </p:cNvPr>
          <p:cNvSpPr txBox="1"/>
          <p:nvPr userDrawn="1"/>
        </p:nvSpPr>
        <p:spPr>
          <a:xfrm>
            <a:off x="8501826" y="6550223"/>
            <a:ext cx="3690174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ognitive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ommunications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ystems</a:t>
            </a:r>
            <a:r>
              <a:rPr lang="en-US" altLang="ko-KR" sz="1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b="1">
                <a:solidFill>
                  <a:srgbClr val="0066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  <a:r>
              <a:rPr lang="en-US" altLang="ko-KR" sz="105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aboratory</a:t>
            </a:r>
            <a:endParaRPr lang="en-US" altLang="ko-KR" sz="14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01637D-BAF8-43B2-A298-C5B3DAB22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77" b="34980"/>
          <a:stretch/>
        </p:blipFill>
        <p:spPr>
          <a:xfrm>
            <a:off x="9886511" y="17253"/>
            <a:ext cx="527404" cy="5262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0D9003C-FC42-4D68-ADBA-ADDEC8861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t="68955" b="6534"/>
          <a:stretch/>
        </p:blipFill>
        <p:spPr>
          <a:xfrm>
            <a:off x="10413915" y="17253"/>
            <a:ext cx="1760832" cy="52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073930400" TargetMode="External"/><Relationship Id="rId2" Type="http://schemas.openxmlformats.org/officeDocument/2006/relationships/hyperlink" Target="https://ieeexplore.ieee.org/author/37086347556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eeexplore.ieee.org/author/37086345066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E81F8-418E-46B0-BF79-A9E5C85C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69878"/>
            <a:ext cx="10501993" cy="1418326"/>
          </a:xfrm>
        </p:spPr>
        <p:txBody>
          <a:bodyPr>
            <a:normAutofit fontScale="90000"/>
          </a:bodyPr>
          <a:lstStyle/>
          <a:p>
            <a:r>
              <a:rPr lang="en-US" b="0" dirty="0"/>
              <a:t>Sensing as a Service in 6G Perceptive Networks: A Unified Framework for ISAC Resource Allocation</a:t>
            </a:r>
            <a:endParaRPr lang="ko-KR" altLang="en-US" sz="3600" b="0" dirty="0">
              <a:solidFill>
                <a:srgbClr val="0000FF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30F031-E57C-4418-8811-D07BEE7C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704436"/>
            <a:ext cx="10501993" cy="141832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 err="1"/>
              <a:t>Fuwang</a:t>
            </a:r>
            <a:r>
              <a:rPr lang="en-US" dirty="0"/>
              <a:t> Dong , Member, IEEE, Fan Liu , Member, IEEE, </a:t>
            </a:r>
            <a:r>
              <a:rPr lang="en-US" dirty="0" err="1"/>
              <a:t>Yuanhao</a:t>
            </a:r>
            <a:r>
              <a:rPr lang="en-US" dirty="0"/>
              <a:t> Cui , Member, IEEE, Wei Wang , </a:t>
            </a:r>
            <a:r>
              <a:rPr lang="en-US" i="1" dirty="0"/>
              <a:t>Senior Member, IEEE</a:t>
            </a:r>
            <a:r>
              <a:rPr lang="en-US" dirty="0"/>
              <a:t>, Kaifeng Han , </a:t>
            </a:r>
            <a:r>
              <a:rPr lang="en-US" i="1" dirty="0"/>
              <a:t>Member, IEEE</a:t>
            </a:r>
            <a:r>
              <a:rPr lang="en-US" dirty="0"/>
              <a:t>, and </a:t>
            </a:r>
            <a:r>
              <a:rPr lang="en-US" dirty="0" err="1"/>
              <a:t>Zhiqin</a:t>
            </a:r>
            <a:r>
              <a:rPr lang="en-US" dirty="0"/>
              <a:t> Wang </a:t>
            </a:r>
            <a:br>
              <a:rPr lang="en-US" dirty="0"/>
            </a:br>
            <a:endParaRPr lang="en-US" altLang="ko-KR" dirty="0">
              <a:latin typeface="Arial"/>
              <a:ea typeface="맑은 고딕"/>
              <a:cs typeface="Arial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3469BC-9EBF-44CC-97A2-356DEFF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5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944A7-DAFA-4EF6-9E4D-ED1A85B6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906" y="1065439"/>
            <a:ext cx="10463894" cy="425048"/>
          </a:xfrm>
        </p:spPr>
        <p:txBody>
          <a:bodyPr/>
          <a:lstStyle/>
          <a:p>
            <a:br>
              <a:rPr lang="en-US" sz="1500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Table of 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A9A21-3EFF-47FE-AF17-1A22D8129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130"/>
            <a:ext cx="10515600" cy="4779219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endParaRPr lang="en-US" altLang="ko-K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C2913-090F-4E65-B123-A622E093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4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B9A4B-7A83-5B6F-6025-46C46333D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78AB9-E14C-CA4C-C1DF-4378843A99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Purpose Of These Slides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Topic: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PCRB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for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nonlinear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filtering</m:t>
                    </m:r>
                  </m:oMath>
                </a14:m>
                <a:endParaRPr lang="en-US" b="0" dirty="0">
                  <a:solidFill>
                    <a:srgbClr val="00206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Goal: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Understand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posterior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Fisher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information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7030A0"/>
                        </a:solidFill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>
                        <a:solidFill>
                          <a:srgbClr val="7030A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7030A0"/>
                        </a:solidFill>
                      </a:rPr>
                      <m:t>is</m:t>
                    </m:r>
                    <m:r>
                      <m:rPr>
                        <m:nor/>
                      </m:rPr>
                      <a:rPr lang="en-US">
                        <a:solidFill>
                          <a:srgbClr val="7030A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7030A0"/>
                        </a:solidFill>
                      </a:rPr>
                      <m:t>derived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Main path: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Measurement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002060"/>
                        </a:solidFill>
                      </a:rPr>
                      <m:t>model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Score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function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Fisher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information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Posterior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information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Recursive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PCRB</m:t>
                    </m:r>
                    <m:r>
                      <a:rPr lang="en-US" i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Kalman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/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EKF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2060"/>
                        </a:solidFill>
                      </a:rPr>
                      <m:t>connection</m:t>
                    </m:r>
                  </m:oMath>
                </a14:m>
                <a:endParaRPr lang="en-US" b="0" dirty="0">
                  <a:solidFill>
                    <a:srgbClr val="00206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C78AB9-E14C-CA4C-C1DF-4378843A9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CCA0E-A8F7-F927-E4BA-4721291B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339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D67C-F99A-3D34-444C-DC69EA6A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A114AE-F864-921D-0E2A-A14D70569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Estimation Problem</a:t>
                </a:r>
              </a:p>
              <a:p>
                <a:pPr lvl="1"/>
                <a:r>
                  <a:rPr lang="en-US" dirty="0"/>
                  <a:t>Suppose measurement/data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Unknown parameter/state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estimation problem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Main question: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much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information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does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give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about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This information determines the minimum possible estimation error.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A114AE-F864-921D-0E2A-A14D70569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3C98E-1415-1B37-EB51-AF50F39E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461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3F1EE-9AB9-D9CA-37FB-1889AE07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E307C8-FD52-098B-FF26-9A3659585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Measurement, Prior, Posterior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Likelihood / measurement model: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probability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observing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when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true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parameter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Prior probability: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what we know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before observing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Posterior probability: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updated belief about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after observing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Bayes rule: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E307C8-FD52-098B-FF26-9A3659585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5BDF8-2011-D0E2-9857-6E950E41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7851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1AC2-0EB3-7931-E8A7-4E8B43FD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71A61-8380-516A-A272-BC886BEAA7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A Derivative Appears</a:t>
                </a:r>
              </a:p>
              <a:p>
                <a:pPr lvl="1"/>
                <a:r>
                  <a:rPr lang="en-US" dirty="0"/>
                  <a:t>If the parameter changes slightly: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the likelihood changes: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we check sensitivity: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tells </a:t>
                </a:r>
                <a:r>
                  <a:rPr lang="en-US" dirty="0">
                    <a:solidFill>
                      <a:srgbClr val="7030A0"/>
                    </a:solidFill>
                  </a:rPr>
                  <a:t>how sensitive the probability model </a:t>
                </a:r>
                <a:r>
                  <a:rPr lang="en-US" dirty="0"/>
                  <a:t>is to the parameter.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271A61-8380-516A-A272-BC886BEAA7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0E060-8CE6-160F-148E-0E06C43D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64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36BA-D0A1-4FAF-5306-47AC214C2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01CF51-749A-14A4-1365-EEF97339C9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Relative Change And Score Function</a:t>
                </a:r>
              </a:p>
              <a:p>
                <a:pPr lvl="1"/>
                <a:r>
                  <a:rPr lang="en-US" dirty="0"/>
                  <a:t>Instead of raw change, use relative change: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Using log rule: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the score function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Score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function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relative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slope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the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likelihood</m:t>
                    </m:r>
                  </m:oMath>
                </a14:m>
                <a:endParaRPr lang="en-US" b="0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01CF51-749A-14A4-1365-EEF97339C9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89B6A-BC04-BF0C-4516-C46E952B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52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0BEDC-C4B5-8D20-E24F-BA224410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D4589B-6788-5612-19C6-918DAAF07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Meaning Of Score Function</a:t>
                </a:r>
              </a:p>
              <a:p>
                <a:pPr lvl="1"/>
                <a:r>
                  <a:rPr lang="en-US" dirty="0"/>
                  <a:t>The score function is not the measurement itself.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It is computed from: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measurement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/>
                      <m:t>probability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model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If score is large: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small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change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large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change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likelihood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So, data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can distinguish the parameter well.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If score is small: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changing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likelihood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changes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weakly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So, data gives weak information.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D4589B-6788-5612-19C6-918DAAF07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CE4EB-AD8C-ECB0-093A-ED95C82B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819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D26D-3FFC-7AE9-F1EB-90FFBCA65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5676AE-5A05-BB5F-2819-E051D0965A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Fisher Information From Score</a:t>
                </a:r>
              </a:p>
              <a:p>
                <a:pPr lvl="1"/>
                <a:r>
                  <a:rPr lang="en-US" dirty="0"/>
                  <a:t>The score is random because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random.</a:t>
                </a:r>
              </a:p>
              <a:p>
                <a:pPr lvl="1"/>
                <a:r>
                  <a:rPr lang="en-US" dirty="0"/>
                  <a:t>One measurement gives one score value.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To measure average information: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func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Fisher</m:t>
                    </m:r>
                    <m:r>
                      <m:rPr>
                        <m:nor/>
                      </m:rPr>
                      <a:rPr lang="en-US" i="1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information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=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average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squared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sensitivity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of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log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likelihood</m:t>
                    </m:r>
                  </m:oMath>
                </a14:m>
                <a:endParaRPr lang="en-US" b="0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5676AE-5A05-BB5F-2819-E051D0965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57EBF-B32E-ABAE-1B0A-F554F8457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0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A7ACB-089D-C35A-16D5-FA7AE2C45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38BE-D771-CD36-B278-053F5B344B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Square The Score?</a:t>
                </a:r>
              </a:p>
              <a:p>
                <a:pPr lvl="1"/>
                <a:r>
                  <a:rPr lang="en-US" dirty="0"/>
                  <a:t>Score can be positive or negative.</a:t>
                </a:r>
              </a:p>
              <a:p>
                <a:pPr lvl="1"/>
                <a:r>
                  <a:rPr lang="en-US" dirty="0"/>
                  <a:t>If we only take expectation: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becomes zero under regularity conditions.</a:t>
                </a:r>
              </a:p>
              <a:p>
                <a:pPr lvl="1"/>
                <a:r>
                  <a:rPr lang="en-US" dirty="0"/>
                  <a:t>Since: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Differentiate both sides: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93E38BE-D771-CD36-B278-053F5B344B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B9872-F0F9-0339-1119-89E91CC4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99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DDCE6-DE28-313F-FBD6-33534CE6D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D7B28-369F-C882-F471-FFC02FBF60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Average Score Is Zero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den>
                        </m:f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grow m:val="on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So, we use: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instead of: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D7B28-369F-C882-F471-FFC02FBF60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F08BC-2111-D3E4-2A75-D1B95249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889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4B5D-A6E9-BD4F-FBDC-5FCF9A79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7C2DC5-D789-2861-0617-6756ED82693F}"/>
                  </a:ext>
                </a:extLst>
              </p:cNvPr>
              <p:cNvSpPr txBox="1"/>
              <p:nvPr/>
            </p:nvSpPr>
            <p:spPr>
              <a:xfrm>
                <a:off x="838200" y="1649691"/>
                <a:ext cx="5791200" cy="463456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Negative Hessian Form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Another equivalent form of Fisher information is: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sz="20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20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i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000" i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So, Fisher information has two views: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2000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sharp likelihood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means the parameter is easy to estimate.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2000" dirty="0">
                    <a:solidFill>
                      <a:srgbClr val="00206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flat likelihood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means the parameter is difficult to estimate.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A7C2DC5-D789-2861-0617-6756ED826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9691"/>
                <a:ext cx="5791200" cy="4634568"/>
              </a:xfrm>
              <a:prstGeom prst="rect">
                <a:avLst/>
              </a:prstGeom>
              <a:blipFill>
                <a:blip r:embed="rId2"/>
                <a:stretch>
                  <a:fillRect l="-947" t="-1316" r="-1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C2127-98C1-957E-FA04-24BD43F7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12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568DAD4-94DE-D487-AB07-B45C380B7D1D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807290125"/>
                  </p:ext>
                </p:extLst>
              </p:nvPr>
            </p:nvGraphicFramePr>
            <p:xfrm>
              <a:off x="7037294" y="1662952"/>
              <a:ext cx="4603377" cy="4585447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774104">
                      <a:extLst>
                        <a:ext uri="{9D8B030D-6E8A-4147-A177-3AD203B41FA5}">
                          <a16:colId xmlns:a16="http://schemas.microsoft.com/office/drawing/2014/main" val="2902556764"/>
                        </a:ext>
                      </a:extLst>
                    </a:gridCol>
                    <a:gridCol w="2829273">
                      <a:extLst>
                        <a:ext uri="{9D8B030D-6E8A-4147-A177-3AD203B41FA5}">
                          <a16:colId xmlns:a16="http://schemas.microsoft.com/office/drawing/2014/main" val="676810115"/>
                        </a:ext>
                      </a:extLst>
                    </a:gridCol>
                  </a:tblGrid>
                  <a:tr h="10331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b="0" cap="none" spc="0">
                              <a:solidFill>
                                <a:schemeClr val="tx1"/>
                              </a:solidFill>
                            </a:rPr>
                            <a:t>Form</a:t>
                          </a:r>
                        </a:p>
                      </a:txBody>
                      <a:tcPr marL="0" marR="33030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b="0" cap="none" spc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 marL="0" marR="33030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55485062"/>
                      </a:ext>
                    </a:extLst>
                  </a:tr>
                  <a:tr h="16163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5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5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5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5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500" i="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5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330297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cap="none" spc="0">
                              <a:solidFill>
                                <a:schemeClr val="tx1"/>
                              </a:solidFill>
                            </a:rPr>
                            <a:t>average squared slope</a:t>
                          </a:r>
                        </a:p>
                      </a:txBody>
                      <a:tcPr marL="0" marR="330297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890110"/>
                      </a:ext>
                    </a:extLst>
                  </a:tr>
                  <a:tr h="193603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cap="none" spc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2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en-US" sz="22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</m:e>
                                      <m:sup>
                                        <m:r>
                                          <a:rPr lang="en-US" sz="2200" i="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func>
                                      <m:funcPr>
                                        <m:ctrlPr>
                                          <a:rPr lang="en-US" sz="22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i="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2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func>
                                    <m:r>
                                      <a:rPr lang="en-US" sz="220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US" sz="2200" i="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p>
                                      <m:sSupPr>
                                        <m:ctrlPr>
                                          <a:rPr lang="en-US" sz="22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p>
                                        <m:r>
                                          <a:rPr lang="en-US" sz="2200" i="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sz="2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65148" marR="330297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28575" cap="flat" cmpd="sng" algn="ctr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average curvature/  sharpness</a:t>
                          </a:r>
                        </a:p>
                      </a:txBody>
                      <a:tcPr marL="165148" marR="330297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28575" cap="flat" cmpd="sng" algn="ctr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11907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D568DAD4-94DE-D487-AB07-B45C380B7D1D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807290125"/>
                  </p:ext>
                </p:extLst>
              </p:nvPr>
            </p:nvGraphicFramePr>
            <p:xfrm>
              <a:off x="7037294" y="1662952"/>
              <a:ext cx="4603377" cy="4585447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774104">
                      <a:extLst>
                        <a:ext uri="{9D8B030D-6E8A-4147-A177-3AD203B41FA5}">
                          <a16:colId xmlns:a16="http://schemas.microsoft.com/office/drawing/2014/main" val="2902556764"/>
                        </a:ext>
                      </a:extLst>
                    </a:gridCol>
                    <a:gridCol w="2829273">
                      <a:extLst>
                        <a:ext uri="{9D8B030D-6E8A-4147-A177-3AD203B41FA5}">
                          <a16:colId xmlns:a16="http://schemas.microsoft.com/office/drawing/2014/main" val="676810115"/>
                        </a:ext>
                      </a:extLst>
                    </a:gridCol>
                  </a:tblGrid>
                  <a:tr h="103310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b="0" cap="none" spc="0">
                              <a:solidFill>
                                <a:schemeClr val="tx1"/>
                              </a:solidFill>
                            </a:rPr>
                            <a:t>Form</a:t>
                          </a:r>
                        </a:p>
                      </a:txBody>
                      <a:tcPr marL="0" marR="33030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b="0" cap="none" spc="0">
                              <a:solidFill>
                                <a:schemeClr val="tx1"/>
                              </a:solidFill>
                            </a:rPr>
                            <a:t>Meaning</a:t>
                          </a:r>
                        </a:p>
                      </a:txBody>
                      <a:tcPr marL="0" marR="33030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55485062"/>
                      </a:ext>
                    </a:extLst>
                  </a:tr>
                  <a:tr h="16163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330297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64906" r="-160481" b="-137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500" cap="none" spc="0">
                              <a:solidFill>
                                <a:schemeClr val="tx1"/>
                              </a:solidFill>
                            </a:rPr>
                            <a:t>average squared slope</a:t>
                          </a:r>
                        </a:p>
                      </a:txBody>
                      <a:tcPr marL="0" marR="330297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890110"/>
                      </a:ext>
                    </a:extLst>
                  </a:tr>
                  <a:tr h="1936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65148" marR="330297" marT="115694" marB="115694" anchor="ctr">
                        <a:lnL w="28575" cap="flat" cmpd="sng" algn="ctr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28575" cap="flat" cmpd="sng" algn="ctr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137421" r="-160481" b="-144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average curvature/  sharpness</a:t>
                          </a:r>
                        </a:p>
                      </a:txBody>
                      <a:tcPr marL="165148" marR="330297" marT="115694" marB="115694" anchor="ctr">
                        <a:lnL w="12700" cmpd="sng">
                          <a:noFill/>
                          <a:prstDash val="solid"/>
                        </a:lnL>
                        <a:lnR w="28575" cap="flat" cmpd="sng" algn="ctr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28575" cap="flat" cmpd="sng" algn="ctr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11907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02527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2E81509-6A10-4221-DD4F-C94A8AE0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05A9CBB-92F2-D5C1-078C-3B43421C3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Vector Fisher Information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For random parameter vector: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Score component: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</m:e>
                    </m:fun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Fisher information matrix: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</m:e>
                            </m:fun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sub>
                                </m:sSub>
                              </m:e>
                            </m:func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05A9CBB-92F2-D5C1-078C-3B43421C3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85667-9D03-D472-457F-0CDAE1F9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719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D94D-8E8F-160B-54D3-15946D002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EC991D-3D36-24A4-9350-DBA94514C1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Negative Hessian Derivation</a:t>
                </a:r>
              </a:p>
              <a:p>
                <a:pPr lvl="1"/>
                <a:r>
                  <a:rPr lang="en-US" dirty="0"/>
                  <a:t>Let: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First derivative: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derivative: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Taking expectation: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𝑑𝑋𝑑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𝑑𝑋𝑑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EC991D-3D36-24A4-9350-DBA94514C1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47E15-BC73-764A-44E5-44A7847D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608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AF632-DD87-644A-8B69-DB83DBBD8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6D030-AEED-1A44-BA29-C5688C0A79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First Term Becomes Zero</a:t>
                </a:r>
              </a:p>
              <a:p>
                <a:pPr lvl="1"/>
                <a:r>
                  <a:rPr lang="en-US" dirty="0"/>
                  <a:t>First term: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𝑑𝑋𝑑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Write: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Integrate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Under regularity condition: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→0 </m:t>
                    </m:r>
                    <m:r>
                      <m:rPr>
                        <m:nor/>
                      </m:rPr>
                      <a:rPr lang="en-US"/>
                      <m:t>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boundary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46D030-AEED-1A44-BA29-C5688C0A79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66959-9DCA-6F68-6021-E390F4D9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22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EF706-CD14-EF46-5FFB-4943EA976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397BC-479E-C98C-CBCE-A4B1005EFE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Fisher Information Identity</a:t>
                </a:r>
              </a:p>
              <a:p>
                <a:pPr lvl="1"/>
                <a:r>
                  <a:rPr lang="en-US" dirty="0"/>
                  <a:t>Since the first term is zero: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∬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𝑑𝑋𝑑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func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proves: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Negative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Hessian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</a:rPr>
                      <m:t>form</m:t>
                    </m:r>
                    <m:r>
                      <a:rPr lang="en-US" i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Score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outer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product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0000FF"/>
                        </a:solidFill>
                      </a:rPr>
                      <m:t>form</m:t>
                    </m:r>
                  </m:oMath>
                </a14:m>
                <a:endParaRPr lang="en-US" b="0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E397BC-479E-C98C-CBCE-A4B1005EFE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9FA58-274C-DA71-9B67-720AD911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226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285C9-09C5-BCC8-788F-EF8AA90FD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45E439-63B6-A335-97AA-A656F7C4B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Posterior Information Decomposition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For PCRB,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is random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So, we use joint density: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Bayes factorization: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Taking log: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45E439-63B6-A335-97AA-A656F7C4B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3008E-DE9B-E1A4-DBFA-9C00F5C93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324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1FBE4-69A0-64FA-963E-69380A6C0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2E27B-1973-0085-ECD8-FE79E13EDD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Meaning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measurements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prior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total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posterior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Better measurements: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Stronger prior knowledge: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Larger posterior information: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Smaller PCRB: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𝑃𝐶𝑅𝐵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D2E27B-1973-0085-ECD8-FE79E13EDD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AD000-D52E-F9D0-6E59-F7B0F678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830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0C5F5-A312-F9D7-DE4E-A6D0CD665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6D4399-9DE7-DEFA-5F6D-AE3D83CD55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Gaussian Posterior Case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If posterior is Gaussian: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Maximizing posterior probability</a:t>
                </a:r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is equivalent to minimizing negative log posterior:</a:t>
                </a:r>
              </a:p>
              <a:p>
                <a:pPr lvl="2"/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Negative log posterior behaves like an estimation cost function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6D4399-9DE7-DEFA-5F6D-AE3D83CD55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0ABDE-3755-16F7-FF9C-49869650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549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69059-98D8-4AA4-928F-392D5AAE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695BC-911F-B5A1-8C74-D6EC463CAD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Scalar Gaussian Derivation</a:t>
                </a:r>
              </a:p>
              <a:p>
                <a:pPr lvl="1"/>
                <a:r>
                  <a:rPr lang="en-US" dirty="0"/>
                  <a:t>Suppose: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Taking log: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Sup>
                                      <m:sSub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</m:rad>
                              </m:den>
                            </m:f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 first term does not depend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quadratic because it contains: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695BC-911F-B5A1-8C74-D6EC463CA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23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BCF26-388B-D170-FB7A-623EBB0A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608901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3239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7F60-57FC-1C6B-DE51-254A206B8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E65930-00EF-3000-9B9E-A230E9877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Vector Gaussian Derivation</a:t>
                </a:r>
              </a:p>
              <a:p>
                <a:pPr lvl="1"/>
                <a:r>
                  <a:rPr lang="en-US" dirty="0"/>
                  <a:t>For vector parameter: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 multivariate Gaussian pdf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Taking log: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</m:e>
                    </m:fun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∣−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First two terms do not depend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, so: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E65930-00EF-3000-9B9E-A230E9877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1633F-E0B4-D7AB-86EB-65E78AEE2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584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B897-AC35-BE23-5212-0E5763125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9CC61-80D4-E8AF-679E-7005A9709C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Fisher Information For Gaussian Posterior</a:t>
                </a:r>
              </a:p>
              <a:p>
                <a:pPr lvl="1"/>
                <a:r>
                  <a:rPr lang="en-US" dirty="0"/>
                  <a:t>For Gaussian posterior: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First derivative: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derivative: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p>
                    </m:sSubSup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C9CC61-80D4-E8AF-679E-7005A9709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31B46-C149-E473-D9DA-523C8AB9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173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0C669-791F-8317-E426-23C6EA43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878643-AAAD-DFC6-71F3-7E21CB36EA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Gaussian Posterior Intuition</a:t>
                </a:r>
              </a:p>
              <a:p>
                <a:pPr lvl="1"/>
                <a:r>
                  <a:rPr lang="en-US" dirty="0"/>
                  <a:t>Gaussian posterior looks like a bell shape.</a:t>
                </a:r>
              </a:p>
              <a:p>
                <a:pPr lvl="1"/>
                <a:r>
                  <a:rPr lang="en-US" dirty="0"/>
                  <a:t>Negative log of Gaussian looks like a bowl/parabola.</a:t>
                </a:r>
              </a:p>
              <a:p>
                <a:pPr lvl="1"/>
                <a:r>
                  <a:rPr lang="en-US" dirty="0"/>
                  <a:t>Narrow bell: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sharp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bowl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high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curvature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high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Fisher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Wide bell: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flat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bowl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low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curvature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/>
                      <m:t>low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Fisher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Fisher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= </m:t>
                    </m:r>
                    <m:r>
                      <m:rPr>
                        <m:nor/>
                      </m:rPr>
                      <a:rPr lang="en-US"/>
                      <m:t>curvature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negative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log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posterior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878643-AAAD-DFC6-71F3-7E21CB36EA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E17A6-9D76-2DE8-CB6F-D5CA0023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154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F9A43-AEB8-7D85-1F01-3D0855334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FDD3A8-BCBA-27DE-875C-D43F7F88E7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Kalman Filter Connection</a:t>
                </a:r>
              </a:p>
              <a:p>
                <a:pPr lvl="1"/>
                <a:r>
                  <a:rPr lang="en-US" dirty="0"/>
                  <a:t>For the linear Gaussian Kalman filter, the posterior is Gaussian.</a:t>
                </a:r>
              </a:p>
              <a:p>
                <a:pPr lvl="1"/>
                <a:r>
                  <a:rPr lang="en-US" dirty="0"/>
                  <a:t>The Kalman covariance reaches the PCRB: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Kalman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filter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optimal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linear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Gaussian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systems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and: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Kalman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filter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achieves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PCRB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nonlinear systems, EKF/UKF usually does not achieve PCRB exactly.</a:t>
                </a:r>
              </a:p>
              <a:p>
                <a:pPr lvl="1"/>
                <a:r>
                  <a:rPr lang="en-US" dirty="0"/>
                  <a:t>So, we compare: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𝐸𝐾𝐹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FDD3A8-BCBA-27DE-875C-D43F7F88E7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30385-66C0-7BF2-4AFC-3A6C3D70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673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A0C4F-F91B-DE16-848A-A7EF77433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DE0CE-05A9-D652-DEFC-A5D7FC49FC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Nuisance Parameter / Block Matrix Property</a:t>
                </a:r>
              </a:p>
              <a:p>
                <a:pPr lvl="1"/>
                <a:r>
                  <a:rPr lang="en-US" dirty="0"/>
                  <a:t>Suppose: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Information matrix: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𝛼𝛼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𝛼𝛽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𝛽𝛼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𝛽𝛽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we only care about estimating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dirty="0"/>
                  <a:t>, then useful information is: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𝛽𝛽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𝛽𝛼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𝛼𝛼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𝛼𝛽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</a:t>
                </a:r>
                <a:r>
                  <a:rPr lang="en-US" dirty="0">
                    <a:solidFill>
                      <a:srgbClr val="7030A0"/>
                    </a:solidFill>
                  </a:rPr>
                  <a:t>called the information submatrix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Other </a:t>
                </a:r>
                <a:r>
                  <a:rPr lang="en-US" dirty="0">
                    <a:solidFill>
                      <a:srgbClr val="002060"/>
                    </a:solidFill>
                  </a:rPr>
                  <a:t>unknown variables reduce the effective information </a:t>
                </a:r>
                <a:r>
                  <a:rPr lang="en-US" dirty="0"/>
                  <a:t>about the parameter we care about.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1DE0CE-05A9-D652-DEFC-A5D7FC49F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CE84A-8367-E3EA-00AD-7C72BC17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828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5895-AD17-DF72-1598-85296481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A91A5-A70E-FE92-68D7-55CCE0B25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Nuisance Parameters Matter In Filtering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In filtering, the full trajectory is: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,…..,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we only want the current state: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previous states: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act like </a:t>
                </a:r>
                <a:r>
                  <a:rPr lang="en-US" dirty="0">
                    <a:solidFill>
                      <a:srgbClr val="002060"/>
                    </a:solidFill>
                  </a:rPr>
                  <a:t>nuisance variables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Therefore, we </a:t>
                </a:r>
                <a:r>
                  <a:rPr lang="en-US" dirty="0">
                    <a:solidFill>
                      <a:srgbClr val="002060"/>
                    </a:solidFill>
                  </a:rPr>
                  <a:t>need the information submatrix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not the full trajectory information.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1A91A5-A70E-FE92-68D7-55CCE0B25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38AB8-B315-EEC2-83B8-DB89335E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122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B1B60BD-BA41-7587-1CBB-5024326C5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80158D-7719-8482-5A7B-48E1C8091F02}"/>
                  </a:ext>
                </a:extLst>
              </p:cNvPr>
              <p:cNvSpPr txBox="1"/>
              <p:nvPr/>
            </p:nvSpPr>
            <p:spPr>
              <a:xfrm>
                <a:off x="838200" y="1649691"/>
                <a:ext cx="5104598" cy="4527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Filtering Model In The Paper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nonlinear filtering model is: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For radar/ISAC: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i="1" dirty="0"/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range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Doppler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/>
                                <m:t>angle</m:t>
                              </m:r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/>
                      <m:t>noise</m:t>
                    </m:r>
                  </m:oMath>
                </a14:m>
                <a:endParaRPr lang="en-US" sz="2000" b="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This is why PCRB is useful in ISAC tracking.</a:t>
                </a:r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80158D-7719-8482-5A7B-48E1C8091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9691"/>
                <a:ext cx="5104598" cy="4527272"/>
              </a:xfrm>
              <a:prstGeom prst="rect">
                <a:avLst/>
              </a:prstGeom>
              <a:blipFill>
                <a:blip r:embed="rId2"/>
                <a:stretch>
                  <a:fillRect l="-1075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F7F7E-16D0-1F95-9D82-521DAD13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EBC97C77-A941-C594-E1A6-C4BB5AE85B3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645865287"/>
                  </p:ext>
                </p:extLst>
              </p:nvPr>
            </p:nvGraphicFramePr>
            <p:xfrm>
              <a:off x="6172200" y="2000423"/>
              <a:ext cx="5181601" cy="3825815"/>
            </p:xfrm>
            <a:graphic>
              <a:graphicData uri="http://schemas.openxmlformats.org/drawingml/2006/table">
                <a:tbl>
                  <a:tblPr firstRow="1" bandRow="1">
                    <a:solidFill>
                      <a:schemeClr val="tx1">
                        <a:lumMod val="75000"/>
                        <a:lumOff val="25000"/>
                      </a:schemeClr>
                    </a:solidFill>
                  </a:tblPr>
                  <a:tblGrid>
                    <a:gridCol w="1910034">
                      <a:extLst>
                        <a:ext uri="{9D8B030D-6E8A-4147-A177-3AD203B41FA5}">
                          <a16:colId xmlns:a16="http://schemas.microsoft.com/office/drawing/2014/main" val="1378307848"/>
                        </a:ext>
                      </a:extLst>
                    </a:gridCol>
                    <a:gridCol w="3271567">
                      <a:extLst>
                        <a:ext uri="{9D8B030D-6E8A-4147-A177-3AD203B41FA5}">
                          <a16:colId xmlns:a16="http://schemas.microsoft.com/office/drawing/2014/main" val="3253761492"/>
                        </a:ext>
                      </a:extLst>
                    </a:gridCol>
                  </a:tblGrid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 cap="none" spc="0">
                              <a:solidFill>
                                <a:schemeClr val="bg1"/>
                              </a:solidFill>
                            </a:rPr>
                            <a:t>Symbol</a:t>
                          </a:r>
                        </a:p>
                      </a:txBody>
                      <a:tcPr marL="150107" marR="115467" marT="115467" marB="1154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 cap="none" spc="0">
                              <a:solidFill>
                                <a:schemeClr val="bg1"/>
                              </a:solidFill>
                            </a:rPr>
                            <a:t>Meaning</a:t>
                          </a:r>
                        </a:p>
                      </a:txBody>
                      <a:tcPr marL="150107" marR="115467" marT="115467" marB="11546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088465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hidden state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399769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1392647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process noise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53838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 noise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50829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motion/dynamic model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61857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180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 model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58447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EBC97C77-A941-C594-E1A6-C4BB5AE85B3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645865287"/>
                  </p:ext>
                </p:extLst>
              </p:nvPr>
            </p:nvGraphicFramePr>
            <p:xfrm>
              <a:off x="6172200" y="2000423"/>
              <a:ext cx="5181601" cy="3825815"/>
            </p:xfrm>
            <a:graphic>
              <a:graphicData uri="http://schemas.openxmlformats.org/drawingml/2006/table">
                <a:tbl>
                  <a:tblPr firstRow="1" bandRow="1">
                    <a:solidFill>
                      <a:schemeClr val="tx1">
                        <a:lumMod val="75000"/>
                        <a:lumOff val="25000"/>
                      </a:schemeClr>
                    </a:solidFill>
                  </a:tblPr>
                  <a:tblGrid>
                    <a:gridCol w="1910034">
                      <a:extLst>
                        <a:ext uri="{9D8B030D-6E8A-4147-A177-3AD203B41FA5}">
                          <a16:colId xmlns:a16="http://schemas.microsoft.com/office/drawing/2014/main" val="1378307848"/>
                        </a:ext>
                      </a:extLst>
                    </a:gridCol>
                    <a:gridCol w="3271567">
                      <a:extLst>
                        <a:ext uri="{9D8B030D-6E8A-4147-A177-3AD203B41FA5}">
                          <a16:colId xmlns:a16="http://schemas.microsoft.com/office/drawing/2014/main" val="3253761492"/>
                        </a:ext>
                      </a:extLst>
                    </a:gridCol>
                  </a:tblGrid>
                  <a:tr h="5465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 cap="none" spc="0">
                              <a:solidFill>
                                <a:schemeClr val="bg1"/>
                              </a:solidFill>
                            </a:rPr>
                            <a:t>Symbol</a:t>
                          </a:r>
                        </a:p>
                      </a:txBody>
                      <a:tcPr marL="150107" marR="115467" marT="115467" marB="11546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b="0" cap="none" spc="0">
                              <a:solidFill>
                                <a:schemeClr val="bg1"/>
                              </a:solidFill>
                            </a:rPr>
                            <a:t>Meaning</a:t>
                          </a:r>
                        </a:p>
                      </a:txBody>
                      <a:tcPr marL="150107" marR="115467" marT="115467" marB="11546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1088465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637" t="-103371" r="-171656" b="-5056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hidden state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1399769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637" t="-201111" r="-171656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1392647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637" t="-301111" r="-17165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process noise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153838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637" t="-401111" r="-17165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 noise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6050829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38100" cap="flat" cmpd="sng" algn="ctr">
                          <a:noFill/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637" t="-506742" r="-171656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motion/dynamic model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38100" cap="flat" cmpd="sng" algn="ctr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3618572"/>
                      </a:ext>
                    </a:extLst>
                  </a:tr>
                  <a:tr h="5465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l="-637" t="-600000" r="-171656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bg1"/>
                              </a:solidFill>
                            </a:rPr>
                            <a:t>measurement model</a:t>
                          </a:r>
                        </a:p>
                      </a:txBody>
                      <a:tcPr marL="150107" marR="115467" marT="115467" marB="115467" anchor="ctr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58447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8184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113168-9553-1BF8-9B87-C6ED8F1F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C94A4F9-C94A-D8CC-3071-D2712F876A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Recursive PCRB</a:t>
                </a:r>
              </a:p>
              <a:p>
                <a:pPr lvl="1"/>
                <a:r>
                  <a:rPr lang="en-US" dirty="0"/>
                  <a:t>Recursive PCRB means: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compute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time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step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time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step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instead of building one huge information matrix for the whole trajectory.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The key recursion is: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gives the </a:t>
                </a:r>
                <a:r>
                  <a:rPr lang="en-US" dirty="0">
                    <a:solidFill>
                      <a:srgbClr val="002060"/>
                    </a:solidFill>
                  </a:rPr>
                  <a:t>posterior Fisher information </a:t>
                </a:r>
                <a:r>
                  <a:rPr lang="en-US" dirty="0"/>
                  <a:t>for the next state.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9C94A4F9-C94A-D8CC-3071-D2712F876A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05C8C-F20C-66EC-B754-0342255F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820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42D6-FA4A-8DC1-3F43-36CA58E00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1BCDE-56C6-A831-71D3-26AEE31F9A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State And Measurement Sequences</a:t>
                </a:r>
              </a:p>
              <a:p>
                <a:pPr lvl="1"/>
                <a:r>
                  <a:rPr lang="en-US" dirty="0"/>
                  <a:t>State trajectory: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Measurement sequence: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,….,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Goal: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Find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information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about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not the whole trajectory: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PCRB </a:t>
                </a:r>
                <a:r>
                  <a:rPr lang="en-US" dirty="0">
                    <a:solidFill>
                      <a:srgbClr val="7030A0"/>
                    </a:solidFill>
                  </a:rPr>
                  <a:t>uses information submatrix ideas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1BCDE-56C6-A831-71D3-26AEE31F9A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3C3F0-4619-68B3-F23C-FB005B635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7830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C8622-C1E9-8EF1-E09D-F34C838D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FC3EA4-0026-02CE-D4C6-DE399D45A8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Joint Density Factorization</a:t>
                </a:r>
              </a:p>
              <a:p>
                <a:pPr lvl="1"/>
                <a:r>
                  <a:rPr lang="en-US" dirty="0"/>
                  <a:t>Because the system is Markov: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dynamic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transition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new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measurement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Taking log:</a:t>
                </a: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This is </a:t>
                </a:r>
                <a:r>
                  <a:rPr lang="en-US" dirty="0">
                    <a:solidFill>
                      <a:srgbClr val="0070C0"/>
                    </a:solidFill>
                  </a:rPr>
                  <a:t>the source of the recursion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FC3EA4-0026-02CE-D4C6-DE399D45A8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1CA81-80B3-8529-5505-A9E70528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1206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85707-71E3-256B-25AE-B7047CD17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478E3-9FDC-1AB7-6C6D-424EB2BB07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Previous Information Matrix</a:t>
                </a:r>
              </a:p>
              <a:p>
                <a:pPr lvl="1"/>
                <a:r>
                  <a:rPr lang="en-US" dirty="0"/>
                  <a:t>Partition the information matrix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about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states</m:t>
                    </m:r>
                    <m:r>
                      <m:rPr>
                        <m:nor/>
                      </m:rPr>
                      <a:rPr lang="en-US" b="0" smtClean="0"/>
                      <m:t> </m:t>
                    </m:r>
                    <m:r>
                      <m:rPr>
                        <m:nor/>
                      </m:rPr>
                      <a:rPr lang="en-US" b="0" i="1" smtClean="0"/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,….,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m:rPr>
                        <m:nor/>
                      </m:rPr>
                      <a:rPr lang="en-US" b="0" i="1" smtClean="0"/>
                      <m:t>)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direct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about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current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state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coupling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between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states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Effective information about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</a:t>
                </a:r>
                <a:r>
                  <a:rPr lang="en-US" dirty="0">
                    <a:solidFill>
                      <a:srgbClr val="7030A0"/>
                    </a:solidFill>
                  </a:rPr>
                  <a:t>removes the nuisance </a:t>
                </a:r>
                <a:r>
                  <a:rPr lang="en-US" dirty="0"/>
                  <a:t>effect of previous states.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478E3-9FDC-1AB7-6C6D-424EB2BB07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58B24-CE0E-A848-31A1-18728ED13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93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D7984-B91A-146B-8B06-6B18B6479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2CFE02-B01C-613D-12DF-E0C6DBF01C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Calculation of Block Matrix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Define: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Now add new state: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Markov factorization: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Taking log: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Paper uses this factorization to build the block information matrix. 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2CFE02-B01C-613D-12DF-E0C6DBF01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B06D0-9F6D-7BAF-7A4B-12C201F9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559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32DBF-1CFD-B62D-D10E-670D10BD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950" y="742914"/>
            <a:ext cx="10515600" cy="681250"/>
          </a:xfrm>
        </p:spPr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7983F-CD25-6D6A-28F0-40C42467E6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Negative Hessian Contributions</a:t>
                </a:r>
              </a:p>
              <a:p>
                <a:pPr lvl="1"/>
                <a:r>
                  <a:rPr lang="en-US" dirty="0"/>
                  <a:t>Posterior information matrix: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Since: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take second derivatives with respect to these three blocks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D7983F-CD25-6D6A-28F0-40C42467E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734E9-E267-492E-36E9-BFB8FDB3F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185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329C7-9D61-17F6-B2EA-46EBF6798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4261A-3E47-46D5-36BE-F581D86E62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Contribution From Old Density</a:t>
                </a:r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depends only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4261A-3E47-46D5-36BE-F581D86E62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89C17-D816-4E79-97FB-6531518BC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1714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24FB-A578-B6A7-8554-35605A80B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76BD68-CB47-D890-3EA0-95BC8150ED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Contribution From Transition Density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depends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 directly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/>
                                    <m:t>trans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76BD68-CB47-D890-3EA0-95BC8150ED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757C8-F981-91B2-D7AC-001CA1623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2760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54D6-EBA1-833F-995A-93DDCCE2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E39A5F-12D0-F70E-7F08-879603D2E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Contribution From Measurement Density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depends only 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i="1"/>
                                    <m:t>meas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E39A5F-12D0-F70E-7F08-879603D2E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29E43-1F2C-DE1A-F1AD-0816E855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147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8DBB5-11ED-DDB7-EA3F-7C3E1BADE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EF632-398B-A1C6-4CC6-8DEAE7670E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Block Matrix</a:t>
                </a:r>
              </a:p>
              <a:p>
                <a:pPr lvl="1"/>
                <a:r>
                  <a:rPr lang="en-US" dirty="0"/>
                  <a:t>Adding all three contributions: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1"/>
                          <m:t>trans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1"/>
                          <m:t>meas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DEF632-398B-A1C6-4CC6-8DEAE7670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214B1-ABD8-BF1E-0952-79E6D6B2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905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7AAA9-1477-EF29-E890-64D5B2E5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639C0-A5EA-FECA-AEF4-7558D3D03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Corner Block Is Zero</a:t>
                </a:r>
              </a:p>
              <a:p>
                <a:pPr lvl="1"/>
                <a:r>
                  <a:rPr lang="en-US" dirty="0"/>
                  <a:t>Corner block: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because old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and new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are not directly connected.</a:t>
                </a:r>
              </a:p>
              <a:p>
                <a:pPr lvl="1"/>
                <a:r>
                  <a:rPr lang="en-US" dirty="0"/>
                  <a:t>Markov relation: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So:</a:t>
                </a:r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func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states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affect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only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through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639C0-A5EA-FECA-AEF4-7558D3D03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EB72C-535B-20E9-3866-53CC41D4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320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E7C5-C724-475E-DD06-3B670A2F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21C0E2-CB97-4E19-F0F6-C7A384910A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Definition Of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Terms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sup>
                        </m:sSub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func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21C0E2-CB97-4E19-F0F6-C7A384910A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55D2F-7824-FB58-CA48-5F8C9A53C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760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8CCFC-0333-C09D-E38B-AC63FF5C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EC318D-7AC3-E5AD-787F-1C762F9CDC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Meaning Of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Terms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curvature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with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respect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old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state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coupling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between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direct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about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So,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matrices collect information from: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smtClean="0">
                        <a:solidFill>
                          <a:srgbClr val="C00000"/>
                        </a:solidFill>
                      </a:rPr>
                      <m:t>transition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0" smtClean="0">
                        <a:solidFill>
                          <a:srgbClr val="C00000"/>
                        </a:solidFill>
                      </a:rPr>
                      <m:t>model</m:t>
                    </m:r>
                    <m:r>
                      <a:rPr lang="en-US" i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>
                        <a:solidFill>
                          <a:srgbClr val="C00000"/>
                        </a:solidFill>
                      </a:rPr>
                      <m:t>measurement</m:t>
                    </m:r>
                    <m:r>
                      <m:rPr>
                        <m:nor/>
                      </m:rPr>
                      <a:rPr lang="en-US">
                        <a:solidFill>
                          <a:srgbClr val="C000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>
                        <a:solidFill>
                          <a:srgbClr val="C00000"/>
                        </a:solidFill>
                      </a:rPr>
                      <m:t>model</m:t>
                    </m:r>
                  </m:oMath>
                </a14:m>
                <a:endParaRPr lang="en-US" b="0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EC318D-7AC3-E5AD-787F-1C762F9CD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3F038-20FB-CFF8-9B83-B3381878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209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5D340-FE89-9CD2-4BE0-7F48BA1FD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8F380F-57E4-9C88-E122-150122A3DE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Extract Information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only care about: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Previous variables: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are nuisance variables.</a:t>
                </a:r>
              </a:p>
              <a:p>
                <a:pPr lvl="1"/>
                <a:r>
                  <a:rPr lang="en-US" dirty="0"/>
                  <a:t>Using Schur complement: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i="1"/>
                          <m:t>    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Key identity: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i="1"/>
                          <m:t>    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bSup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p>
                                  </m:sSubSup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because: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Therefore: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the recursive PCRB equation.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8F380F-57E4-9C88-E122-150122A3DE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5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2ADF7-A3EF-181D-7F13-72095E887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508233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089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F93F-45B7-7FA2-1058-190633F79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05FCF-A099-735F-2B69-DEBCEC42C8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Recursive PCRB Intuition</a:t>
                </a:r>
              </a:p>
              <a:p>
                <a:pPr lvl="1"/>
                <a:r>
                  <a:rPr lang="en-US" dirty="0"/>
                  <a:t>Think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as current information about the target.</a:t>
                </a:r>
              </a:p>
              <a:p>
                <a:pPr lvl="1"/>
                <a:r>
                  <a:rPr lang="en-US" dirty="0"/>
                  <a:t>At the next time: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direct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about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/>
                      <m:t>uncertainty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penalty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from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transition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new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measurement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But: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depends on uncertain: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usable information is reduced by: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Final intuition: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New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new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direct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/>
                      <m:t>loss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due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previous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state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uncertainty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D05FCF-A099-735F-2B69-DEBCEC42C8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0497-DDD3-5A5A-D361-4D77F693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0499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DF617283-00E5-7E05-B5C2-4F9A767F6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DB65E1-E843-E155-5EC9-2DE23E080E5D}"/>
                  </a:ext>
                </a:extLst>
              </p:cNvPr>
              <p:cNvSpPr txBox="1"/>
              <p:nvPr/>
            </p:nvSpPr>
            <p:spPr>
              <a:xfrm>
                <a:off x="838200" y="1649690"/>
                <a:ext cx="5822660" cy="491050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Additive Gaussian Noise Case</a:t>
                </a: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If: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600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6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with: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0,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then: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and:</a:t>
                </a:r>
              </a:p>
              <a:p>
                <a:pPr marL="1143000" lvl="2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685800" lvl="1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17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control PCRB.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3DB65E1-E843-E155-5EC9-2DE23E080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9690"/>
                <a:ext cx="5822660" cy="4910501"/>
              </a:xfrm>
              <a:prstGeom prst="rect">
                <a:avLst/>
              </a:prstGeom>
              <a:blipFill>
                <a:blip r:embed="rId2"/>
                <a:stretch>
                  <a:fillRect l="-942" t="-1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810BD-4E24-A663-EBC4-50ED5C9C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43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4BD1B039-A664-985B-37F7-D2433868066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524959058"/>
                  </p:ext>
                </p:extLst>
              </p:nvPr>
            </p:nvGraphicFramePr>
            <p:xfrm>
              <a:off x="6690220" y="1728131"/>
              <a:ext cx="4663581" cy="4882826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892868">
                      <a:extLst>
                        <a:ext uri="{9D8B030D-6E8A-4147-A177-3AD203B41FA5}">
                          <a16:colId xmlns:a16="http://schemas.microsoft.com/office/drawing/2014/main" val="1172123083"/>
                        </a:ext>
                      </a:extLst>
                    </a:gridCol>
                    <a:gridCol w="2770713">
                      <a:extLst>
                        <a:ext uri="{9D8B030D-6E8A-4147-A177-3AD203B41FA5}">
                          <a16:colId xmlns:a16="http://schemas.microsoft.com/office/drawing/2014/main" val="2207343613"/>
                        </a:ext>
                      </a:extLst>
                    </a:gridCol>
                  </a:tblGrid>
                  <a:tr h="68770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 dirty="0">
                              <a:solidFill>
                                <a:schemeClr val="bg1"/>
                              </a:solidFill>
                            </a:rPr>
                            <a:t>Matrix / Case</a:t>
                          </a:r>
                        </a:p>
                      </a:txBody>
                      <a:tcPr marL="101881" marR="72772" marT="145545" marB="14554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>
                              <a:solidFill>
                                <a:schemeClr val="bg1"/>
                              </a:solidFill>
                            </a:rPr>
                            <a:t>Meaning</a:t>
                          </a:r>
                        </a:p>
                      </a:txBody>
                      <a:tcPr marL="101881" marR="72772" marT="145545" marB="14554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852346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process noise covariance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9406149"/>
                      </a:ext>
                    </a:extLst>
                  </a:tr>
                  <a:tr h="85721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9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measurement noise covariance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2803936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small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motion is predictable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090595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large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motion is uncertain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890257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small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accurate sensing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301090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large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9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sz="19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 dirty="0">
                              <a:solidFill>
                                <a:schemeClr val="tx1"/>
                              </a:solidFill>
                            </a:rPr>
                            <a:t>noisy sensing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3734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4BD1B039-A664-985B-37F7-D2433868066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524959058"/>
                  </p:ext>
                </p:extLst>
              </p:nvPr>
            </p:nvGraphicFramePr>
            <p:xfrm>
              <a:off x="6690220" y="1728131"/>
              <a:ext cx="4663581" cy="4882826"/>
            </p:xfrm>
            <a:graphic>
              <a:graphicData uri="http://schemas.openxmlformats.org/drawingml/2006/table">
                <a:tbl>
                  <a:tblPr firstRow="1" bandRow="1">
                    <a:noFill/>
                  </a:tblPr>
                  <a:tblGrid>
                    <a:gridCol w="1892868">
                      <a:extLst>
                        <a:ext uri="{9D8B030D-6E8A-4147-A177-3AD203B41FA5}">
                          <a16:colId xmlns:a16="http://schemas.microsoft.com/office/drawing/2014/main" val="1172123083"/>
                        </a:ext>
                      </a:extLst>
                    </a:gridCol>
                    <a:gridCol w="2770713">
                      <a:extLst>
                        <a:ext uri="{9D8B030D-6E8A-4147-A177-3AD203B41FA5}">
                          <a16:colId xmlns:a16="http://schemas.microsoft.com/office/drawing/2014/main" val="2207343613"/>
                        </a:ext>
                      </a:extLst>
                    </a:gridCol>
                  </a:tblGrid>
                  <a:tr h="9616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 dirty="0">
                              <a:solidFill>
                                <a:schemeClr val="bg1"/>
                              </a:solidFill>
                            </a:rPr>
                            <a:t>Matrix / Case</a:t>
                          </a:r>
                        </a:p>
                      </a:txBody>
                      <a:tcPr marL="101881" marR="72772" marT="145545" marB="14554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b="1" cap="none" spc="0">
                              <a:solidFill>
                                <a:schemeClr val="bg1"/>
                              </a:solidFill>
                            </a:rPr>
                            <a:t>Meaning</a:t>
                          </a:r>
                        </a:p>
                      </a:txBody>
                      <a:tcPr marL="101881" marR="72772" marT="145545" marB="145545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2852346"/>
                      </a:ext>
                    </a:extLst>
                  </a:tr>
                  <a:tr h="7974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120611" r="-146624" b="-391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process noise covariance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79406149"/>
                      </a:ext>
                    </a:extLst>
                  </a:tr>
                  <a:tr h="8572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204965" r="-146624" b="-2638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measurement noise covariance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2803936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462366" r="-14662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motion is predictable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0090595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562366" r="-146624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motion is uncertain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890257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662366" r="-146624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>
                              <a:solidFill>
                                <a:schemeClr val="tx1"/>
                              </a:solidFill>
                            </a:rPr>
                            <a:t>accurate sensing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43010902"/>
                      </a:ext>
                    </a:extLst>
                  </a:tr>
                  <a:tr h="5666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762366" r="-1466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 cap="none" spc="0" dirty="0">
                              <a:solidFill>
                                <a:schemeClr val="tx1"/>
                              </a:solidFill>
                            </a:rPr>
                            <a:t>noisy sensing</a:t>
                          </a:r>
                        </a:p>
                      </a:txBody>
                      <a:tcPr marL="101881" marR="72772" marT="72772" marB="145545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3734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48815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E1476E-4282-C224-0B9C-9F5359AA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49828D7-B8E5-46C5-BB36-470FB80188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ISAC Measurement Noise From CRB</a:t>
                </a:r>
              </a:p>
              <a:p>
                <a:pPr lvl="1"/>
                <a:r>
                  <a:rPr lang="en-US" dirty="0"/>
                  <a:t>In ISAC papers, measurement noise covariance may come from sensing CRB: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where:</a:t>
                </a:r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range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velocity</m:t>
                    </m:r>
                    <m:r>
                      <m:rPr>
                        <m:nor/>
                      </m:rPr>
                      <a:rPr lang="en-US"/>
                      <m:t>/</m:t>
                    </m:r>
                    <m:r>
                      <m:rPr>
                        <m:nor/>
                      </m:rPr>
                      <a:rPr lang="en-US"/>
                      <m:t>Doppler</m:t>
                    </m:r>
                  </m:oMath>
                </a14:m>
                <a:endParaRPr lang="en-US" b="0" dirty="0"/>
              </a:p>
              <a:p>
                <a:pPr lvl="3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of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angle</m:t>
                    </m:r>
                  </m:oMath>
                </a14:m>
                <a:endParaRPr lang="en-US" b="0" dirty="0"/>
              </a:p>
              <a:p>
                <a:pPr lvl="3"/>
                <a:r>
                  <a:rPr lang="en-US" dirty="0"/>
                  <a:t>Then this measurement noise affects PCRB tracking performance.</a:t>
                </a:r>
              </a:p>
              <a:p>
                <a:pPr lvl="1"/>
                <a:r>
                  <a:rPr lang="en-US" dirty="0"/>
                  <a:t>So: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sensing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CRB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PCRB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tracking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bound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49828D7-B8E5-46C5-BB36-470FB8018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18126-E9CE-2EAA-45A9-8B71757B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5085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23D02-6F0F-6403-049D-33761DD9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BE5E1-436E-07D7-C820-4874B099CE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Connection With Kalman Filter</a:t>
                </a:r>
              </a:p>
              <a:p>
                <a:pPr lvl="1"/>
                <a:r>
                  <a:rPr lang="en-US" dirty="0"/>
                  <a:t>For linear Gaussian model: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Kalman covariance satisfies: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 PCRB is achieved.</a:t>
                </a:r>
              </a:p>
              <a:p>
                <a:pPr lvl="1"/>
                <a:r>
                  <a:rPr lang="en-US" dirty="0"/>
                  <a:t>This means: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Kalman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filter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reaches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theoretical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lower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bound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linear Gaussian systems.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1BE5E1-436E-07D7-C820-4874B099CE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D5DE2-F8A4-D046-563B-4C8906BC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0574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7EC60-4A91-C8E1-D131-34062958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002EC-2692-CDB3-9441-F7B0067E95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Connection With EKF</a:t>
                </a:r>
              </a:p>
              <a:p>
                <a:pPr lvl="1"/>
                <a:r>
                  <a:rPr lang="en-US" dirty="0"/>
                  <a:t>For nonlinear model: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EKF approximates using Jacobians: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Then we compare: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𝑀𝑆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𝐸𝐾𝐹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EKF MSE is close to PCRB: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tracking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good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EKF MSE is far above PCRB: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estimator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inefficient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model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difficult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F002EC-2692-CDB3-9441-F7B0067E95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B3136-5A4F-67C4-D350-1773DBE7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525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D56F-7D1E-1CFD-D015-35188CCD0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26CCD-36EA-69D1-A1D1-86DB31F77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Why PCRB Matters For ISAC Research</a:t>
                </a:r>
              </a:p>
              <a:p>
                <a:pPr lvl="1"/>
                <a:r>
                  <a:rPr lang="en-US" dirty="0"/>
                  <a:t>PCRB helps analyze: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beamforming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improves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sensing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information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bandwidth</m:t>
                    </m:r>
                    <m:r>
                      <m:rPr>
                        <m:nor/>
                      </m:rPr>
                      <a:rPr lang="en-US" b="0"/>
                      <m:t>/</m:t>
                    </m:r>
                    <m:r>
                      <m:rPr>
                        <m:nor/>
                      </m:rPr>
                      <a:rPr lang="en-US" b="0"/>
                      <m:t>power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allocation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improves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tracking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CRB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of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range</m:t>
                    </m:r>
                    <m:r>
                      <m:rPr>
                        <m:nor/>
                      </m:rPr>
                      <a:rPr lang="en-US" b="0"/>
                      <m:t>/</m:t>
                    </m:r>
                    <m:r>
                      <m:rPr>
                        <m:nor/>
                      </m:rPr>
                      <a:rPr lang="en-US" b="0"/>
                      <m:t>angle</m:t>
                    </m:r>
                    <m:r>
                      <m:rPr>
                        <m:nor/>
                      </m:rPr>
                      <a:rPr lang="en-US" b="0"/>
                      <m:t>/</m:t>
                    </m:r>
                    <m:r>
                      <m:rPr>
                        <m:nor/>
                      </m:rPr>
                      <a:rPr lang="en-US" b="0"/>
                      <m:t>Doppler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affects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tracking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error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whether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EKF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tracking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is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close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to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theoretical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limit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how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communication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constraints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degrade</m:t>
                    </m:r>
                    <m:r>
                      <m:rPr>
                        <m:nor/>
                      </m:rPr>
                      <a:rPr lang="en-US" b="0"/>
                      <m:t> </m:t>
                    </m:r>
                    <m:r>
                      <m:rPr>
                        <m:nor/>
                      </m:rPr>
                      <a:rPr lang="en-US" b="0"/>
                      <m:t>sensing</m:t>
                    </m:r>
                    <m:r>
                      <m:rPr>
                        <m:nor/>
                      </m:rPr>
                      <a:rPr lang="en-US" b="0"/>
                      <m:t>/</m:t>
                    </m:r>
                    <m:r>
                      <m:rPr>
                        <m:nor/>
                      </m:rPr>
                      <a:rPr lang="en-US" b="0"/>
                      <m:t>tracking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Typical ISAC chain: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Beamforming</m:t>
                    </m:r>
                    <m:r>
                      <m:rPr>
                        <m:nor/>
                      </m:rPr>
                      <a:rPr lang="en-US"/>
                      <m:t> / </m:t>
                    </m:r>
                    <m:r>
                      <m:rPr>
                        <m:nor/>
                      </m:rPr>
                      <a:rPr lang="en-US"/>
                      <m:t>Resource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Allocation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Sensing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CRB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EKF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Tracking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PCRB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Comparison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726CCD-36EA-69D1-A1D1-86DB31F77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BAA03-F28B-EFF7-1638-85564E1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4368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121F-36B2-6E3A-5A87-7FA15D7DD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PCRB for Tracking or Filtering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00A162-DE6D-ED91-AD7C-793CBBFFC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Final Summary</a:t>
                </a:r>
              </a:p>
              <a:p>
                <a:pPr lvl="1"/>
                <a:r>
                  <a:rPr lang="en-US" dirty="0"/>
                  <a:t>The full logic is: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score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function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Fisher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posterior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information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PCRB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For filtering: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sepChr m:val=",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recursively compute: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𝑃𝐶𝑅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Main meaning: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PCRB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gives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theoretical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minimum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tracking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00A162-DE6D-ED91-AD7C-793CBBFFC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52204-537A-E64F-8DA6-88E9EAA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829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CE968FF-6ECA-7FE5-4CF5-43424C71B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and Bandwidth Allocation for Multi-Target Tracking in Collocated MIMO Radar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2B4065B-59E0-1BAF-547B-4A07010382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u="sng" dirty="0" err="1">
                <a:hlinkClick r:id="rId2"/>
              </a:rPr>
              <a:t>Haowei</a:t>
            </a:r>
            <a:r>
              <a:rPr lang="en-US" u="sng" dirty="0">
                <a:hlinkClick r:id="rId2"/>
              </a:rPr>
              <a:t> Zhang</a:t>
            </a:r>
            <a:r>
              <a:rPr lang="en-US" dirty="0"/>
              <a:t>; </a:t>
            </a:r>
            <a:r>
              <a:rPr lang="en-US" u="sng" dirty="0" err="1">
                <a:hlinkClick r:id="rId3"/>
              </a:rPr>
              <a:t>Binfeng</a:t>
            </a:r>
            <a:r>
              <a:rPr lang="en-US" u="sng" dirty="0">
                <a:hlinkClick r:id="rId3"/>
              </a:rPr>
              <a:t> Zong</a:t>
            </a:r>
            <a:r>
              <a:rPr lang="en-US" dirty="0"/>
              <a:t>; </a:t>
            </a:r>
            <a:r>
              <a:rPr lang="en-US" u="sng" dirty="0">
                <a:hlinkClick r:id="rId4"/>
              </a:rPr>
              <a:t>Junwei Xie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1A0DF-E1EF-047D-786D-89F70FACF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1212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3AD9-FEBE-02B4-BE12-6F6FE660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EE3AA-E966-F344-ABB3-7332CC928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EF42D-643A-F370-1147-C01D38F2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6549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440C-22DC-AF3F-45EE-BCA08DBE6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AE217-0273-F71A-7B77-3CD4E14A5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Paper Focus</a:t>
            </a:r>
          </a:p>
          <a:p>
            <a:pPr lvl="1"/>
            <a:r>
              <a:rPr lang="en-US" b="1" dirty="0"/>
              <a:t>Power and Bandwidth Allocation for Multi-Target Tracking</a:t>
            </a:r>
            <a:endParaRPr lang="en-US" dirty="0"/>
          </a:p>
          <a:p>
            <a:pPr lvl="1"/>
            <a:r>
              <a:rPr lang="en-US" dirty="0"/>
              <a:t>Collocated MIMO radar tracks multiple targets. </a:t>
            </a:r>
          </a:p>
          <a:p>
            <a:pPr lvl="1"/>
            <a:r>
              <a:rPr lang="en-US" dirty="0"/>
              <a:t>Uses simultaneous multi-beam mode. </a:t>
            </a:r>
          </a:p>
          <a:p>
            <a:pPr lvl="1"/>
            <a:r>
              <a:rPr lang="en-US" dirty="0"/>
              <a:t>Goal: improve target tracking accuracy. </a:t>
            </a:r>
          </a:p>
          <a:p>
            <a:pPr lvl="1"/>
            <a:r>
              <a:rPr lang="en-US" dirty="0"/>
              <a:t>Key metric: weighted PCRLB. </a:t>
            </a:r>
          </a:p>
          <a:p>
            <a:r>
              <a:rPr lang="en-US" b="1" dirty="0"/>
              <a:t>Main Problem</a:t>
            </a:r>
          </a:p>
          <a:p>
            <a:pPr lvl="1"/>
            <a:r>
              <a:rPr lang="en-US" b="1" dirty="0"/>
              <a:t>Limited Radar Resources</a:t>
            </a:r>
            <a:endParaRPr lang="en-US" dirty="0"/>
          </a:p>
          <a:p>
            <a:pPr lvl="1"/>
            <a:r>
              <a:rPr lang="en-US" dirty="0"/>
              <a:t>Radar has limited: </a:t>
            </a:r>
          </a:p>
          <a:p>
            <a:pPr lvl="2"/>
            <a:r>
              <a:rPr lang="en-US" dirty="0"/>
              <a:t>transmit power, </a:t>
            </a:r>
          </a:p>
          <a:p>
            <a:pPr lvl="2"/>
            <a:r>
              <a:rPr lang="en-US" dirty="0"/>
              <a:t>bandwidth. </a:t>
            </a:r>
          </a:p>
          <a:p>
            <a:pPr lvl="1"/>
            <a:r>
              <a:rPr lang="en-US" dirty="0"/>
              <a:t>Multiple targets need to be tracked simultaneously. </a:t>
            </a:r>
          </a:p>
          <a:p>
            <a:pPr lvl="1"/>
            <a:r>
              <a:rPr lang="en-US" dirty="0"/>
              <a:t>Question: how much power and bandwidth should each target receive?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45D72-2A83-DFA9-BBC6-7C3EB92B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8731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18B52-214A-E1E4-FA91-B61906A1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AD573-C2DD-966E-28E3-44955FD7D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Proposed Method</a:t>
            </a:r>
          </a:p>
          <a:p>
            <a:pPr lvl="1"/>
            <a:r>
              <a:rPr lang="en-US" b="1" dirty="0"/>
              <a:t>Joint Power + Bandwidth Allocation</a:t>
            </a:r>
            <a:endParaRPr lang="en-US" dirty="0"/>
          </a:p>
          <a:p>
            <a:pPr lvl="1"/>
            <a:r>
              <a:rPr lang="en-US" dirty="0"/>
              <a:t>Objective: minimize sum of weighted PCRLBs. </a:t>
            </a:r>
          </a:p>
          <a:p>
            <a:pPr lvl="1"/>
            <a:r>
              <a:rPr lang="en-US" dirty="0"/>
              <a:t>Uses feedback from previous tracking cycle. </a:t>
            </a:r>
          </a:p>
          <a:p>
            <a:pPr lvl="1"/>
            <a:r>
              <a:rPr lang="en-US" dirty="0"/>
              <a:t>Nonconvex problem is handled by: </a:t>
            </a:r>
          </a:p>
          <a:p>
            <a:pPr lvl="2"/>
            <a:r>
              <a:rPr lang="en-US" dirty="0"/>
              <a:t>convex relaxation, </a:t>
            </a:r>
          </a:p>
          <a:p>
            <a:pPr lvl="2"/>
            <a:r>
              <a:rPr lang="en-US" dirty="0"/>
              <a:t>cycle minimizer, </a:t>
            </a:r>
          </a:p>
          <a:p>
            <a:pPr lvl="2"/>
            <a:r>
              <a:rPr lang="en-US" dirty="0"/>
              <a:t>two-stage convex optimization.</a:t>
            </a:r>
          </a:p>
          <a:p>
            <a:r>
              <a:rPr lang="en-US" b="1" dirty="0"/>
              <a:t>Key Takeaway</a:t>
            </a:r>
          </a:p>
          <a:p>
            <a:pPr lvl="1"/>
            <a:r>
              <a:rPr lang="en-US" b="1" dirty="0"/>
              <a:t>Why This Paper Matters</a:t>
            </a:r>
            <a:endParaRPr lang="en-US" dirty="0"/>
          </a:p>
          <a:p>
            <a:pPr lvl="1"/>
            <a:r>
              <a:rPr lang="en-US" dirty="0"/>
              <a:t>Better resource allocation gives better tracking. </a:t>
            </a:r>
          </a:p>
          <a:p>
            <a:pPr lvl="1"/>
            <a:r>
              <a:rPr lang="en-US" dirty="0"/>
              <a:t>PCRLB links radar resources to tracking accuracy. </a:t>
            </a:r>
          </a:p>
          <a:p>
            <a:pPr lvl="1"/>
            <a:r>
              <a:rPr lang="en-US" dirty="0"/>
              <a:t>Joint allocation performs better than uniform allocation. </a:t>
            </a:r>
          </a:p>
          <a:p>
            <a:pPr lvl="1"/>
            <a:r>
              <a:rPr lang="en-US" dirty="0"/>
              <a:t>Useful foundation for dynamic ISAC target tracking.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07E20-013B-557D-C186-E34144FB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8948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B618-F841-4ADD-2C87-6760785A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87555-F967-0719-7668-09504B6EC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Motivation and Research Gap</a:t>
            </a:r>
          </a:p>
          <a:p>
            <a:pPr lvl="1"/>
            <a:r>
              <a:rPr lang="en-US" dirty="0"/>
              <a:t>MIMO radar offers path diversity, flexible beam patterns, and multi-function operation. </a:t>
            </a:r>
          </a:p>
          <a:p>
            <a:pPr lvl="1"/>
            <a:r>
              <a:rPr lang="en-US" dirty="0"/>
              <a:t>Existing radar resource allocation mainly focuses on </a:t>
            </a:r>
            <a:r>
              <a:rPr lang="en-US" b="1" dirty="0"/>
              <a:t>power allocation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Most prior works consider </a:t>
            </a:r>
            <a:r>
              <a:rPr lang="en-US" b="1" dirty="0"/>
              <a:t>static targets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For practical tracking, target motion must be considered. </a:t>
            </a:r>
          </a:p>
          <a:p>
            <a:pPr lvl="1"/>
            <a:r>
              <a:rPr lang="en-US" dirty="0"/>
              <a:t>Bandwidth is also a critical but often ignored resource.</a:t>
            </a:r>
          </a:p>
          <a:p>
            <a:r>
              <a:rPr lang="en-US" b="1" dirty="0"/>
              <a:t>Proposed Direction</a:t>
            </a:r>
          </a:p>
          <a:p>
            <a:pPr lvl="1"/>
            <a:r>
              <a:rPr lang="en-US" dirty="0"/>
              <a:t>This paper studies </a:t>
            </a:r>
            <a:r>
              <a:rPr lang="en-US" b="1" dirty="0"/>
              <a:t>joint power and bandwidth allocation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Objective: minimize the </a:t>
            </a:r>
            <a:r>
              <a:rPr lang="en-US" b="1" dirty="0"/>
              <a:t>sum of weighted PCRLBs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Uses feedback from the tracking cycle. </a:t>
            </a:r>
          </a:p>
          <a:p>
            <a:pPr lvl="1"/>
            <a:r>
              <a:rPr lang="en-US" dirty="0"/>
              <a:t>Develops a closed-loop tracking/resource allocation framework. </a:t>
            </a:r>
          </a:p>
          <a:p>
            <a:pPr lvl="1"/>
            <a:r>
              <a:rPr lang="en-US" dirty="0"/>
              <a:t>Solves the problem using </a:t>
            </a:r>
            <a:r>
              <a:rPr lang="en-US" b="1" dirty="0"/>
              <a:t>convex relaxation + cyclical minimizer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385DB-FB7E-85D9-0582-DF8FA4D0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79420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E3D9-D2B9-5A59-5817-EA2EF2A2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anchor="ctr">
            <a:normAutofit/>
          </a:bodyPr>
          <a:lstStyle/>
          <a:p>
            <a:r>
              <a:rPr lang="en-US" dirty="0"/>
              <a:t>System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283E7D-B317-F2E4-C4BB-34C066903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987" y="1649691"/>
            <a:ext cx="6900785" cy="365741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EB963-09BD-4943-D77D-98032723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91509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54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C1CDD9-2D2D-0C1E-EA15-416CE7564F02}"/>
              </a:ext>
            </a:extLst>
          </p:cNvPr>
          <p:cNvSpPr txBox="1"/>
          <p:nvPr/>
        </p:nvSpPr>
        <p:spPr>
          <a:xfrm>
            <a:off x="2311168" y="5347982"/>
            <a:ext cx="8472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1. Illustration of multi-target tracking by simultaneous multi-beam mode. (a) Transmit beam pattern. (b) Receive beam pattern.</a:t>
            </a:r>
          </a:p>
        </p:txBody>
      </p:sp>
    </p:spTree>
    <p:extLst>
      <p:ext uri="{BB962C8B-B14F-4D97-AF65-F5344CB8AC3E}">
        <p14:creationId xmlns:p14="http://schemas.microsoft.com/office/powerpoint/2010/main" val="14813568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4D6-84A6-6441-35E0-52B234BF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E5ADE0-548E-A8D2-8A74-7224B6668A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Section II: System Model</a:t>
                </a:r>
              </a:p>
              <a:p>
                <a:pPr lvl="1"/>
                <a:r>
                  <a:rPr lang="en-US" dirty="0"/>
                  <a:t>Objective of This Section</a:t>
                </a:r>
              </a:p>
              <a:p>
                <a:pPr lvl="2"/>
                <a:r>
                  <a:rPr lang="en-US" dirty="0"/>
                  <a:t>Define the radar signal model. </a:t>
                </a:r>
              </a:p>
              <a:p>
                <a:pPr lvl="2"/>
                <a:r>
                  <a:rPr lang="en-US" dirty="0"/>
                  <a:t>Describe target motion dynamics. </a:t>
                </a:r>
              </a:p>
              <a:p>
                <a:pPr lvl="2"/>
                <a:r>
                  <a:rPr lang="en-US" dirty="0"/>
                  <a:t>Build the measurement model. </a:t>
                </a:r>
              </a:p>
              <a:p>
                <a:pPr lvl="2"/>
                <a:r>
                  <a:rPr lang="en-US" dirty="0"/>
                  <a:t>Show how power and bandwidth affect tracking accuracy. </a:t>
                </a:r>
              </a:p>
              <a:p>
                <a:r>
                  <a:rPr lang="en-US" dirty="0"/>
                  <a:t>System Scenario</a:t>
                </a:r>
              </a:p>
              <a:p>
                <a:pPr lvl="1"/>
                <a:r>
                  <a:rPr lang="en-US" dirty="0"/>
                  <a:t>Collocated MIMO Radar for Multi-Target Tracking</a:t>
                </a:r>
              </a:p>
              <a:p>
                <a:pPr lvl="1"/>
                <a:r>
                  <a:rPr lang="en-US" dirty="0"/>
                  <a:t>A 2-D monostatic collocated MIMO radar tracks </a:t>
                </a:r>
                <a14:m>
                  <m:oMath xmlns:m="http://schemas.openxmlformats.org/officeDocument/2006/math">
                    <m:r>
                      <a:rPr lang="en-US" i="1"/>
                      <m:t>𝑄</m:t>
                    </m:r>
                  </m:oMath>
                </a14:m>
                <a:r>
                  <a:rPr lang="en-US" dirty="0"/>
                  <a:t> targets. </a:t>
                </a:r>
              </a:p>
              <a:p>
                <a:pPr lvl="1"/>
                <a:r>
                  <a:rPr lang="en-US" dirty="0"/>
                  <a:t>Radar operates in simultaneous multi-beam mode. </a:t>
                </a:r>
              </a:p>
              <a:p>
                <a:pPr lvl="1"/>
                <a:r>
                  <a:rPr lang="en-US" dirty="0"/>
                  <a:t>Targets are widely separated in the surveillance region. </a:t>
                </a:r>
              </a:p>
              <a:p>
                <a:pPr lvl="1"/>
                <a:r>
                  <a:rPr lang="en-US" dirty="0"/>
                  <a:t>Each beam is responsible for tracking one target.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EE5ADE0-548E-A8D2-8A74-7224B6668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2973E-247E-ADC7-5668-7EF24C33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666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D840530-FDF2-AB22-3D45-C7FD16E95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anchor="ctr">
            <a:normAutofit/>
          </a:bodyPr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1E36F3-9BEF-0C3D-0CDD-86A70710BBC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649691"/>
                <a:ext cx="5104598" cy="4527272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Transmit Signal Model</a:t>
                </a:r>
              </a:p>
              <a:p>
                <a:pPr lvl="1"/>
                <a:r>
                  <a:rPr lang="en-US" dirty="0"/>
                  <a:t>For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target at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interval: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rad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: allocated transmit power.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complex envelope.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: carrier frequency.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/>
                      <m:t>affects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received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echo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strength</m:t>
                    </m:r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1E36F3-9BEF-0C3D-0CDD-86A70710BB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649691"/>
                <a:ext cx="5104598" cy="4527272"/>
              </a:xfrm>
              <a:blipFill>
                <a:blip r:embed="rId2"/>
                <a:stretch>
                  <a:fillRect l="-1075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5AE8A-CEB7-87F4-01B5-81493B93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56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54684CC-C7E8-04B2-C9B2-DA65FBFA18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6299323"/>
                  </p:ext>
                </p:extLst>
              </p:nvPr>
            </p:nvGraphicFramePr>
            <p:xfrm>
              <a:off x="5507371" y="1694575"/>
              <a:ext cx="6597943" cy="5345258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2302564">
                      <a:extLst>
                        <a:ext uri="{9D8B030D-6E8A-4147-A177-3AD203B41FA5}">
                          <a16:colId xmlns:a16="http://schemas.microsoft.com/office/drawing/2014/main" val="1613541429"/>
                        </a:ext>
                      </a:extLst>
                    </a:gridCol>
                    <a:gridCol w="4295379">
                      <a:extLst>
                        <a:ext uri="{9D8B030D-6E8A-4147-A177-3AD203B41FA5}">
                          <a16:colId xmlns:a16="http://schemas.microsoft.com/office/drawing/2014/main" val="2231344646"/>
                        </a:ext>
                      </a:extLst>
                    </a:gridCol>
                  </a:tblGrid>
                  <a:tr h="4717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Symbol</a:t>
                          </a: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Meaning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6409499"/>
                      </a:ext>
                    </a:extLst>
                  </a:tr>
                  <a:tr h="4717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Superscript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 target,</a:t>
                          </a:r>
                          <a:r>
                            <a:rPr lang="en-US" sz="1500" baseline="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b="0" i="1" baseline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1500" b="0" i="1" baseline="0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1500" b="0" i="1" baseline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500" b="0" i="1" baseline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1,..,</m:t>
                                  </m:r>
                                  <m:r>
                                    <a:rPr lang="en-US" sz="1500" b="0" i="1" baseline="0" smtClean="0">
                                      <a:solidFill>
                                        <a:schemeClr val="tx1">
                                          <a:lumMod val="85000"/>
                                          <a:lumOff val="1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d>
                            </m:oMath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9594430"/>
                      </a:ext>
                    </a:extLst>
                  </a:tr>
                  <a:tr h="4717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Subscript </a:t>
                          </a: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sz="1500" dirty="0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th</a:t>
                          </a: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 sample/tracking interval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411542"/>
                      </a:ext>
                    </a:extLst>
                  </a:tr>
                  <a:tr h="4717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-</a:t>
                          </a:r>
                          <a:r>
                            <a:rPr lang="en-US" sz="1500" dirty="0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th</a:t>
                          </a: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 target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5184427"/>
                      </a:ext>
                    </a:extLst>
                  </a:tr>
                  <a:tr h="47170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5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oMath>
                          </a14:m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-</a:t>
                          </a:r>
                          <a:r>
                            <a:rPr lang="en-US" sz="1500" dirty="0" err="1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th</a:t>
                          </a: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 tracking/sample interval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4239776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Target state vector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0121006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Allocated power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386939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Allocated bandwidth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1113990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Time delay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2221948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Doppler shift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295726"/>
                      </a:ext>
                    </a:extLst>
                  </a:tr>
                  <a:tr h="49708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sz="1500" b="0" i="1" smtClean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50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endParaRP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Measurement vector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788439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54684CC-C7E8-04B2-C9B2-DA65FBFA18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6299323"/>
                  </p:ext>
                </p:extLst>
              </p:nvPr>
            </p:nvGraphicFramePr>
            <p:xfrm>
              <a:off x="5507371" y="1694575"/>
              <a:ext cx="6597943" cy="5345258"/>
            </p:xfrm>
            <a:graphic>
              <a:graphicData uri="http://schemas.openxmlformats.org/drawingml/2006/table">
                <a:tbl>
                  <a:tblPr>
                    <a:noFill/>
                  </a:tblPr>
                  <a:tblGrid>
                    <a:gridCol w="2302564">
                      <a:extLst>
                        <a:ext uri="{9D8B030D-6E8A-4147-A177-3AD203B41FA5}">
                          <a16:colId xmlns:a16="http://schemas.microsoft.com/office/drawing/2014/main" val="1613541429"/>
                        </a:ext>
                      </a:extLst>
                    </a:gridCol>
                    <a:gridCol w="4295379">
                      <a:extLst>
                        <a:ext uri="{9D8B030D-6E8A-4147-A177-3AD203B41FA5}">
                          <a16:colId xmlns:a16="http://schemas.microsoft.com/office/drawing/2014/main" val="2231344646"/>
                        </a:ext>
                      </a:extLst>
                    </a:gridCol>
                  </a:tblGrid>
                  <a:tr h="4720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Symbol</a:t>
                          </a:r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Meaning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6409499"/>
                      </a:ext>
                    </a:extLst>
                  </a:tr>
                  <a:tr h="472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101299" r="-187302" b="-9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53617" t="-101299" r="-426" b="-9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9594430"/>
                      </a:ext>
                    </a:extLst>
                  </a:tr>
                  <a:tr h="472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198718" r="-187302" b="-8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53617" t="-198718" r="-426" b="-8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1411542"/>
                      </a:ext>
                    </a:extLst>
                  </a:tr>
                  <a:tr h="472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302597" r="-187302" b="-7415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53617" t="-302597" r="-426" b="-7415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5184427"/>
                      </a:ext>
                    </a:extLst>
                  </a:tr>
                  <a:tr h="4720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397436" r="-187302" b="-6320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l="-53617" t="-397436" r="-426" b="-632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4239776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479012" r="-187302" b="-5086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Target state vector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0121006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571951" r="-187302" b="-4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Allocated power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6386939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671951" r="-187302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Allocated bandwidth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1113990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771951" r="-187302" b="-2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Time delay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62221948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blipFill>
                          <a:blip r:embed="rId3"/>
                          <a:stretch>
                            <a:fillRect t="-882716" r="-187302" b="-104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Doppler shift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295726"/>
                      </a:ext>
                    </a:extLst>
                  </a:tr>
                  <a:tr h="497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02897" marR="121739" marT="121739" marB="121739" anchor="ctr">
                        <a:lnL w="12700" cmpd="sng">
                          <a:noFill/>
                          <a:prstDash val="solid"/>
                        </a:lnL>
                        <a:lnR w="38100" cap="flat" cmpd="sng" algn="ctr">
                          <a:solidFill>
                            <a:srgbClr val="FFFFFF"/>
                          </a:solidFill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3"/>
                          <a:stretch>
                            <a:fillRect t="-970732" r="-187302" b="-36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</a:rPr>
                            <a:t>Measurement vector</a:t>
                          </a:r>
                        </a:p>
                      </a:txBody>
                      <a:tcPr marL="202897" marR="121739" marT="121739" marB="121739" anchor="ctr">
                        <a:lnL w="38100" cap="flat" cmpd="sng" algn="ctr">
                          <a:solidFill>
                            <a:srgbClr val="FFFFFF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rgbClr val="878E8B">
                            <a:alpha val="30196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78843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904062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318D4A-C22A-43E4-485B-5FF612472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91FEA12-6353-05C0-913A-36FDDC549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Effective Bandwidth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/>
                      <m:t>∣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𝛽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∣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en-US" i="1"/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𝑓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/>
                          <m:t>∣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𝑞</m:t>
                            </m:r>
                          </m:sup>
                        </m:sSub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𝑓</m:t>
                            </m:r>
                          </m:e>
                        </m:d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∣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 i="1"/>
                          <m:t>𝑑𝑓</m:t>
                        </m:r>
                      </m:num>
                      <m:den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en-US" i="1"/>
                            </m:ctrlPr>
                          </m:naryPr>
                          <m:sub/>
                          <m:sup/>
                          <m:e>
                            <m:r>
                              <a:rPr lang="en-US"/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𝑞</m:t>
                            </m:r>
                          </m:sup>
                        </m:sSub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𝑓</m:t>
                            </m:r>
                          </m:e>
                        </m:d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∣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 i="1"/>
                          <m:t>𝑑𝑓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𝛽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 represents effective bandwidth. </a:t>
                </a:r>
              </a:p>
              <a:p>
                <a:pPr lvl="2"/>
                <a:r>
                  <a:rPr lang="en-US" dirty="0"/>
                  <a:t>Larger bandwidth improves range estimation accuracy. </a:t>
                </a:r>
              </a:p>
              <a:p>
                <a:pPr lvl="2"/>
                <a:r>
                  <a:rPr lang="en-US" dirty="0"/>
                  <a:t>Bandwidth is a key radar resource.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Larger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r>
                      <m:rPr>
                        <m:nor/>
                      </m:rPr>
                      <a:rPr lang="en-US" b="0"/>
                      <m:t>bandwidth</m:t>
                    </m:r>
                    <m:r>
                      <a:rPr lang="en-US"/>
                      <m:t>⇒</m:t>
                    </m:r>
                    <m:r>
                      <m:rPr>
                        <m:nor/>
                      </m:rPr>
                      <a:rPr lang="en-US"/>
                      <m:t>better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range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accuracy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Effective Time Duration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/>
                      <m:t>∣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∣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en-US" i="1"/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US" i="1"/>
                                </m:ctrlPr>
                              </m:sSupPr>
                              <m:e>
                                <m:r>
                                  <a:rPr lang="en-US" i="1"/>
                                  <m:t>𝑡</m:t>
                                </m:r>
                              </m:e>
                              <m:sup>
                                <m:r>
                                  <a:rPr lang="en-US"/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/>
                          <m:t>∣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𝑞</m:t>
                            </m:r>
                          </m:sup>
                        </m:sSub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∣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 i="1"/>
                          <m:t>𝑑𝑡</m:t>
                        </m:r>
                      </m:num>
                      <m:den>
                        <m:nary>
                          <m:naryPr>
                            <m:grow m:val="on"/>
                            <m:subHide m:val="on"/>
                            <m:supHide m:val="on"/>
                            <m:ctrlPr>
                              <a:rPr lang="en-US" i="1"/>
                            </m:ctrlPr>
                          </m:naryPr>
                          <m:sub/>
                          <m:sup/>
                          <m:e>
                            <m:r>
                              <a:rPr lang="en-US"/>
                              <m:t>∣</m:t>
                            </m:r>
                          </m:e>
                        </m:nary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i="1"/>
                                </m:ctrlPr>
                              </m:accPr>
                              <m:e>
                                <m:r>
                                  <a:rPr lang="en-US" i="1"/>
                                  <m:t>𝑠</m:t>
                                </m:r>
                              </m:e>
                            </m:acc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𝑞</m:t>
                            </m:r>
                          </m:sup>
                        </m:sSubSup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i="1"/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/>
                              <m:t>∣</m:t>
                            </m:r>
                          </m:e>
                          <m:sup>
                            <m:r>
                              <a:rPr lang="en-US"/>
                              <m:t>2</m:t>
                            </m:r>
                          </m:sup>
                        </m:sSup>
                        <m:r>
                          <a:rPr lang="en-US" i="1"/>
                          <m:t>𝑑𝑡</m:t>
                        </m:r>
                      </m:den>
                    </m:f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 represents effective time duration. </a:t>
                </a:r>
              </a:p>
              <a:p>
                <a:pPr lvl="2"/>
                <a:r>
                  <a:rPr lang="en-US" dirty="0"/>
                  <a:t>It affects Doppler / radial velocity estimation. </a:t>
                </a:r>
              </a:p>
              <a:p>
                <a:pPr lvl="2"/>
                <a:r>
                  <a:rPr lang="en-US" dirty="0"/>
                  <a:t>Longer observation duration improves velocity estimation.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Larger</m:t>
                    </m:r>
                    <m:r>
                      <m:rPr>
                        <m:nor/>
                      </m:rPr>
                      <a:rPr lang="en-US" b="0" i="1"/>
                      <m:t> 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b="0" i="1"/>
                          <m:t>𝑇</m:t>
                        </m:r>
                      </m:e>
                      <m:sub>
                        <m:r>
                          <a:rPr lang="en-US" b="0" i="1"/>
                          <m:t>𝑘</m:t>
                        </m:r>
                      </m:sub>
                      <m:sup>
                        <m:r>
                          <a:rPr lang="en-US" b="0" i="1"/>
                          <m:t>𝑞</m:t>
                        </m:r>
                      </m:sup>
                    </m:sSubSup>
                    <m:r>
                      <a:rPr lang="en-US"/>
                      <m:t>⇒</m:t>
                    </m:r>
                    <m:r>
                      <m:rPr>
                        <m:nor/>
                      </m:rPr>
                      <a:rPr lang="en-US"/>
                      <m:t>better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velocity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accuracy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91FEA12-6353-05C0-913A-36FDDC549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AF555-167A-B58C-64CC-6A03CBB04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2931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643D-E7C7-86BF-664A-2F5307DC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6C472-0D2E-4862-76F2-9B9E48C8A0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Received Signal Model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𝑠</m:t>
                        </m:r>
                      </m:e>
                      <m:sub>
                        <m:r>
                          <a:rPr lang="en-US" i="1"/>
                          <m:t>𝑟</m:t>
                        </m:r>
                        <m:r>
                          <a:rPr lang="en-US"/>
                          <m:t>,</m:t>
                        </m:r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  <m:r>
                      <a:rPr lang="en-US"/>
                      <m:t>≈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rad>
                      <m:radPr>
                        <m:degHide m:val="on"/>
                        <m:ctrlPr>
                          <a:rPr lang="en-US" i="1"/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r>
                              <a:rPr lang="en-US" i="1"/>
                              <m:t>𝑃</m:t>
                            </m:r>
                          </m:e>
                          <m:sub>
                            <m:r>
                              <a:rPr lang="en-US" i="1"/>
                              <m:t>𝑡</m:t>
                            </m:r>
                            <m:r>
                              <a:rPr lang="en-US"/>
                              <m:t>,</m:t>
                            </m:r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𝑞</m:t>
                            </m:r>
                          </m:sup>
                        </m:sSubSup>
                      </m:e>
                    </m:rad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/>
                            </m:ctrlPr>
                          </m:accPr>
                          <m:e>
                            <m:r>
                              <a:rPr lang="en-US" i="1"/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  <m:r>
                          <a:rPr lang="en-US"/>
                          <m:t>−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𝜏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𝑞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US"/>
                      <m:t>exp</m:t>
                    </m:r>
                    <m:r>
                      <a:rPr lang="en-US"/>
                      <m:t>⁡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/>
                          <m:t>−</m:t>
                        </m:r>
                        <m:r>
                          <a:rPr lang="en-US" i="1"/>
                          <m:t>𝑗</m:t>
                        </m:r>
                        <m:r>
                          <a:rPr lang="en-US"/>
                          <m:t>2</m:t>
                        </m:r>
                        <m:r>
                          <a:rPr lang="en-US" i="1"/>
                          <m:t>𝜋</m:t>
                        </m:r>
                        <m:sSubSup>
                          <m:sSubSupPr>
                            <m:ctrlPr>
                              <a:rPr lang="en-US" i="1"/>
                            </m:ctrlPr>
                          </m:sSubSupPr>
                          <m:e>
                            <m:r>
                              <a:rPr lang="en-US" i="1"/>
                              <m:t>𝜈</m:t>
                            </m:r>
                          </m:e>
                          <m:sub>
                            <m:r>
                              <a:rPr lang="en-US" i="1"/>
                              <m:t>𝑘</m:t>
                            </m:r>
                          </m:sub>
                          <m:sup>
                            <m:r>
                              <a:rPr lang="en-US" i="1"/>
                              <m:t>𝑞</m:t>
                            </m:r>
                          </m:sup>
                        </m:sSubSup>
                        <m:r>
                          <a:rPr lang="en-US" i="1"/>
                          <m:t>𝑡</m:t>
                        </m:r>
                      </m:e>
                    </m:d>
                    <m:r>
                      <a:rPr lang="en-US"/>
                      <m:t>+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𝑛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: target reflection coefficient.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𝛼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: path-loss attenuation.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𝜏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: time delay → range information.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𝜈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</m:oMath>
                </a14:m>
                <a:r>
                  <a:rPr lang="en-US" dirty="0"/>
                  <a:t>: Doppler shift → velocity information. 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𝑛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i="1"/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: complex Gaussian noise.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66C472-0D2E-4862-76F2-9B9E48C8A0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6A25E-88F4-BB0E-47C3-0FB00E5E3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1930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9972-834A-0EDE-8F0B-B61692B81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054"/>
            <a:ext cx="10515600" cy="6812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System Model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2B7CD-F823-9D01-45BD-9EDDBCC7D24D}"/>
              </a:ext>
            </a:extLst>
          </p:cNvPr>
          <p:cNvSpPr txBox="1"/>
          <p:nvPr/>
        </p:nvSpPr>
        <p:spPr>
          <a:xfrm>
            <a:off x="838200" y="1649691"/>
            <a:ext cx="5104598" cy="4527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Information Extracted from Echo</a:t>
            </a: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received echo contains:</a:t>
            </a:r>
          </a:p>
          <a:p>
            <a:pPr marL="1143000" lvl="2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Radar echo → range, velocity, angle information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D1541-5662-EBB3-29C2-BDB1D8F9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56350"/>
            <a:ext cx="133310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39D109-9F59-4B0B-8E20-D6D3A384B1F1}" type="slidenum">
              <a:rPr lang="ko-KR" altLang="en-US" smtClean="0"/>
              <a:pPr>
                <a:spcAft>
                  <a:spcPts val="600"/>
                </a:spcAft>
              </a:pPr>
              <a:t>59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7BFAC1C-A5F3-DF80-61B1-72DDD85E44A8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450728238"/>
                  </p:ext>
                </p:extLst>
              </p:nvPr>
            </p:nvGraphicFramePr>
            <p:xfrm>
              <a:off x="6172200" y="2639799"/>
              <a:ext cx="5181601" cy="2547059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2584029">
                      <a:extLst>
                        <a:ext uri="{9D8B030D-6E8A-4147-A177-3AD203B41FA5}">
                          <a16:colId xmlns:a16="http://schemas.microsoft.com/office/drawing/2014/main" val="2406022311"/>
                        </a:ext>
                      </a:extLst>
                    </a:gridCol>
                    <a:gridCol w="2597572">
                      <a:extLst>
                        <a:ext uri="{9D8B030D-6E8A-4147-A177-3AD203B41FA5}">
                          <a16:colId xmlns:a16="http://schemas.microsoft.com/office/drawing/2014/main" val="3930127044"/>
                        </a:ext>
                      </a:extLst>
                    </a:gridCol>
                  </a:tblGrid>
                  <a:tr h="42904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Echo Parameter</a:t>
                          </a:r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Physical Meaning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3397195"/>
                      </a:ext>
                    </a:extLst>
                  </a:tr>
                  <a:tr h="4654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Time delay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bSup>
                            </m:oMath>
                          </a14:m>
                          <a:endParaRPr lang="en-US" sz="1900"/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Target range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1068625244"/>
                      </a:ext>
                    </a:extLst>
                  </a:tr>
                  <a:tr h="46547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Doppler shift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bSup>
                            </m:oMath>
                          </a14:m>
                          <a:endParaRPr lang="en-US" sz="1900"/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Radial velocity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76593679"/>
                      </a:ext>
                    </a:extLst>
                  </a:tr>
                  <a:tr h="75800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Reflection coefficient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190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</m:sSubSup>
                            </m:oMath>
                          </a14:m>
                          <a:endParaRPr lang="en-US" sz="1900"/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Target reflectivity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835635839"/>
                      </a:ext>
                    </a:extLst>
                  </a:tr>
                  <a:tr h="42904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Received power</a:t>
                          </a:r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Measurement quality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7376861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A7BFAC1C-A5F3-DF80-61B1-72DDD85E44A8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450728238"/>
                  </p:ext>
                </p:extLst>
              </p:nvPr>
            </p:nvGraphicFramePr>
            <p:xfrm>
              <a:off x="6172200" y="2639799"/>
              <a:ext cx="5181601" cy="2547059"/>
            </p:xfrm>
            <a:graphic>
              <a:graphicData uri="http://schemas.openxmlformats.org/drawingml/2006/table">
                <a:tbl>
                  <a:tblPr>
                    <a:tableStyleId>{8EC20E35-A176-4012-BC5E-935CFFF8708E}</a:tableStyleId>
                  </a:tblPr>
                  <a:tblGrid>
                    <a:gridCol w="2584029">
                      <a:extLst>
                        <a:ext uri="{9D8B030D-6E8A-4147-A177-3AD203B41FA5}">
                          <a16:colId xmlns:a16="http://schemas.microsoft.com/office/drawing/2014/main" val="2406022311"/>
                        </a:ext>
                      </a:extLst>
                    </a:gridCol>
                    <a:gridCol w="2597572">
                      <a:extLst>
                        <a:ext uri="{9D8B030D-6E8A-4147-A177-3AD203B41FA5}">
                          <a16:colId xmlns:a16="http://schemas.microsoft.com/office/drawing/2014/main" val="3930127044"/>
                        </a:ext>
                      </a:extLst>
                    </a:gridCol>
                  </a:tblGrid>
                  <a:tr h="42904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Echo Parameter</a:t>
                          </a:r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Physical Meaning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3397195"/>
                      </a:ext>
                    </a:extLst>
                  </a:tr>
                  <a:tr h="465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511" marR="97511" marT="48755" marB="48755" anchor="ctr">
                        <a:blipFill>
                          <a:blip r:embed="rId2"/>
                          <a:stretch>
                            <a:fillRect t="-94805" r="-101179" b="-368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Target range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1068625244"/>
                      </a:ext>
                    </a:extLst>
                  </a:tr>
                  <a:tr h="4654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511" marR="97511" marT="48755" marB="48755" anchor="ctr">
                        <a:blipFill>
                          <a:blip r:embed="rId2"/>
                          <a:stretch>
                            <a:fillRect t="-197368" r="-101179" b="-27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Radial velocity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76593679"/>
                      </a:ext>
                    </a:extLst>
                  </a:tr>
                  <a:tr h="758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7511" marR="97511" marT="48755" marB="48755" anchor="ctr">
                        <a:blipFill>
                          <a:blip r:embed="rId2"/>
                          <a:stretch>
                            <a:fillRect t="-180800" r="-101179" b="-66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Target reflectivity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835635839"/>
                      </a:ext>
                    </a:extLst>
                  </a:tr>
                  <a:tr h="42904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Received power</a:t>
                          </a:r>
                        </a:p>
                      </a:txBody>
                      <a:tcPr marL="97511" marR="97511" marT="48755" marB="48755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900"/>
                            <a:t>Measurement quality</a:t>
                          </a:r>
                        </a:p>
                      </a:txBody>
                      <a:tcPr marL="97511" marR="97511" marT="48755" marB="48755" anchor="ctr"/>
                    </a:tc>
                    <a:extLst>
                      <a:ext uri="{0D108BD9-81ED-4DB2-BD59-A6C34878D82A}">
                        <a16:rowId xmlns:a16="http://schemas.microsoft.com/office/drawing/2014/main" val="37376861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03213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B009078-6948-0A76-8CD9-67ED3455A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0749C06-6307-ED9B-AAB3-761AF847E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Target State Model</a:t>
                </a:r>
              </a:p>
              <a:p>
                <a:pPr lvl="1"/>
                <a:r>
                  <a:rPr lang="en-US" dirty="0"/>
                  <a:t>The target follows a constant acceleration model: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State vector: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̈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state includes:</a:t>
                </a:r>
              </a:p>
              <a:p>
                <a:pPr lvl="2"/>
                <a:r>
                  <a:rPr lang="en-US" dirty="0"/>
                  <a:t>Position</a:t>
                </a:r>
              </a:p>
              <a:p>
                <a:pPr lvl="2"/>
                <a:r>
                  <a:rPr lang="en-US" dirty="0"/>
                  <a:t>Velocity</a:t>
                </a:r>
              </a:p>
              <a:p>
                <a:pPr lvl="2"/>
                <a:r>
                  <a:rPr lang="en-US" dirty="0"/>
                  <a:t>Acceleration</a:t>
                </a:r>
              </a:p>
              <a:p>
                <a:pPr lvl="1"/>
                <a:r>
                  <a:rPr lang="en-US" dirty="0"/>
                  <a:t>State Transition Matrix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sample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interval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motion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coordinates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Kronecker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product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predicts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next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target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state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00749C06-6307-ED9B-AAB3-761AF847E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 b="-16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4F176-FE8C-BFBA-DB30-503BEDA8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1" y="6356350"/>
            <a:ext cx="671818" cy="365125"/>
          </a:xfrm>
        </p:spPr>
        <p:txBody>
          <a:bodyPr/>
          <a:lstStyle/>
          <a:p>
            <a:fld id="{A439D109-9F59-4B0B-8E20-D6D3A384B1F1}" type="slidenum">
              <a:rPr lang="ko-KR" altLang="en-US" smtClean="0"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43492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31BF-DADB-6C41-4F75-606D906A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410726-766A-603B-19C1-F96B3B8066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Process Noise Model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20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nary>
                      <m:naryPr>
                        <m:chr m:val="⨂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𝐈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Process noise represents motion uncertainty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dirty="0"/>
                  <a:t> controls the process noise intensity</a:t>
                </a:r>
              </a:p>
              <a:p>
                <a:pPr lvl="1"/>
                <a:r>
                  <a:rPr lang="en-US" dirty="0"/>
                  <a:t>Larger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</m:oMath>
                </a14:m>
                <a:r>
                  <a:rPr lang="en-US" dirty="0"/>
                  <a:t> means target motion is harder to predict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410726-766A-603B-19C1-F96B3B8066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65FA3-D635-0119-0323-7E5E8166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6319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C1FC-4805-3AB4-B9D6-EBF955C2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399D1-969A-7B3E-06B7-1762AE9603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Measurement Model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Where: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Radar measures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range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: radial velocity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azimuth angel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5399D1-969A-7B3E-06B7-1762AE9603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C3083-BCC8-21D0-E8A8-40D95E13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641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462C9-54A3-43BD-608E-5F4F53BC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4B50DC-04F2-B885-587B-646F0F10D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Nonlinear Measurement Function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measurement function is nonlinear.</a:t>
                </a:r>
              </a:p>
              <a:p>
                <a:pPr lvl="1"/>
                <a:r>
                  <a:rPr lang="en-US" dirty="0"/>
                  <a:t>Therefore, tracking usually requires nonlinear filtering methods such as:</a:t>
                </a:r>
              </a:p>
              <a:p>
                <a:pPr lvl="2"/>
                <a:r>
                  <a:rPr lang="en-US" dirty="0"/>
                  <a:t>EKF</a:t>
                </a:r>
              </a:p>
              <a:p>
                <a:pPr lvl="2"/>
                <a:r>
                  <a:rPr lang="en-US" dirty="0"/>
                  <a:t>UKF</a:t>
                </a:r>
              </a:p>
              <a:p>
                <a:pPr lvl="2"/>
                <a:r>
                  <a:rPr lang="en-US" dirty="0"/>
                  <a:t>SCKF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4B50DC-04F2-B885-587B-646F0F10D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434A3-49FF-E296-AB8C-42F464D87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9531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42F0-05A2-CF09-59ED-B03FB3B6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1EE12F-6362-B835-048B-63C206F0AB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Measurement Noise Covariance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𝐍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diag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p>
                        </m:sSub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Measurements uncertainty is represented by:</a:t>
                </a:r>
              </a:p>
              <a:p>
                <a:pPr lvl="2"/>
                <a:r>
                  <a:rPr lang="en-US" dirty="0"/>
                  <a:t>Range error covariance</a:t>
                </a:r>
              </a:p>
              <a:p>
                <a:pPr lvl="2"/>
                <a:r>
                  <a:rPr lang="en-US" dirty="0"/>
                  <a:t>Radial velocity error variance</a:t>
                </a:r>
              </a:p>
              <a:p>
                <a:pPr lvl="2"/>
                <a:r>
                  <a:rPr lang="en-US" dirty="0"/>
                  <a:t>Angle error variance</a:t>
                </a:r>
              </a:p>
              <a:p>
                <a:r>
                  <a:rPr lang="en-US" dirty="0"/>
                  <a:t>CRLB of Measurement Accuracy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1EE12F-6362-B835-048B-63C206F0AB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D1E9F-A7AE-6212-0A06-34C6D46E4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784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999C-D400-8236-DA8F-44872DB7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A6C2E-BD5F-54D2-C117-B9D8587AFB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/>
                      <m:t>Key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Interpretation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Power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effect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𝑃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r>
                      <a:rPr lang="en-US"/>
                      <m:t>↑⇒</m:t>
                    </m:r>
                    <m:r>
                      <m:rPr>
                        <m:nor/>
                      </m:rPr>
                      <a:rPr lang="en-US"/>
                      <m:t>measurement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decreases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Bandwidth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effect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𝛽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r>
                      <a:rPr lang="en-US"/>
                      <m:t>↑⇒</m:t>
                    </m:r>
                    <m:r>
                      <m:rPr>
                        <m:nor/>
                      </m:rPr>
                      <a:rPr lang="en-US"/>
                      <m:t>range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decreases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Time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duration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effect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/>
                        </m:ctrlPr>
                      </m:sSubSupPr>
                      <m:e>
                        <m:r>
                          <a:rPr lang="en-US" i="1"/>
                          <m:t>𝑇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r>
                      <a:rPr lang="en-US"/>
                      <m:t>↑⇒</m:t>
                    </m:r>
                    <m:r>
                      <m:rPr>
                        <m:nor/>
                      </m:rPr>
                      <a:rPr lang="en-US"/>
                      <m:t>velocity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error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decreases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Target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reflection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effect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/>
                      <m:t>∣</m:t>
                    </m:r>
                    <m:sSubSup>
                      <m:sSubSupPr>
                        <m:ctrlPr>
                          <a:rPr lang="en-US" i="1"/>
                        </m:ctrlPr>
                      </m:sSubSupPr>
                      <m:e>
                        <m:r>
                          <a:rPr lang="en-US" i="1"/>
                          <m:t>h</m:t>
                        </m:r>
                      </m:e>
                      <m:sub>
                        <m:r>
                          <a:rPr lang="en-US" i="1"/>
                          <m:t>𝑘</m:t>
                        </m:r>
                      </m:sub>
                      <m:sup>
                        <m:r>
                          <a:rPr lang="en-US" i="1"/>
                          <m:t>𝑞</m:t>
                        </m:r>
                      </m:sup>
                    </m:sSubSup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∣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↑⇒</m:t>
                    </m:r>
                    <m:r>
                      <m:rPr>
                        <m:nor/>
                      </m:rPr>
                      <a:rPr lang="en-US"/>
                      <m:t>measurement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quality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improves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This section builds the chain:</a:t>
                </a:r>
              </a:p>
              <a:p>
                <a:pPr lvl="1"/>
                <a:r>
                  <a:rPr lang="en-US" b="0" dirty="0"/>
                  <a:t>Power + Bandwidth + Measur</a:t>
                </a:r>
                <a:r>
                  <a:rPr lang="en-US" dirty="0"/>
                  <a:t>ement Noise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0" dirty="0"/>
                  <a:t> CRLB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0" dirty="0"/>
                  <a:t>PCRLB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0" dirty="0"/>
                  <a:t>Tracking Accuracy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DA6C2E-BD5F-54D2-C117-B9D8587AFB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4C732-FCB4-A3ED-A67C-9CAC146B7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9D109-9F59-4B0B-8E20-D6D3A384B1F1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66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3584</Words>
  <Application>Microsoft Office PowerPoint</Application>
  <PresentationFormat>Widescreen</PresentationFormat>
  <Paragraphs>789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3" baseType="lpstr">
      <vt:lpstr>맑은 고딕</vt:lpstr>
      <vt:lpstr>Arial</vt:lpstr>
      <vt:lpstr>Arial Black</vt:lpstr>
      <vt:lpstr>Calibri</vt:lpstr>
      <vt:lpstr>Cambria Math</vt:lpstr>
      <vt:lpstr>Tahoma</vt:lpstr>
      <vt:lpstr>Wingdings</vt:lpstr>
      <vt:lpstr>Office 테마</vt:lpstr>
      <vt:lpstr>Sensing as a Service in 6G Perceptive Networks: A Unified Framework for ISAC Resource Allocation</vt:lpstr>
      <vt:lpstr> Table of Contents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PCRB for Tracking or Filtering</vt:lpstr>
      <vt:lpstr>Power and Bandwidth Allocation for Multi-Target Tracking in Collocated MIMO Radar</vt:lpstr>
      <vt:lpstr>Table of contents</vt:lpstr>
      <vt:lpstr>Abstract</vt:lpstr>
      <vt:lpstr>Abstract</vt:lpstr>
      <vt:lpstr>Introduction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  <vt:lpstr>System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Jihwan Moon</dc:creator>
  <cp:lastModifiedBy>Refat Khan</cp:lastModifiedBy>
  <cp:revision>7</cp:revision>
  <dcterms:created xsi:type="dcterms:W3CDTF">2018-05-20T06:28:16Z</dcterms:created>
  <dcterms:modified xsi:type="dcterms:W3CDTF">2026-06-26T16:05:05Z</dcterms:modified>
</cp:coreProperties>
</file>